
<file path=[Content_Types].xml><?xml version="1.0" encoding="utf-8"?>
<Types xmlns="http://schemas.openxmlformats.org/package/2006/content-types">
  <Default Extension="rels" ContentType="application/vnd.openxmlformats-package.relationships+xml"/>
  <Default Extension="xml" ContentType="application/xml"/>
  <Default Extension="mp4" ContentType="video/mp4"/>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1695" cy="6858000"/>
  <p:notesSz cx="6858000" cy="9144000"/>
  <p:defaultText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상태 깜빡임</c:v>
                </c:pt>
              </c:strCache>
            </c:strRef>
          </c:tx>
          <c:dPt>
            <c:idx val="0"/>
            <c:spPr>
              <a:solidFill>
                <a:srgbClr val="A9B1BB"/>
              </a:solidFill>
            </c:spPr>
          </c:dPt>
          <c:dPt>
            <c:idx val="1"/>
            <c:spPr>
              <a:solidFill>
                <a:srgbClr val="E8742B"/>
              </a:solidFill>
            </c:spPr>
          </c:dPt>
          <c:cat>
            <c:strRef>
              <c:f>Sheet1!$A$2:$A$3</c:f>
              <c:strCache>
                <c:ptCount val="2"/>
                <c:pt idx="0">
                  <c:v>필터 전</c:v>
                </c:pt>
                <c:pt idx="1">
                  <c:v>필터 후</c:v>
                </c:pt>
              </c:strCache>
            </c:strRef>
          </c:cat>
          <c:val>
            <c:numRef>
              <c:f>Sheet1!$B$2:$B$3</c:f>
              <c:numCache>
                <c:formatCode>General</c:formatCode>
                <c:ptCount val="2"/>
                <c:pt idx="0">
                  <c:v>81.5</c:v>
                </c:pt>
                <c:pt idx="1">
                  <c:v>13.5</c:v>
                </c:pt>
              </c:numCache>
            </c:numRef>
          </c:val>
        </c:ser>
        <c:dLbls>
          <c:numFmt formatCode="0.0&quot;%&quot;" sourceLinked="0"/>
          <c:txPr>
            <a:bodyPr/>
            <a:lstStyle/>
            <a:p>
              <a:pPr>
                <a:defRPr sz="1800" b="1">
                  <a:solidFill>
                    <a:srgbClr val="1F2D3D"/>
                  </a:solidFill>
                  <a:latin typeface="맑은 고딕"/>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5DAE0"/>
            </a:solidFill>
          </a:ln>
        </c:spPr>
        <c:txPr>
          <a:bodyPr/>
          <a:lstStyle/>
          <a:p>
            <a:pPr>
              <a:defRPr sz="1400">
                <a:solidFill>
                  <a:srgbClr val="2B333D"/>
                </a:solidFill>
                <a:latin typeface="맑은 고딕"/>
              </a:defRPr>
            </a:pPr>
          </a:p>
        </c:txPr>
        <c:crossAx val="-2113994440"/>
        <c:crosses val="autoZero"/>
        <c:auto val="1"/>
        <c:lblAlgn val="ctr"/>
        <c:lblOffset val="100"/>
        <c:noMultiLvlLbl val="0"/>
      </c:catAx>
      <c:valAx>
        <c:axId val="-2113994440"/>
        <c:scaling>
          <c:max val="97.8"/>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CPU 사용률</c:v>
                </c:pt>
              </c:strCache>
            </c:strRef>
          </c:tx>
          <c:dPt>
            <c:idx val="0"/>
            <c:spPr>
              <a:solidFill>
                <a:srgbClr val="A9B1BB"/>
              </a:solidFill>
            </c:spPr>
          </c:dPt>
          <c:dPt>
            <c:idx val="1"/>
            <c:spPr>
              <a:solidFill>
                <a:srgbClr val="E8742B"/>
              </a:solidFill>
            </c:spPr>
          </c:dPt>
          <c:cat>
            <c:strRef>
              <c:f>Sheet1!$A$2:$A$3</c:f>
              <c:strCache>
                <c:ptCount val="2"/>
                <c:pt idx="0">
                  <c:v>OpenCV (현재)</c:v>
                </c:pt>
                <c:pt idx="1">
                  <c:v>TensorRT FP16</c:v>
                </c:pt>
              </c:strCache>
            </c:strRef>
          </c:cat>
          <c:val>
            <c:numRef>
              <c:f>Sheet1!$B$2:$B$3</c:f>
              <c:numCache>
                <c:formatCode>General</c:formatCode>
                <c:ptCount val="2"/>
                <c:pt idx="0">
                  <c:v>558</c:v>
                </c:pt>
                <c:pt idx="1">
                  <c:v>65</c:v>
                </c:pt>
              </c:numCache>
            </c:numRef>
          </c:val>
        </c:ser>
        <c:dLbls>
          <c:numFmt formatCode="0&quot;%&quot;" sourceLinked="0"/>
          <c:txPr>
            <a:bodyPr/>
            <a:lstStyle/>
            <a:p>
              <a:pPr>
                <a:defRPr sz="1800" b="1">
                  <a:solidFill>
                    <a:srgbClr val="1F2D3D"/>
                  </a:solidFill>
                  <a:latin typeface="맑은 고딕"/>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5DAE0"/>
            </a:solidFill>
          </a:ln>
        </c:spPr>
        <c:txPr>
          <a:bodyPr/>
          <a:lstStyle/>
          <a:p>
            <a:pPr>
              <a:defRPr sz="1400">
                <a:solidFill>
                  <a:srgbClr val="2B333D"/>
                </a:solidFill>
                <a:latin typeface="맑은 고딕"/>
              </a:defRPr>
            </a:pPr>
          </a:p>
        </c:txPr>
        <c:crossAx val="-2113994440"/>
        <c:crosses val="autoZero"/>
        <c:auto val="1"/>
        <c:lblAlgn val="ctr"/>
        <c:lblOffset val="100"/>
        <c:noMultiLvlLbl val="0"/>
      </c:catAx>
      <c:valAx>
        <c:axId val="-2113994440"/>
        <c:scaling>
          <c:max val="669.6"/>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안녕하세요, Dokkab 팀입니다. 저희는 Jetson Orin Nano와 웹캠으로 컨베이어에 다가오는 작업자를 감지하고, 위험 거리에서는 벨트를 자동으로 멈추는 시스템을 만들었습니다.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팀 소개입니다. 저는 팀장으로 전체 구조와 상태 판단, 대시보드와 기록, 통합을 맡았고, 송태원 팀원은 회로와 Jetson 보드 연결, 장호영 팀원은 비전 AI 검출과 거리 측정을 맡았습니다.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컨베이어는 계속 움직이기 때문에, 작업자가 가까이 갔을 때 벨트가 그대로 돌면 끼임이나 충돌 사고가 날 수 있습니다. 그래서 다가오는 작업자를 자동으로 감지하고, 가까워지면 경고, 위험하면 정지, 그리고 그 기록을 남기는 것을 목표로 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시스템 구성입니다. 벨트 끝의 USB 웹캠이 다가오는 작업자의 얼굴을 찾고, Jetson이 얼굴 크기로 거리를 계산합니다. 200cm 안이면 노랑으로 경고하고, 50cm 안으로 들어오면 빨강 경고등과 함께 벨트를 멈춥니다. 같은 상태가 대시보드에도 표시되고 DB에 기록됩니다.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모델은 OpenCV의 YuNet을 썼습니다. 가볍고, 학습 없이 바로 쓸 수 있고, 얼굴 상자 크기로 거리를 계산하기 좋기 때문입니다. 공개 검증에서 AP 0.834이고, Jetson에서 카메라까지 포함해 초당 22프레임으로 돌아갑니다.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200cm 밖이면 정상으로 벨트가 돌고, 50에서 200cm 사이면 노랑 LED로 경고하지만 벨트는 계속 돕니다. 50cm 안으로 들어오면 빨강 LED와 함께 벨트를 멈추고 정지 시각과 사유를 DB에 남깁니다.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실제 시연 영상입니다. 왼쪽은 대시보드, 오른쪽은 실제 LED와 벨트입니다. 다가가면 노랑, 더 가까이 가면 빨강과 함께 벨트가 멈추고, 물러나면 다시 돌아갑니다.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성능 개선입니다. 처음에는 상태 전환의 81.5%가 1초 안에 다시 뒤집혔는데, 깜빡임 필터를 넣은 뒤 13.5%로 줄었습니다. 또 모델을 TensorRT FP16으로 바꿔 보니 CPU 사용이 558%에서 65%로 줄고 검출도 1.23배 빨라졌습니다. 이건 메인 프로그램에는 아직 적용하지 않았습니다.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개선 방향입니다. 얼굴이 안 보이면 놓치는 문제는 사람 전체 검출 모델로 보완하고, 거리가 짧게 나오는 문제는 줄자로 다시 보정하겠습니다. 만들어 둔 TensorRT 엔진은 메인 프로그램에 적용하고, 배선과 웹캠도 안정화할 계획입니다.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소감과 함께 마무리하겠습니다. 들어 주셔서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CF395B21-E8EE-4505-87E0-7B7F2C3DBBD0}"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C6D5D-A00E-4AA9-84F2-364CBECE0EEA}"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05E609E6-1126-4CCC-8F95-892B304C12E9}"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D0F9E-EF7E-4C26-8662-25A73F2263D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10"/>
          </p:nvPr>
        </p:nvSpPr>
        <p:spPr/>
        <p:txBody>
          <a:bodyPr/>
          <a:lstStyle/>
          <a:p>
            <a:fld id="{B43082BF-5467-4883-8896-824F7369BC9A}"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C18080-B33E-4073-8615-72D8F5AE8F7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sz="half" idx="10"/>
          </p:nvPr>
        </p:nvSpPr>
        <p:spPr/>
        <p:txBody>
          <a:bodyPr/>
          <a:lstStyle/>
          <a:p>
            <a:fld id="{A3A66248-C912-41CA-84D9-08E1C7982093}"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B9569-04AF-4288-8880-64CE52ABE7A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54EFB636-F4D9-4299-85F9-44D23E27C49C}" type="datetimeFigureOut">
              <a:rPr lang="en-US"/>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533E07-937E-4FED-8300-89129584345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5CAC346-E4DF-45C0-848B-E2AC5513E0D5}" type="datetimeFigureOut">
              <a:rPr lang="en-US"/>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8B55B-FA15-48BA-860D-0231187503D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0B29E-DC2A-4D67-887F-3BE2DC8489D6}" type="datetimeFigureOut">
              <a:rPr lang="en-US"/>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E0EBC0-ADA9-4FA7-889C-9287646BC79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AFC563BD-7186-488E-816C-8F41FA24179F}"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25AB8-FB3A-479C-8780-0B7E5F586C0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1EE02C48-70E8-4C8D-81F4-17FB598144B8}"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FC29A-6C4F-4141-86E3-1A3E2D58E3A2}"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27602B83-4DFE-444B-8222-D5FF1EA6B44C}"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19C649-D3E0-46CB-87C1-67136E4226A6}"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A6FA40F9-1701-4EB4-806D-4ED861E7A003}"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BE78A-EB3E-401E-81B5-D7F53201DAF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Theme">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DADCF-DC63-475D-8D69-AEBF4EDF3BBC}" type="datetimeFigureOut">
              <a:rPr lang="en-US"/>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D6AB1-0FDA-49F1-8390-8828CE9E667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662684"/>
            <a:ext cx="7315200" cy="914400"/>
          </a:xfrm>
          <a:prstGeom prst="rect">
            <a:avLst/>
          </a:prstGeom>
          <a:noFill/>
        </p:spPr>
        <p:txBody>
          <a:bodyPr wrap="square" lIns="0" tIns="0" rIns="0" bIns="0" anchor="t">
            <a:spAutoFit/>
          </a:bodyPr>
          <a:lstStyle/>
          <a:p>
            <a:pPr algn="l">
              <a:lnSpc>
                <a:spcPct val="115000"/>
              </a:lnSpc>
              <a:spcAft>
                <a:spcPts val="0"/>
              </a:spcAft>
            </a:pPr>
            <a:r>
              <a:rPr lang="ko-KR" sz="5400" b="1">
                <a:solidFill>
                  <a:srgbClr val="E8742B"/>
                </a:solidFill>
                <a:latin typeface="맑은 고딕"/>
                <a:ea typeface="맑은 고딕"/>
                <a:cs typeface="맑은 고딕"/>
              </a:rPr>
              <a:t>Dokkab</a:t>
            </a:r>
          </a:p>
        </p:txBody>
      </p:sp>
      <p:sp>
        <p:nvSpPr>
          <p:cNvPr id="3" name="TextBox 2"/>
          <p:cNvSpPr txBox="1"/>
          <p:nvPr/>
        </p:nvSpPr>
        <p:spPr>
          <a:xfrm>
            <a:off x="731520" y="2331720"/>
            <a:ext cx="10058400" cy="245364"/>
          </a:xfrm>
          <a:prstGeom prst="rect">
            <a:avLst/>
          </a:prstGeom>
          <a:noFill/>
        </p:spPr>
        <p:txBody>
          <a:bodyPr wrap="square" lIns="0" tIns="0" rIns="0" bIns="0" anchor="t">
            <a:spAutoFit/>
          </a:bodyPr>
          <a:lstStyle/>
          <a:p>
            <a:pPr algn="l">
              <a:lnSpc>
                <a:spcPct val="115000"/>
              </a:lnSpc>
              <a:spcAft>
                <a:spcPts val="0"/>
              </a:spcAft>
            </a:pPr>
            <a:endParaRPr lang="ko-KR" sz="1400" b="0">
              <a:solidFill>
                <a:srgbClr val="6B7480"/>
              </a:solidFill>
              <a:latin typeface="맑은 고딕"/>
              <a:ea typeface="맑은 고딕"/>
              <a:cs typeface="맑은 고딕"/>
            </a:endParaRPr>
          </a:p>
        </p:txBody>
      </p:sp>
      <p:sp>
        <p:nvSpPr>
          <p:cNvPr id="4" name="TextBox 3"/>
          <p:cNvSpPr txBox="1"/>
          <p:nvPr/>
        </p:nvSpPr>
        <p:spPr>
          <a:xfrm>
            <a:off x="731520" y="2834640"/>
            <a:ext cx="10515600" cy="1554480"/>
          </a:xfrm>
          <a:prstGeom prst="rect">
            <a:avLst/>
          </a:prstGeom>
          <a:noFill/>
        </p:spPr>
        <p:txBody>
          <a:bodyPr wrap="square" lIns="0" tIns="0" rIns="0" bIns="0" anchor="t">
            <a:spAutoFit/>
          </a:bodyPr>
          <a:lstStyle/>
          <a:p>
            <a:pPr algn="l">
              <a:lnSpc>
                <a:spcPct val="110000"/>
              </a:lnSpc>
              <a:spcAft>
                <a:spcPts val="0"/>
              </a:spcAft>
            </a:pPr>
            <a:r>
              <a:rPr lang="ko-KR" sz="4000" b="1">
                <a:solidFill>
                  <a:srgbClr val="1F2D3D"/>
                </a:solidFill>
                <a:latin typeface="맑은 고딕"/>
                <a:ea typeface="맑은 고딕"/>
                <a:cs typeface="맑은 고딕"/>
              </a:rPr>
              <a:t>비전 AI 기반 컨베이어</a:t>
            </a:r>
          </a:p>
          <a:p>
            <a:pPr algn="l">
              <a:lnSpc>
                <a:spcPct val="110000"/>
              </a:lnSpc>
              <a:spcAft>
                <a:spcPts val="0"/>
              </a:spcAft>
            </a:pPr>
            <a:r>
              <a:rPr lang="ko-KR" sz="4000" b="1">
                <a:solidFill>
                  <a:srgbClr val="1F2D3D"/>
                </a:solidFill>
                <a:latin typeface="맑은 고딕"/>
                <a:ea typeface="맑은 고딕"/>
                <a:cs typeface="맑은 고딕"/>
              </a:rPr>
              <a:t>작업자 접근 감지 및 안전 알림 시스템</a:t>
            </a:r>
          </a:p>
        </p:txBody>
      </p:sp>
      <p:sp>
        <p:nvSpPr>
          <p:cNvPr id="5" name="TextBox 4"/>
          <p:cNvSpPr txBox="1"/>
          <p:nvPr/>
        </p:nvSpPr>
        <p:spPr>
          <a:xfrm>
            <a:off x="731520" y="4572000"/>
            <a:ext cx="10058400" cy="315468"/>
          </a:xfrm>
          <a:prstGeom prst="rect">
            <a:avLst/>
          </a:prstGeom>
          <a:noFill/>
        </p:spPr>
        <p:txBody>
          <a:bodyPr wrap="square" lIns="0" tIns="0" rIns="0" bIns="0" anchor="t">
            <a:spAutoFit/>
          </a:bodyPr>
          <a:lstStyle/>
          <a:p>
            <a:pPr algn="l">
              <a:lnSpc>
                <a:spcPct val="115000"/>
              </a:lnSpc>
              <a:spcAft>
                <a:spcPts val="0"/>
              </a:spcAft>
            </a:pPr>
            <a:endParaRPr lang="ko-KR" sz="1800" b="0">
              <a:solidFill>
                <a:srgbClr val="6B7480"/>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1F2D3D"/>
                </a:solidFill>
                <a:latin typeface="맑은 고딕"/>
                <a:ea typeface="맑은 고딕"/>
                <a:cs typeface="맑은 고딕"/>
              </a:rPr>
              <a:t>목차</a:t>
            </a:r>
          </a:p>
        </p:txBody>
      </p:sp>
      <p:sp>
        <p:nvSpPr>
          <p:cNvPr id="3" name="TextBox 2"/>
          <p:cNvSpPr txBox="1"/>
          <p:nvPr/>
        </p:nvSpPr>
        <p:spPr>
          <a:xfrm>
            <a:off x="1005840" y="160020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01</a:t>
            </a:r>
          </a:p>
        </p:txBody>
      </p:sp>
      <p:sp>
        <p:nvSpPr>
          <p:cNvPr id="4" name="TextBox 3"/>
          <p:cNvSpPr txBox="1"/>
          <p:nvPr/>
        </p:nvSpPr>
        <p:spPr>
          <a:xfrm>
            <a:off x="2011680" y="160020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팀 소개</a:t>
            </a:r>
          </a:p>
        </p:txBody>
      </p:sp>
      <p:cxnSp>
        <p:nvCxnSpPr>
          <p:cNvPr id="5" name="Connector 4"/>
          <p:cNvCxnSpPr/>
          <p:nvPr/>
        </p:nvCxnSpPr>
        <p:spPr>
          <a:xfrm>
            <a:off x="1005840" y="2441448"/>
            <a:ext cx="4663439"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269748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02</a:t>
            </a:r>
          </a:p>
        </p:txBody>
      </p:sp>
      <p:sp>
        <p:nvSpPr>
          <p:cNvPr id="7" name="TextBox 6"/>
          <p:cNvSpPr txBox="1"/>
          <p:nvPr/>
        </p:nvSpPr>
        <p:spPr>
          <a:xfrm>
            <a:off x="2011680" y="269748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문제 정의</a:t>
            </a:r>
          </a:p>
        </p:txBody>
      </p:sp>
      <p:cxnSp>
        <p:nvCxnSpPr>
          <p:cNvPr id="8" name="Connector 7"/>
          <p:cNvCxnSpPr/>
          <p:nvPr/>
        </p:nvCxnSpPr>
        <p:spPr>
          <a:xfrm>
            <a:off x="1005840" y="3538728"/>
            <a:ext cx="4663439"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379476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03</a:t>
            </a:r>
          </a:p>
        </p:txBody>
      </p:sp>
      <p:sp>
        <p:nvSpPr>
          <p:cNvPr id="10" name="TextBox 9"/>
          <p:cNvSpPr txBox="1"/>
          <p:nvPr/>
        </p:nvSpPr>
        <p:spPr>
          <a:xfrm>
            <a:off x="2011680" y="379476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시스템 구성</a:t>
            </a:r>
          </a:p>
        </p:txBody>
      </p:sp>
      <p:cxnSp>
        <p:nvCxnSpPr>
          <p:cNvPr id="11" name="Connector 10"/>
          <p:cNvCxnSpPr/>
          <p:nvPr/>
        </p:nvCxnSpPr>
        <p:spPr>
          <a:xfrm>
            <a:off x="1005840" y="4636008"/>
            <a:ext cx="4663439"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05840" y="489204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04</a:t>
            </a:r>
          </a:p>
        </p:txBody>
      </p:sp>
      <p:sp>
        <p:nvSpPr>
          <p:cNvPr id="13" name="TextBox 12"/>
          <p:cNvSpPr txBox="1"/>
          <p:nvPr/>
        </p:nvSpPr>
        <p:spPr>
          <a:xfrm>
            <a:off x="2011680" y="489204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모델 선택과 검증</a:t>
            </a:r>
          </a:p>
        </p:txBody>
      </p:sp>
      <p:cxnSp>
        <p:nvCxnSpPr>
          <p:cNvPr id="14" name="Connector 13"/>
          <p:cNvCxnSpPr/>
          <p:nvPr/>
        </p:nvCxnSpPr>
        <p:spPr>
          <a:xfrm>
            <a:off x="1005840" y="5733288"/>
            <a:ext cx="4663439"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92240" y="160020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05</a:t>
            </a:r>
          </a:p>
        </p:txBody>
      </p:sp>
      <p:sp>
        <p:nvSpPr>
          <p:cNvPr id="16" name="TextBox 15"/>
          <p:cNvSpPr txBox="1"/>
          <p:nvPr/>
        </p:nvSpPr>
        <p:spPr>
          <a:xfrm>
            <a:off x="7498079" y="160020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동작 설명</a:t>
            </a:r>
          </a:p>
        </p:txBody>
      </p:sp>
      <p:cxnSp>
        <p:nvCxnSpPr>
          <p:cNvPr id="17" name="Connector 16"/>
          <p:cNvCxnSpPr/>
          <p:nvPr/>
        </p:nvCxnSpPr>
        <p:spPr>
          <a:xfrm>
            <a:off x="6492240" y="2441448"/>
            <a:ext cx="466344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92240" y="269748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06</a:t>
            </a:r>
          </a:p>
        </p:txBody>
      </p:sp>
      <p:sp>
        <p:nvSpPr>
          <p:cNvPr id="19" name="TextBox 18"/>
          <p:cNvSpPr txBox="1"/>
          <p:nvPr/>
        </p:nvSpPr>
        <p:spPr>
          <a:xfrm>
            <a:off x="7498079" y="269748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성능 개선</a:t>
            </a:r>
          </a:p>
        </p:txBody>
      </p:sp>
      <p:cxnSp>
        <p:nvCxnSpPr>
          <p:cNvPr id="20" name="Connector 19"/>
          <p:cNvCxnSpPr/>
          <p:nvPr/>
        </p:nvCxnSpPr>
        <p:spPr>
          <a:xfrm>
            <a:off x="6492240" y="3538728"/>
            <a:ext cx="466344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92240" y="379476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07</a:t>
            </a:r>
          </a:p>
        </p:txBody>
      </p:sp>
      <p:sp>
        <p:nvSpPr>
          <p:cNvPr id="22" name="TextBox 21"/>
          <p:cNvSpPr txBox="1"/>
          <p:nvPr/>
        </p:nvSpPr>
        <p:spPr>
          <a:xfrm>
            <a:off x="7498079" y="379476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개선 방향</a:t>
            </a:r>
          </a:p>
        </p:txBody>
      </p:sp>
      <p:cxnSp>
        <p:nvCxnSpPr>
          <p:cNvPr id="23" name="Connector 22"/>
          <p:cNvCxnSpPr/>
          <p:nvPr/>
        </p:nvCxnSpPr>
        <p:spPr>
          <a:xfrm>
            <a:off x="6492240" y="4636008"/>
            <a:ext cx="466344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92240" y="4892040"/>
            <a:ext cx="914400" cy="640080"/>
          </a:xfrm>
          <a:prstGeom prst="rect">
            <a:avLst/>
          </a:prstGeom>
          <a:noFill/>
        </p:spPr>
        <p:txBody>
          <a:bodyPr wrap="square" lIns="0" tIns="0" rIns="0" bIns="0" anchor="ctr">
            <a:spAutoFit/>
          </a:bodyPr>
          <a:lstStyle/>
          <a:p>
            <a:pPr algn="l">
              <a:lnSpc>
                <a:spcPct val="115000"/>
              </a:lnSpc>
              <a:spcAft>
                <a:spcPts val="0"/>
              </a:spcAft>
            </a:pPr>
            <a:r>
              <a:rPr lang="ko-KR" sz="3000" b="1">
                <a:solidFill>
                  <a:srgbClr val="E8742B"/>
                </a:solidFill>
                <a:latin typeface="맑은 고딕"/>
                <a:ea typeface="맑은 고딕"/>
                <a:cs typeface="맑은 고딕"/>
              </a:rPr>
              <a:t>08</a:t>
            </a:r>
          </a:p>
        </p:txBody>
      </p:sp>
      <p:sp>
        <p:nvSpPr>
          <p:cNvPr id="25" name="TextBox 24"/>
          <p:cNvSpPr txBox="1"/>
          <p:nvPr/>
        </p:nvSpPr>
        <p:spPr>
          <a:xfrm>
            <a:off x="7498079" y="4892040"/>
            <a:ext cx="3840480" cy="640080"/>
          </a:xfrm>
          <a:prstGeom prst="rect">
            <a:avLst/>
          </a:prstGeom>
          <a:noFill/>
        </p:spPr>
        <p:txBody>
          <a:bodyPr wrap="square" lIns="0" tIns="0" rIns="0" bIns="0" anchor="ctr">
            <a:spAutoFit/>
          </a:bodyPr>
          <a:lstStyle/>
          <a:p>
            <a:pPr algn="l">
              <a:lnSpc>
                <a:spcPct val="115000"/>
              </a:lnSpc>
              <a:spcAft>
                <a:spcPts val="0"/>
              </a:spcAft>
            </a:pPr>
            <a:r>
              <a:rPr lang="ko-KR" sz="2200" b="1">
                <a:solidFill>
                  <a:srgbClr val="1F2D3D"/>
                </a:solidFill>
                <a:latin typeface="맑은 고딕"/>
                <a:ea typeface="맑은 고딕"/>
                <a:cs typeface="맑은 고딕"/>
              </a:rPr>
              <a:t>프로젝트 소감</a:t>
            </a:r>
          </a:p>
        </p:txBody>
      </p:sp>
      <p:cxnSp>
        <p:nvCxnSpPr>
          <p:cNvPr id="26" name="Connector 25"/>
          <p:cNvCxnSpPr/>
          <p:nvPr/>
        </p:nvCxnSpPr>
        <p:spPr>
          <a:xfrm>
            <a:off x="6492240" y="5733288"/>
            <a:ext cx="466344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2</a:t>
            </a:r>
          </a:p>
        </p:txBody>
      </p:sp>
      <p:sp>
        <p:nvSpPr>
          <p:cNvPr id="28" name="TextBox 27"/>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01  </a:t>
            </a:r>
            <a:r>
              <a:rPr lang="ko-KR" sz="3000" b="1">
                <a:solidFill>
                  <a:srgbClr val="1F2D3D"/>
                </a:solidFill>
                <a:latin typeface="맑은 고딕"/>
                <a:ea typeface="맑은 고딕"/>
                <a:cs typeface="맑은 고딕"/>
              </a:rPr>
              <a:t>팀 소개</a:t>
            </a:r>
          </a:p>
        </p:txBody>
      </p:sp>
      <p:sp>
        <p:nvSpPr>
          <p:cNvPr id="3" name="TextBox 2"/>
          <p:cNvSpPr txBox="1"/>
          <p:nvPr/>
        </p:nvSpPr>
        <p:spPr>
          <a:xfrm>
            <a:off x="640080" y="1024128"/>
            <a:ext cx="10058400" cy="365760"/>
          </a:xfrm>
          <a:prstGeom prst="rect">
            <a:avLst/>
          </a:prstGeom>
          <a:noFill/>
        </p:spPr>
        <p:txBody>
          <a:bodyPr wrap="square" lIns="0" tIns="0" rIns="0" bIns="0" anchor="t">
            <a:spAutoFit/>
          </a:bodyPr>
          <a:lstStyle/>
          <a:p>
            <a:pPr algn="l">
              <a:lnSpc>
                <a:spcPct val="115000"/>
              </a:lnSpc>
              <a:spcAft>
                <a:spcPts val="0"/>
              </a:spcAft>
            </a:pPr>
            <a:r>
              <a:rPr lang="ko-KR" sz="1500" b="0">
                <a:solidFill>
                  <a:srgbClr val="6B7480"/>
                </a:solidFill>
                <a:latin typeface="맑은 고딕"/>
                <a:ea typeface="맑은 고딕"/>
                <a:cs typeface="맑은 고딕"/>
              </a:rPr>
              <a:t>팀 Dokkab · 3명</a:t>
            </a:r>
          </a:p>
        </p:txBody>
      </p:sp>
      <p:sp>
        <p:nvSpPr>
          <p:cNvPr id="4" name="TextBox 3"/>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5" name="TextBox 4"/>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3</a:t>
            </a:r>
          </a:p>
        </p:txBody>
      </p:sp>
      <p:sp>
        <p:nvSpPr>
          <p:cNvPr id="6" name="전종현 카드"/>
          <p:cNvSpPr/>
          <p:nvPr/>
        </p:nvSpPr>
        <p:spPr>
          <a:xfrm>
            <a:off x="731520" y="1691640"/>
            <a:ext cx="3337560" cy="434340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 Same Side Corner Rectangle 53"/>
          <p:cNvSpPr/>
          <p:nvPr/>
        </p:nvSpPr>
        <p:spPr>
          <a:xfrm>
            <a:off x="1943100" y="2743200"/>
            <a:ext cx="914400" cy="457200"/>
          </a:xfrm>
          <a:prstGeom prst="round2SameRect">
            <a:avLst>
              <a:gd name="adj1" fmla="val 50000"/>
              <a:gd name="adj2" fmla="val 0"/>
            </a:avLst>
          </a:prstGeom>
          <a:solidFill>
            <a:srgbClr val="FFFFFF"/>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924812" y="1920240"/>
            <a:ext cx="256032" cy="292608"/>
          </a:xfrm>
          <a:prstGeom prst="ellipse">
            <a:avLst/>
          </a:prstGeom>
          <a:solidFill>
            <a:srgbClr val="BFCBD9"/>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997964" y="1984248"/>
            <a:ext cx="109728" cy="146304"/>
          </a:xfrm>
          <a:prstGeom prst="ellipse">
            <a:avLst/>
          </a:prstGeom>
          <a:solidFill>
            <a:srgbClr val="F4B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619756" y="1920240"/>
            <a:ext cx="256032" cy="292608"/>
          </a:xfrm>
          <a:prstGeom prst="ellipse">
            <a:avLst/>
          </a:prstGeom>
          <a:solidFill>
            <a:srgbClr val="BFCBD9"/>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692908" y="1984248"/>
            <a:ext cx="109728" cy="146304"/>
          </a:xfrm>
          <a:prstGeom prst="ellipse">
            <a:avLst/>
          </a:prstGeom>
          <a:solidFill>
            <a:srgbClr val="F4B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869948" y="2011680"/>
            <a:ext cx="1060704" cy="868680"/>
          </a:xfrm>
          <a:prstGeom prst="ellipse">
            <a:avLst/>
          </a:prstGeom>
          <a:solidFill>
            <a:srgbClr val="FFFFFF"/>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hord 59"/>
          <p:cNvSpPr/>
          <p:nvPr/>
        </p:nvSpPr>
        <p:spPr>
          <a:xfrm>
            <a:off x="1869948" y="2011680"/>
            <a:ext cx="1060704" cy="868680"/>
          </a:xfrm>
          <a:prstGeom prst="chord">
            <a:avLst>
              <a:gd name="adj1" fmla="val 11700000"/>
              <a:gd name="adj2" fmla="val 20700000"/>
            </a:avLst>
          </a:prstGeom>
          <a:solidFill>
            <a:srgbClr val="BFCBD9"/>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970532" y="2615184"/>
            <a:ext cx="128016" cy="73152"/>
          </a:xfrm>
          <a:prstGeom prst="ellipse">
            <a:avLst/>
          </a:prstGeom>
          <a:solidFill>
            <a:srgbClr val="F4B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702052" y="2615184"/>
            <a:ext cx="128016" cy="73152"/>
          </a:xfrm>
          <a:prstGeom prst="ellipse">
            <a:avLst/>
          </a:prstGeom>
          <a:solidFill>
            <a:srgbClr val="F4B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135124" y="2359152"/>
            <a:ext cx="155448" cy="192024"/>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162556" y="2386584"/>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510028" y="2359152"/>
            <a:ext cx="155448" cy="192024"/>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537460" y="2386584"/>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2052828" y="2322576"/>
            <a:ext cx="310896" cy="265176"/>
          </a:xfrm>
          <a:prstGeom prst="roundRect">
            <a:avLst>
              <a:gd name="adj" fmla="val 30000"/>
            </a:avLst>
          </a:prstGeom>
          <a:noFill/>
          <a:ln w="381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436876" y="2322576"/>
            <a:ext cx="310896" cy="265176"/>
          </a:xfrm>
          <a:prstGeom prst="roundRect">
            <a:avLst>
              <a:gd name="adj" fmla="val 30000"/>
            </a:avLst>
          </a:prstGeom>
          <a:noFill/>
          <a:ln w="381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63724" y="2377440"/>
            <a:ext cx="73152"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rc 69"/>
          <p:cNvSpPr/>
          <p:nvPr/>
        </p:nvSpPr>
        <p:spPr>
          <a:xfrm>
            <a:off x="2345436" y="2596896"/>
            <a:ext cx="109728" cy="82296"/>
          </a:xfrm>
          <a:prstGeom prst="arc">
            <a:avLst>
              <a:gd name="adj1" fmla="val 1800000"/>
              <a:gd name="adj2" fmla="val 9000000"/>
            </a:avLst>
          </a:prstGeom>
          <a:no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337560"/>
            <a:ext cx="3337560" cy="457200"/>
          </a:xfrm>
          <a:prstGeom prst="rect">
            <a:avLst/>
          </a:prstGeom>
          <a:noFill/>
        </p:spPr>
        <p:txBody>
          <a:bodyPr wrap="square" lIns="0" tIns="0" rIns="0" bIns="0" anchor="t">
            <a:spAutoFit/>
          </a:bodyPr>
          <a:lstStyle/>
          <a:p>
            <a:pPr algn="ctr">
              <a:lnSpc>
                <a:spcPct val="115000"/>
              </a:lnSpc>
              <a:spcAft>
                <a:spcPts val="0"/>
              </a:spcAft>
            </a:pPr>
            <a:r>
              <a:rPr lang="ko-KR" sz="2200" b="1">
                <a:solidFill>
                  <a:srgbClr val="1F2D3D"/>
                </a:solidFill>
                <a:latin typeface="맑은 고딕"/>
                <a:ea typeface="맑은 고딕"/>
                <a:cs typeface="맑은 고딕"/>
              </a:rPr>
              <a:t>전종현</a:t>
            </a:r>
          </a:p>
        </p:txBody>
      </p:sp>
      <p:sp>
        <p:nvSpPr>
          <p:cNvPr id="21" name="TextBox 20"/>
          <p:cNvSpPr txBox="1"/>
          <p:nvPr/>
        </p:nvSpPr>
        <p:spPr>
          <a:xfrm>
            <a:off x="731520" y="3794760"/>
            <a:ext cx="3337560" cy="320040"/>
          </a:xfrm>
          <a:prstGeom prst="rect">
            <a:avLst/>
          </a:prstGeom>
          <a:noFill/>
        </p:spPr>
        <p:txBody>
          <a:bodyPr wrap="square" lIns="0" tIns="0" rIns="0" bIns="0" anchor="t">
            <a:spAutoFit/>
          </a:bodyPr>
          <a:lstStyle/>
          <a:p>
            <a:pPr algn="ctr">
              <a:lnSpc>
                <a:spcPct val="115000"/>
              </a:lnSpc>
              <a:spcAft>
                <a:spcPts val="0"/>
              </a:spcAft>
            </a:pPr>
            <a:r>
              <a:rPr lang="ko-KR" sz="1400" b="1">
                <a:solidFill>
                  <a:srgbClr val="E8742B"/>
                </a:solidFill>
                <a:latin typeface="맑은 고딕"/>
                <a:ea typeface="맑은 고딕"/>
                <a:cs typeface="맑은 고딕"/>
              </a:rPr>
              <a:t>팀장</a:t>
            </a:r>
          </a:p>
        </p:txBody>
      </p:sp>
      <p:sp>
        <p:nvSpPr>
          <p:cNvPr id="22" name="TextBox 21"/>
          <p:cNvSpPr txBox="1"/>
          <p:nvPr/>
        </p:nvSpPr>
        <p:spPr>
          <a:xfrm>
            <a:off x="1005840" y="4343400"/>
            <a:ext cx="2788920" cy="1554480"/>
          </a:xfrm>
          <a:prstGeom prst="rect">
            <a:avLst/>
          </a:prstGeom>
          <a:noFill/>
        </p:spPr>
        <p:txBody>
          <a:bodyPr wrap="square" lIns="0" tIns="0" rIns="0" bIns="0" anchor="t">
            <a:spAutoFit/>
          </a:bodyPr>
          <a:lstStyle/>
          <a:p>
            <a:pPr algn="ctr">
              <a:lnSpc>
                <a:spcPct val="115000"/>
              </a:lnSpc>
              <a:spcAft>
                <a:spcPts val="400"/>
              </a:spcAft>
            </a:pPr>
            <a:r>
              <a:rPr lang="ko-KR" sz="1500" b="0">
                <a:solidFill>
                  <a:srgbClr val="2B333D"/>
                </a:solidFill>
                <a:latin typeface="맑은 고딕"/>
                <a:ea typeface="맑은 고딕"/>
                <a:cs typeface="맑은 고딕"/>
              </a:rPr>
              <a:t>전체 아키텍처 설계</a:t>
            </a:r>
          </a:p>
          <a:p>
            <a:pPr algn="ctr">
              <a:lnSpc>
                <a:spcPct val="115000"/>
              </a:lnSpc>
              <a:spcAft>
                <a:spcPts val="400"/>
              </a:spcAft>
            </a:pPr>
            <a:r>
              <a:rPr lang="ko-KR" sz="1500" b="0">
                <a:solidFill>
                  <a:srgbClr val="2B333D"/>
                </a:solidFill>
                <a:latin typeface="맑은 고딕"/>
                <a:ea typeface="맑은 고딕"/>
                <a:cs typeface="맑은 고딕"/>
              </a:rPr>
              <a:t>상태 판단(FSM)</a:t>
            </a:r>
          </a:p>
          <a:p>
            <a:pPr algn="ctr">
              <a:lnSpc>
                <a:spcPct val="115000"/>
              </a:lnSpc>
              <a:spcAft>
                <a:spcPts val="400"/>
              </a:spcAft>
            </a:pPr>
            <a:r>
              <a:rPr lang="ko-KR" sz="1500" b="0">
                <a:solidFill>
                  <a:srgbClr val="2B333D"/>
                </a:solidFill>
                <a:latin typeface="맑은 고딕"/>
                <a:ea typeface="맑은 고딕"/>
                <a:cs typeface="맑은 고딕"/>
              </a:rPr>
              <a:t>대시보드 · 데이터 기록</a:t>
            </a:r>
          </a:p>
          <a:p>
            <a:pPr algn="ctr">
              <a:lnSpc>
                <a:spcPct val="115000"/>
              </a:lnSpc>
              <a:spcAft>
                <a:spcPts val="400"/>
              </a:spcAft>
            </a:pPr>
            <a:r>
              <a:rPr lang="ko-KR" sz="1500" b="0">
                <a:solidFill>
                  <a:srgbClr val="2B333D"/>
                </a:solidFill>
                <a:latin typeface="맑은 고딕"/>
                <a:ea typeface="맑은 고딕"/>
                <a:cs typeface="맑은 고딕"/>
              </a:rPr>
              <a:t>통합</a:t>
            </a:r>
          </a:p>
        </p:txBody>
      </p:sp>
      <p:sp>
        <p:nvSpPr>
          <p:cNvPr id="23" name="송태원 카드"/>
          <p:cNvSpPr/>
          <p:nvPr/>
        </p:nvSpPr>
        <p:spPr>
          <a:xfrm>
            <a:off x="4389120" y="1691640"/>
            <a:ext cx="3337560" cy="434340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 Same Side Corner Rectangle 23"/>
          <p:cNvSpPr/>
          <p:nvPr/>
        </p:nvSpPr>
        <p:spPr>
          <a:xfrm>
            <a:off x="5490972" y="2651760"/>
            <a:ext cx="1133856" cy="548640"/>
          </a:xfrm>
          <a:prstGeom prst="round2SameRect">
            <a:avLst>
              <a:gd name="adj1" fmla="val 50000"/>
              <a:gd name="adj2" fmla="val 0"/>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10800000">
            <a:off x="5929884" y="2651760"/>
            <a:ext cx="256032" cy="20116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5719572" y="1975104"/>
            <a:ext cx="676656" cy="50292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710428" y="2267712"/>
            <a:ext cx="91440" cy="164592"/>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313932" y="2267712"/>
            <a:ext cx="91440" cy="164592"/>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774436" y="2029968"/>
            <a:ext cx="566928" cy="658368"/>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5783580" y="1975104"/>
            <a:ext cx="548640" cy="20116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rot="1200000">
            <a:off x="5756148" y="2011680"/>
            <a:ext cx="384048" cy="18288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911596" y="2322576"/>
            <a:ext cx="64008" cy="6400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140196" y="2322576"/>
            <a:ext cx="64008" cy="6400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rc 33"/>
          <p:cNvSpPr/>
          <p:nvPr/>
        </p:nvSpPr>
        <p:spPr>
          <a:xfrm>
            <a:off x="5975604" y="2395728"/>
            <a:ext cx="164592" cy="128016"/>
          </a:xfrm>
          <a:prstGeom prst="arc">
            <a:avLst>
              <a:gd name="adj1" fmla="val 1800000"/>
              <a:gd name="adj2" fmla="val 9000000"/>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389120" y="3337560"/>
            <a:ext cx="3337560" cy="457200"/>
          </a:xfrm>
          <a:prstGeom prst="rect">
            <a:avLst/>
          </a:prstGeom>
          <a:noFill/>
        </p:spPr>
        <p:txBody>
          <a:bodyPr wrap="square" lIns="0" tIns="0" rIns="0" bIns="0" anchor="t">
            <a:spAutoFit/>
          </a:bodyPr>
          <a:lstStyle/>
          <a:p>
            <a:pPr algn="ctr">
              <a:lnSpc>
                <a:spcPct val="115000"/>
              </a:lnSpc>
              <a:spcAft>
                <a:spcPts val="0"/>
              </a:spcAft>
            </a:pPr>
            <a:r>
              <a:rPr lang="ko-KR" sz="2200" b="1">
                <a:solidFill>
                  <a:srgbClr val="1F2D3D"/>
                </a:solidFill>
                <a:latin typeface="맑은 고딕"/>
                <a:ea typeface="맑은 고딕"/>
                <a:cs typeface="맑은 고딕"/>
              </a:rPr>
              <a:t>송태원</a:t>
            </a:r>
          </a:p>
        </p:txBody>
      </p:sp>
      <p:sp>
        <p:nvSpPr>
          <p:cNvPr id="36" name="TextBox 35"/>
          <p:cNvSpPr txBox="1"/>
          <p:nvPr/>
        </p:nvSpPr>
        <p:spPr>
          <a:xfrm>
            <a:off x="4389120" y="3794760"/>
            <a:ext cx="3337560" cy="320040"/>
          </a:xfrm>
          <a:prstGeom prst="rect">
            <a:avLst/>
          </a:prstGeom>
          <a:noFill/>
        </p:spPr>
        <p:txBody>
          <a:bodyPr wrap="square" lIns="0" tIns="0" rIns="0" bIns="0" anchor="t">
            <a:spAutoFit/>
          </a:bodyPr>
          <a:lstStyle/>
          <a:p>
            <a:pPr algn="ctr">
              <a:lnSpc>
                <a:spcPct val="115000"/>
              </a:lnSpc>
              <a:spcAft>
                <a:spcPts val="0"/>
              </a:spcAft>
            </a:pPr>
            <a:r>
              <a:rPr lang="ko-KR" sz="1400" b="1">
                <a:solidFill>
                  <a:srgbClr val="E8742B"/>
                </a:solidFill>
                <a:latin typeface="맑은 고딕"/>
                <a:ea typeface="맑은 고딕"/>
                <a:cs typeface="맑은 고딕"/>
              </a:rPr>
              <a:t>팀원</a:t>
            </a:r>
          </a:p>
        </p:txBody>
      </p:sp>
      <p:sp>
        <p:nvSpPr>
          <p:cNvPr id="37" name="TextBox 36"/>
          <p:cNvSpPr txBox="1"/>
          <p:nvPr/>
        </p:nvSpPr>
        <p:spPr>
          <a:xfrm>
            <a:off x="4663440" y="4343400"/>
            <a:ext cx="2788920" cy="1554480"/>
          </a:xfrm>
          <a:prstGeom prst="rect">
            <a:avLst/>
          </a:prstGeom>
          <a:noFill/>
        </p:spPr>
        <p:txBody>
          <a:bodyPr wrap="square" lIns="0" tIns="0" rIns="0" bIns="0" anchor="t">
            <a:spAutoFit/>
          </a:bodyPr>
          <a:lstStyle/>
          <a:p>
            <a:pPr algn="ctr">
              <a:lnSpc>
                <a:spcPct val="115000"/>
              </a:lnSpc>
              <a:spcAft>
                <a:spcPts val="400"/>
              </a:spcAft>
            </a:pPr>
            <a:r>
              <a:rPr lang="ko-KR" sz="1500" b="0">
                <a:solidFill>
                  <a:srgbClr val="2B333D"/>
                </a:solidFill>
                <a:latin typeface="맑은 고딕"/>
                <a:ea typeface="맑은 고딕"/>
                <a:cs typeface="맑은 고딕"/>
              </a:rPr>
              <a:t>회로 구성</a:t>
            </a:r>
          </a:p>
          <a:p>
            <a:pPr algn="ctr">
              <a:lnSpc>
                <a:spcPct val="115000"/>
              </a:lnSpc>
              <a:spcAft>
                <a:spcPts val="400"/>
              </a:spcAft>
            </a:pPr>
            <a:r>
              <a:rPr lang="ko-KR" sz="1500" b="0">
                <a:solidFill>
                  <a:srgbClr val="2B333D"/>
                </a:solidFill>
                <a:latin typeface="맑은 고딕"/>
                <a:ea typeface="맑은 고딕"/>
                <a:cs typeface="맑은 고딕"/>
              </a:rPr>
              <a:t>Jetson 보드 연결</a:t>
            </a:r>
          </a:p>
        </p:txBody>
      </p:sp>
      <p:sp>
        <p:nvSpPr>
          <p:cNvPr id="38" name="장호영 카드"/>
          <p:cNvSpPr/>
          <p:nvPr/>
        </p:nvSpPr>
        <p:spPr>
          <a:xfrm>
            <a:off x="8046720" y="1691640"/>
            <a:ext cx="3337560" cy="434340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 Same Side Corner Rectangle 38"/>
          <p:cNvSpPr/>
          <p:nvPr/>
        </p:nvSpPr>
        <p:spPr>
          <a:xfrm>
            <a:off x="9148572" y="2651760"/>
            <a:ext cx="1133856" cy="548640"/>
          </a:xfrm>
          <a:prstGeom prst="round2SameRect">
            <a:avLst>
              <a:gd name="adj1" fmla="val 50000"/>
              <a:gd name="adj2" fmla="val 0"/>
            </a:avLst>
          </a:prstGeom>
          <a:solidFill>
            <a:srgbClr val="5A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10800000">
            <a:off x="9587484" y="2651760"/>
            <a:ext cx="256032" cy="20116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377172" y="1975104"/>
            <a:ext cx="676656" cy="50292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368028" y="2267712"/>
            <a:ext cx="91440" cy="164592"/>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9971532" y="2267712"/>
            <a:ext cx="91440" cy="164592"/>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432036" y="2029968"/>
            <a:ext cx="566928" cy="658368"/>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9441180" y="1975104"/>
            <a:ext cx="548640" cy="20116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9569196" y="2322576"/>
            <a:ext cx="64008" cy="6400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797796" y="2322576"/>
            <a:ext cx="64008" cy="64008"/>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9496044" y="2276856"/>
            <a:ext cx="210312" cy="155448"/>
          </a:xfrm>
          <a:prstGeom prst="ellipse">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9724644" y="2276856"/>
            <a:ext cx="210312" cy="155448"/>
          </a:xfrm>
          <a:prstGeom prst="ellipse">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Arc 49"/>
          <p:cNvSpPr/>
          <p:nvPr/>
        </p:nvSpPr>
        <p:spPr>
          <a:xfrm>
            <a:off x="9633204" y="2395728"/>
            <a:ext cx="164592" cy="128016"/>
          </a:xfrm>
          <a:prstGeom prst="arc">
            <a:avLst>
              <a:gd name="adj1" fmla="val 1800000"/>
              <a:gd name="adj2" fmla="val 9000000"/>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046720" y="3337560"/>
            <a:ext cx="3337560" cy="457200"/>
          </a:xfrm>
          <a:prstGeom prst="rect">
            <a:avLst/>
          </a:prstGeom>
          <a:noFill/>
        </p:spPr>
        <p:txBody>
          <a:bodyPr wrap="square" lIns="0" tIns="0" rIns="0" bIns="0" anchor="t">
            <a:spAutoFit/>
          </a:bodyPr>
          <a:lstStyle/>
          <a:p>
            <a:pPr algn="ctr">
              <a:lnSpc>
                <a:spcPct val="115000"/>
              </a:lnSpc>
              <a:spcAft>
                <a:spcPts val="0"/>
              </a:spcAft>
            </a:pPr>
            <a:r>
              <a:rPr lang="ko-KR" sz="2200" b="1">
                <a:solidFill>
                  <a:srgbClr val="1F2D3D"/>
                </a:solidFill>
                <a:latin typeface="맑은 고딕"/>
                <a:ea typeface="맑은 고딕"/>
                <a:cs typeface="맑은 고딕"/>
              </a:rPr>
              <a:t>장호영</a:t>
            </a:r>
          </a:p>
        </p:txBody>
      </p:sp>
      <p:sp>
        <p:nvSpPr>
          <p:cNvPr id="52" name="TextBox 51"/>
          <p:cNvSpPr txBox="1"/>
          <p:nvPr/>
        </p:nvSpPr>
        <p:spPr>
          <a:xfrm>
            <a:off x="8046720" y="3794760"/>
            <a:ext cx="3337560" cy="320040"/>
          </a:xfrm>
          <a:prstGeom prst="rect">
            <a:avLst/>
          </a:prstGeom>
          <a:noFill/>
        </p:spPr>
        <p:txBody>
          <a:bodyPr wrap="square" lIns="0" tIns="0" rIns="0" bIns="0" anchor="t">
            <a:spAutoFit/>
          </a:bodyPr>
          <a:lstStyle/>
          <a:p>
            <a:pPr algn="ctr">
              <a:lnSpc>
                <a:spcPct val="115000"/>
              </a:lnSpc>
              <a:spcAft>
                <a:spcPts val="0"/>
              </a:spcAft>
            </a:pPr>
            <a:r>
              <a:rPr lang="ko-KR" sz="1400" b="1">
                <a:solidFill>
                  <a:srgbClr val="E8742B"/>
                </a:solidFill>
                <a:latin typeface="맑은 고딕"/>
                <a:ea typeface="맑은 고딕"/>
                <a:cs typeface="맑은 고딕"/>
              </a:rPr>
              <a:t>팀원</a:t>
            </a:r>
          </a:p>
        </p:txBody>
      </p:sp>
      <p:sp>
        <p:nvSpPr>
          <p:cNvPr id="53" name="TextBox 52"/>
          <p:cNvSpPr txBox="1"/>
          <p:nvPr/>
        </p:nvSpPr>
        <p:spPr>
          <a:xfrm>
            <a:off x="8321040" y="4343400"/>
            <a:ext cx="2788920" cy="1554480"/>
          </a:xfrm>
          <a:prstGeom prst="rect">
            <a:avLst/>
          </a:prstGeom>
          <a:noFill/>
        </p:spPr>
        <p:txBody>
          <a:bodyPr wrap="square" lIns="0" tIns="0" rIns="0" bIns="0" anchor="t">
            <a:spAutoFit/>
          </a:bodyPr>
          <a:lstStyle/>
          <a:p>
            <a:pPr algn="ctr">
              <a:lnSpc>
                <a:spcPct val="115000"/>
              </a:lnSpc>
              <a:spcAft>
                <a:spcPts val="400"/>
              </a:spcAft>
            </a:pPr>
            <a:r>
              <a:rPr lang="ko-KR" sz="1500" b="0">
                <a:solidFill>
                  <a:srgbClr val="2B333D"/>
                </a:solidFill>
                <a:latin typeface="맑은 고딕"/>
                <a:ea typeface="맑은 고딕"/>
                <a:cs typeface="맑은 고딕"/>
              </a:rPr>
              <a:t>비전 AI 작업자 검출</a:t>
            </a:r>
          </a:p>
          <a:p>
            <a:pPr algn="ctr">
              <a:lnSpc>
                <a:spcPct val="115000"/>
              </a:lnSpc>
              <a:spcAft>
                <a:spcPts val="400"/>
              </a:spcAft>
            </a:pPr>
            <a:r>
              <a:rPr lang="ko-KR" sz="1500" b="0">
                <a:solidFill>
                  <a:srgbClr val="2B333D"/>
                </a:solidFill>
                <a:latin typeface="맑은 고딕"/>
                <a:ea typeface="맑은 고딕"/>
                <a:cs typeface="맑은 고딕"/>
              </a:rPr>
              <a:t>거리 측정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02  </a:t>
            </a:r>
            <a:r>
              <a:rPr lang="ko-KR" sz="3000" b="1">
                <a:solidFill>
                  <a:srgbClr val="1F2D3D"/>
                </a:solidFill>
                <a:latin typeface="맑은 고딕"/>
                <a:ea typeface="맑은 고딕"/>
                <a:cs typeface="맑은 고딕"/>
              </a:rPr>
              <a:t>문제 정의</a:t>
            </a:r>
          </a:p>
        </p:txBody>
      </p:sp>
      <p:sp>
        <p:nvSpPr>
          <p:cNvPr id="3" name="TextBox 2"/>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4" name="TextBox 3"/>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4</a:t>
            </a:r>
          </a:p>
        </p:txBody>
      </p:sp>
      <p:sp>
        <p:nvSpPr>
          <p:cNvPr id="5" name="TextBox 4"/>
          <p:cNvSpPr txBox="1"/>
          <p:nvPr/>
        </p:nvSpPr>
        <p:spPr>
          <a:xfrm>
            <a:off x="731520" y="1463040"/>
            <a:ext cx="512064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현장 문제</a:t>
            </a:r>
          </a:p>
        </p:txBody>
      </p:sp>
      <p:sp>
        <p:nvSpPr>
          <p:cNvPr id="6" name="TextBox 5"/>
          <p:cNvSpPr txBox="1"/>
          <p:nvPr/>
        </p:nvSpPr>
        <p:spPr>
          <a:xfrm>
            <a:off x="731520" y="1920240"/>
            <a:ext cx="5120640" cy="1371600"/>
          </a:xfrm>
          <a:prstGeom prst="rect">
            <a:avLst/>
          </a:prstGeom>
          <a:noFill/>
        </p:spPr>
        <p:txBody>
          <a:bodyPr wrap="square" lIns="0" tIns="0" rIns="0" bIns="0" anchor="t">
            <a:spAutoFit/>
          </a:bodyPr>
          <a:lstStyle/>
          <a:p>
            <a:pPr algn="l">
              <a:lnSpc>
                <a:spcPct val="130000"/>
              </a:lnSpc>
              <a:spcAft>
                <a:spcPts val="0"/>
              </a:spcAft>
            </a:pPr>
            <a:r>
              <a:rPr lang="ko-KR" sz="1500" b="0">
                <a:solidFill>
                  <a:srgbClr val="2B333D"/>
                </a:solidFill>
                <a:latin typeface="맑은 고딕"/>
                <a:ea typeface="맑은 고딕"/>
                <a:cs typeface="맑은 고딕"/>
              </a:rPr>
              <a:t>컨베이어 벨트는 쉬지 않고 움직입니다. 정비나 물품 정리로 가까이 간 작업자는 작업에 집중하다 장비와의 거리를 놓치기 쉽고, 이때 끼임·충돌 사고가 날 수 있습니다.</a:t>
            </a:r>
          </a:p>
        </p:txBody>
      </p:sp>
      <p:sp>
        <p:nvSpPr>
          <p:cNvPr id="7" name="TextBox 6"/>
          <p:cNvSpPr txBox="1"/>
          <p:nvPr/>
        </p:nvSpPr>
        <p:spPr>
          <a:xfrm>
            <a:off x="731520" y="3520440"/>
            <a:ext cx="512064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사용자</a:t>
            </a:r>
          </a:p>
        </p:txBody>
      </p:sp>
      <p:sp>
        <p:nvSpPr>
          <p:cNvPr id="8" name="Rounded Rectangle 7"/>
          <p:cNvSpPr/>
          <p:nvPr/>
        </p:nvSpPr>
        <p:spPr>
          <a:xfrm>
            <a:off x="731520" y="4023360"/>
            <a:ext cx="5120640" cy="566928"/>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4023360"/>
            <a:ext cx="1737360" cy="566928"/>
          </a:xfrm>
          <a:prstGeom prst="rect">
            <a:avLst/>
          </a:prstGeom>
          <a:noFill/>
        </p:spPr>
        <p:txBody>
          <a:bodyPr wrap="square" lIns="0" tIns="0" rIns="0" bIns="0" anchor="ctr">
            <a:spAutoFit/>
          </a:bodyPr>
          <a:lstStyle/>
          <a:p>
            <a:pPr algn="l">
              <a:lnSpc>
                <a:spcPct val="115000"/>
              </a:lnSpc>
              <a:spcAft>
                <a:spcPts val="0"/>
              </a:spcAft>
            </a:pPr>
            <a:r>
              <a:rPr lang="ko-KR" sz="1400" b="1">
                <a:solidFill>
                  <a:srgbClr val="1F2D3D"/>
                </a:solidFill>
                <a:latin typeface="맑은 고딕"/>
                <a:ea typeface="맑은 고딕"/>
                <a:cs typeface="맑은 고딕"/>
              </a:rPr>
              <a:t>현장 작업자</a:t>
            </a:r>
          </a:p>
        </p:txBody>
      </p:sp>
      <p:sp>
        <p:nvSpPr>
          <p:cNvPr id="10" name="TextBox 9"/>
          <p:cNvSpPr txBox="1"/>
          <p:nvPr/>
        </p:nvSpPr>
        <p:spPr>
          <a:xfrm>
            <a:off x="2651760" y="4023360"/>
            <a:ext cx="3108960" cy="566928"/>
          </a:xfrm>
          <a:prstGeom prst="rect">
            <a:avLst/>
          </a:prstGeom>
          <a:noFill/>
        </p:spPr>
        <p:txBody>
          <a:bodyPr wrap="square" lIns="0" tIns="0" rIns="0" bIns="0" anchor="ctr">
            <a:spAutoFit/>
          </a:bodyPr>
          <a:lstStyle/>
          <a:p>
            <a:pPr algn="l">
              <a:lnSpc>
                <a:spcPct val="115000"/>
              </a:lnSpc>
              <a:spcAft>
                <a:spcPts val="0"/>
              </a:spcAft>
            </a:pPr>
            <a:r>
              <a:rPr lang="ko-KR" sz="1400" b="0">
                <a:solidFill>
                  <a:srgbClr val="2B333D"/>
                </a:solidFill>
                <a:latin typeface="맑은 고딕"/>
                <a:ea typeface="맑은 고딕"/>
                <a:cs typeface="맑은 고딕"/>
              </a:rPr>
              <a:t>바로 알 수 있는 경고, 자동 정지</a:t>
            </a:r>
          </a:p>
        </p:txBody>
      </p:sp>
      <p:sp>
        <p:nvSpPr>
          <p:cNvPr id="11" name="Rounded Rectangle 10"/>
          <p:cNvSpPr/>
          <p:nvPr/>
        </p:nvSpPr>
        <p:spPr>
          <a:xfrm>
            <a:off x="731520" y="4709160"/>
            <a:ext cx="5120640" cy="566928"/>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4709160"/>
            <a:ext cx="1737360" cy="566928"/>
          </a:xfrm>
          <a:prstGeom prst="rect">
            <a:avLst/>
          </a:prstGeom>
          <a:noFill/>
        </p:spPr>
        <p:txBody>
          <a:bodyPr wrap="square" lIns="0" tIns="0" rIns="0" bIns="0" anchor="ctr">
            <a:spAutoFit/>
          </a:bodyPr>
          <a:lstStyle/>
          <a:p>
            <a:pPr algn="l">
              <a:lnSpc>
                <a:spcPct val="115000"/>
              </a:lnSpc>
              <a:spcAft>
                <a:spcPts val="0"/>
              </a:spcAft>
            </a:pPr>
            <a:r>
              <a:rPr lang="ko-KR" sz="1400" b="1">
                <a:solidFill>
                  <a:srgbClr val="1F2D3D"/>
                </a:solidFill>
                <a:latin typeface="맑은 고딕"/>
                <a:ea typeface="맑은 고딕"/>
                <a:cs typeface="맑은 고딕"/>
              </a:rPr>
              <a:t>현장 관리자</a:t>
            </a:r>
          </a:p>
        </p:txBody>
      </p:sp>
      <p:sp>
        <p:nvSpPr>
          <p:cNvPr id="13" name="TextBox 12"/>
          <p:cNvSpPr txBox="1"/>
          <p:nvPr/>
        </p:nvSpPr>
        <p:spPr>
          <a:xfrm>
            <a:off x="2651760" y="4709160"/>
            <a:ext cx="3108960" cy="566928"/>
          </a:xfrm>
          <a:prstGeom prst="rect">
            <a:avLst/>
          </a:prstGeom>
          <a:noFill/>
        </p:spPr>
        <p:txBody>
          <a:bodyPr wrap="square" lIns="0" tIns="0" rIns="0" bIns="0" anchor="ctr">
            <a:spAutoFit/>
          </a:bodyPr>
          <a:lstStyle/>
          <a:p>
            <a:pPr algn="l">
              <a:lnSpc>
                <a:spcPct val="115000"/>
              </a:lnSpc>
              <a:spcAft>
                <a:spcPts val="0"/>
              </a:spcAft>
            </a:pPr>
            <a:r>
              <a:rPr lang="ko-KR" sz="1400" b="0">
                <a:solidFill>
                  <a:srgbClr val="2B333D"/>
                </a:solidFill>
                <a:latin typeface="맑은 고딕"/>
                <a:ea typeface="맑은 고딕"/>
                <a:cs typeface="맑은 고딕"/>
              </a:rPr>
              <a:t>실시간 화면과 경고·정지 기록</a:t>
            </a:r>
          </a:p>
        </p:txBody>
      </p:sp>
      <p:sp>
        <p:nvSpPr>
          <p:cNvPr id="14" name="Rounded Rectangle 13"/>
          <p:cNvSpPr/>
          <p:nvPr/>
        </p:nvSpPr>
        <p:spPr>
          <a:xfrm>
            <a:off x="731520" y="5394960"/>
            <a:ext cx="5120640" cy="566928"/>
          </a:xfrm>
          <a:prstGeom prst="roundRect">
            <a:avLst>
              <a:gd name="adj" fmla="val 2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5394960"/>
            <a:ext cx="1737360" cy="566928"/>
          </a:xfrm>
          <a:prstGeom prst="rect">
            <a:avLst/>
          </a:prstGeom>
          <a:noFill/>
        </p:spPr>
        <p:txBody>
          <a:bodyPr wrap="square" lIns="0" tIns="0" rIns="0" bIns="0" anchor="ctr">
            <a:spAutoFit/>
          </a:bodyPr>
          <a:lstStyle/>
          <a:p>
            <a:pPr algn="l">
              <a:lnSpc>
                <a:spcPct val="115000"/>
              </a:lnSpc>
              <a:spcAft>
                <a:spcPts val="0"/>
              </a:spcAft>
            </a:pPr>
            <a:r>
              <a:rPr lang="ko-KR" sz="1400" b="1">
                <a:solidFill>
                  <a:srgbClr val="1F2D3D"/>
                </a:solidFill>
                <a:latin typeface="맑은 고딕"/>
                <a:ea typeface="맑은 고딕"/>
                <a:cs typeface="맑은 고딕"/>
              </a:rPr>
              <a:t>유지보수 담당자</a:t>
            </a:r>
          </a:p>
        </p:txBody>
      </p:sp>
      <p:sp>
        <p:nvSpPr>
          <p:cNvPr id="16" name="TextBox 15"/>
          <p:cNvSpPr txBox="1"/>
          <p:nvPr/>
        </p:nvSpPr>
        <p:spPr>
          <a:xfrm>
            <a:off x="2651760" y="5394960"/>
            <a:ext cx="3108960" cy="566928"/>
          </a:xfrm>
          <a:prstGeom prst="rect">
            <a:avLst/>
          </a:prstGeom>
          <a:noFill/>
        </p:spPr>
        <p:txBody>
          <a:bodyPr wrap="square" lIns="0" tIns="0" rIns="0" bIns="0" anchor="ctr">
            <a:spAutoFit/>
          </a:bodyPr>
          <a:lstStyle/>
          <a:p>
            <a:pPr algn="l">
              <a:lnSpc>
                <a:spcPct val="115000"/>
              </a:lnSpc>
              <a:spcAft>
                <a:spcPts val="0"/>
              </a:spcAft>
            </a:pPr>
            <a:r>
              <a:rPr lang="ko-KR" sz="1400" b="0">
                <a:solidFill>
                  <a:srgbClr val="2B333D"/>
                </a:solidFill>
                <a:latin typeface="맑은 고딕"/>
                <a:ea typeface="맑은 고딕"/>
                <a:cs typeface="맑은 고딕"/>
              </a:rPr>
              <a:t>오류가 난 시각과 원인</a:t>
            </a:r>
          </a:p>
        </p:txBody>
      </p:sp>
      <p:sp>
        <p:nvSpPr>
          <p:cNvPr id="17" name="TextBox 16"/>
          <p:cNvSpPr txBox="1"/>
          <p:nvPr/>
        </p:nvSpPr>
        <p:spPr>
          <a:xfrm>
            <a:off x="6492240" y="1463040"/>
            <a:ext cx="493776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그래서 필요한 것</a:t>
            </a:r>
          </a:p>
        </p:txBody>
      </p:sp>
      <p:sp>
        <p:nvSpPr>
          <p:cNvPr id="18" name="Rounded Rectangle 17"/>
          <p:cNvSpPr/>
          <p:nvPr/>
        </p:nvSpPr>
        <p:spPr>
          <a:xfrm>
            <a:off x="6492240" y="1920240"/>
            <a:ext cx="4937760" cy="11887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720840" y="2240280"/>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1</a:t>
            </a:r>
          </a:p>
        </p:txBody>
      </p:sp>
      <p:sp>
        <p:nvSpPr>
          <p:cNvPr id="20" name="TextBox 19"/>
          <p:cNvSpPr txBox="1"/>
          <p:nvPr/>
        </p:nvSpPr>
        <p:spPr>
          <a:xfrm>
            <a:off x="7498079" y="2103120"/>
            <a:ext cx="3749039"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자동 감지</a:t>
            </a:r>
          </a:p>
        </p:txBody>
      </p:sp>
      <p:sp>
        <p:nvSpPr>
          <p:cNvPr id="21" name="TextBox 20"/>
          <p:cNvSpPr txBox="1"/>
          <p:nvPr/>
        </p:nvSpPr>
        <p:spPr>
          <a:xfrm>
            <a:off x="7498079" y="2487168"/>
            <a:ext cx="3749039" cy="54864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작업자가 다가오는 것을 카메라로 알아챈다</a:t>
            </a:r>
          </a:p>
        </p:txBody>
      </p:sp>
      <p:sp>
        <p:nvSpPr>
          <p:cNvPr id="22" name="Rounded Rectangle 21"/>
          <p:cNvSpPr/>
          <p:nvPr/>
        </p:nvSpPr>
        <p:spPr>
          <a:xfrm>
            <a:off x="6492240" y="3291840"/>
            <a:ext cx="4937760" cy="11887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720840" y="3611880"/>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2</a:t>
            </a:r>
          </a:p>
        </p:txBody>
      </p:sp>
      <p:sp>
        <p:nvSpPr>
          <p:cNvPr id="24" name="TextBox 23"/>
          <p:cNvSpPr txBox="1"/>
          <p:nvPr/>
        </p:nvSpPr>
        <p:spPr>
          <a:xfrm>
            <a:off x="7498079" y="3474720"/>
            <a:ext cx="3749039"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단계별 대응</a:t>
            </a:r>
          </a:p>
        </p:txBody>
      </p:sp>
      <p:sp>
        <p:nvSpPr>
          <p:cNvPr id="25" name="TextBox 24"/>
          <p:cNvSpPr txBox="1"/>
          <p:nvPr/>
        </p:nvSpPr>
        <p:spPr>
          <a:xfrm>
            <a:off x="7498079" y="3858768"/>
            <a:ext cx="3749039" cy="54864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가까워지면 먼저 경고하고, 위험 거리에서는 벨트를 멈춘다</a:t>
            </a:r>
          </a:p>
        </p:txBody>
      </p:sp>
      <p:sp>
        <p:nvSpPr>
          <p:cNvPr id="26" name="Rounded Rectangle 25"/>
          <p:cNvSpPr/>
          <p:nvPr/>
        </p:nvSpPr>
        <p:spPr>
          <a:xfrm>
            <a:off x="6492240" y="4663440"/>
            <a:ext cx="4937760" cy="11887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720840" y="4983479"/>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3</a:t>
            </a:r>
          </a:p>
        </p:txBody>
      </p:sp>
      <p:sp>
        <p:nvSpPr>
          <p:cNvPr id="28" name="TextBox 27"/>
          <p:cNvSpPr txBox="1"/>
          <p:nvPr/>
        </p:nvSpPr>
        <p:spPr>
          <a:xfrm>
            <a:off x="7498079" y="4846320"/>
            <a:ext cx="3749039"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기록</a:t>
            </a:r>
          </a:p>
        </p:txBody>
      </p:sp>
      <p:sp>
        <p:nvSpPr>
          <p:cNvPr id="29" name="TextBox 28"/>
          <p:cNvSpPr txBox="1"/>
          <p:nvPr/>
        </p:nvSpPr>
        <p:spPr>
          <a:xfrm>
            <a:off x="7498079" y="5230368"/>
            <a:ext cx="3749039" cy="54864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언제, 왜 경고하고 멈췄는지 남겨 나중에 확인한다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03  </a:t>
            </a:r>
            <a:r>
              <a:rPr lang="ko-KR" sz="3000" b="1">
                <a:solidFill>
                  <a:srgbClr val="1F2D3D"/>
                </a:solidFill>
                <a:latin typeface="맑은 고딕"/>
                <a:ea typeface="맑은 고딕"/>
                <a:cs typeface="맑은 고딕"/>
              </a:rPr>
              <a:t>시스템 구성</a:t>
            </a:r>
          </a:p>
        </p:txBody>
      </p:sp>
      <p:sp>
        <p:nvSpPr>
          <p:cNvPr id="3" name="TextBox 2"/>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4" name="TextBox 3"/>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5</a:t>
            </a:r>
          </a:p>
        </p:txBody>
      </p:sp>
      <p:sp>
        <p:nvSpPr>
          <p:cNvPr id="5" name="카메라 시야"/>
          <p:cNvSpPr/>
          <p:nvPr/>
        </p:nvSpPr>
        <p:spPr>
          <a:xfrm>
            <a:off x="6035040" y="1417320"/>
            <a:ext cx="5486400" cy="4251960"/>
          </a:xfrm>
          <a:custGeom>
            <a:avLst/>
            <a:gdLst/>
            <a:ahLst/>
            <a:cxnLst/>
            <a:rect l="l" t="t" r="r" b="b"/>
            <a:pathLst>
              <a:path w="5486400" h="4251960">
                <a:moveTo>
                  <a:pt x="146304" y="713232"/>
                </a:moveTo>
                <a:lnTo>
                  <a:pt x="5486400" y="0"/>
                </a:lnTo>
                <a:lnTo>
                  <a:pt x="5486400" y="4251960"/>
                </a:lnTo>
                <a:lnTo>
                  <a:pt x="0" y="4251960"/>
                </a:lnTo>
                <a:lnTo>
                  <a:pt x="146304" y="859536"/>
                </a:lnTo>
                <a:close/>
              </a:path>
            </a:pathLst>
          </a:custGeom>
          <a:solidFill>
            <a:srgbClr val="E8742B">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40080" y="5669280"/>
            <a:ext cx="5394960" cy="0"/>
          </a:xfrm>
          <a:prstGeom prst="line">
            <a:avLst/>
          </a:prstGeom>
          <a:ln w="19050">
            <a:solidFill>
              <a:srgbClr val="D5DAE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35040" y="5669280"/>
            <a:ext cx="1234440" cy="182880"/>
          </a:xfrm>
          <a:prstGeom prst="rect">
            <a:avLst/>
          </a:prstGeom>
          <a:solidFill>
            <a:srgbClr val="D645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35040" y="5943600"/>
            <a:ext cx="1234440" cy="274320"/>
          </a:xfrm>
          <a:prstGeom prst="rect">
            <a:avLst/>
          </a:prstGeom>
          <a:noFill/>
        </p:spPr>
        <p:txBody>
          <a:bodyPr wrap="square" lIns="0" tIns="0" rIns="0" bIns="0" anchor="t">
            <a:spAutoFit/>
          </a:bodyPr>
          <a:lstStyle/>
          <a:p>
            <a:pPr algn="ctr">
              <a:lnSpc>
                <a:spcPct val="115000"/>
              </a:lnSpc>
              <a:spcAft>
                <a:spcPts val="0"/>
              </a:spcAft>
            </a:pPr>
            <a:r>
              <a:rPr lang="ko-KR" sz="1200" b="1">
                <a:solidFill>
                  <a:srgbClr val="D64541"/>
                </a:solidFill>
                <a:latin typeface="맑은 고딕"/>
                <a:ea typeface="맑은 고딕"/>
                <a:cs typeface="맑은 고딕"/>
              </a:rPr>
              <a:t>위험 · 50cm 이하</a:t>
            </a:r>
          </a:p>
        </p:txBody>
      </p:sp>
      <p:sp>
        <p:nvSpPr>
          <p:cNvPr id="9" name="Rectangle 8"/>
          <p:cNvSpPr/>
          <p:nvPr/>
        </p:nvSpPr>
        <p:spPr>
          <a:xfrm>
            <a:off x="7269480" y="5669280"/>
            <a:ext cx="2103120" cy="182880"/>
          </a:xfrm>
          <a:prstGeom prst="rect">
            <a:avLst/>
          </a:prstGeom>
          <a:solidFill>
            <a:srgbClr val="F2B705">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69480" y="5943600"/>
            <a:ext cx="2103120" cy="274320"/>
          </a:xfrm>
          <a:prstGeom prst="rect">
            <a:avLst/>
          </a:prstGeom>
          <a:noFill/>
        </p:spPr>
        <p:txBody>
          <a:bodyPr wrap="square" lIns="0" tIns="0" rIns="0" bIns="0" anchor="t">
            <a:spAutoFit/>
          </a:bodyPr>
          <a:lstStyle/>
          <a:p>
            <a:pPr algn="ctr">
              <a:lnSpc>
                <a:spcPct val="115000"/>
              </a:lnSpc>
              <a:spcAft>
                <a:spcPts val="0"/>
              </a:spcAft>
            </a:pPr>
            <a:r>
              <a:rPr lang="ko-KR" sz="1200" b="1">
                <a:solidFill>
                  <a:srgbClr val="B08200"/>
                </a:solidFill>
                <a:latin typeface="맑은 고딕"/>
                <a:ea typeface="맑은 고딕"/>
                <a:cs typeface="맑은 고딕"/>
              </a:rPr>
              <a:t>경고 · 200cm 이하</a:t>
            </a:r>
          </a:p>
        </p:txBody>
      </p:sp>
      <p:sp>
        <p:nvSpPr>
          <p:cNvPr id="11" name="Rectangle 10"/>
          <p:cNvSpPr/>
          <p:nvPr/>
        </p:nvSpPr>
        <p:spPr>
          <a:xfrm>
            <a:off x="9372600" y="5669280"/>
            <a:ext cx="2148839" cy="182880"/>
          </a:xfrm>
          <a:prstGeom prst="rect">
            <a:avLst/>
          </a:prstGeom>
          <a:solidFill>
            <a:srgbClr val="2E9E5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72600" y="5943600"/>
            <a:ext cx="2148839" cy="274320"/>
          </a:xfrm>
          <a:prstGeom prst="rect">
            <a:avLst/>
          </a:prstGeom>
          <a:noFill/>
        </p:spPr>
        <p:txBody>
          <a:bodyPr wrap="square" lIns="0" tIns="0" rIns="0" bIns="0" anchor="t">
            <a:spAutoFit/>
          </a:bodyPr>
          <a:lstStyle/>
          <a:p>
            <a:pPr algn="ctr">
              <a:lnSpc>
                <a:spcPct val="115000"/>
              </a:lnSpc>
              <a:spcAft>
                <a:spcPts val="0"/>
              </a:spcAft>
            </a:pPr>
            <a:r>
              <a:rPr lang="ko-KR" sz="1200" b="1">
                <a:solidFill>
                  <a:srgbClr val="2E9E5B"/>
                </a:solidFill>
                <a:latin typeface="맑은 고딕"/>
                <a:ea typeface="맑은 고딕"/>
                <a:cs typeface="맑은 고딕"/>
              </a:rPr>
              <a:t>정상</a:t>
            </a:r>
          </a:p>
        </p:txBody>
      </p:sp>
      <p:sp>
        <p:nvSpPr>
          <p:cNvPr id="13" name="Oval 12"/>
          <p:cNvSpPr/>
          <p:nvPr/>
        </p:nvSpPr>
        <p:spPr>
          <a:xfrm>
            <a:off x="594360" y="1371600"/>
            <a:ext cx="914400" cy="868680"/>
          </a:xfrm>
          <a:prstGeom prst="ellipse">
            <a:avLst/>
          </a:prstGeom>
          <a:solidFill>
            <a:srgbClr val="D64541">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005840" y="2788920"/>
            <a:ext cx="91440" cy="2880360"/>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77240" y="5532120"/>
            <a:ext cx="548640" cy="137160"/>
          </a:xfrm>
          <a:prstGeom prst="roundRect">
            <a:avLst>
              <a:gd name="adj" fmla="val 30000"/>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58952" y="1554480"/>
            <a:ext cx="585216" cy="1261872"/>
          </a:xfrm>
          <a:prstGeom prst="roundRect">
            <a:avLst>
              <a:gd name="adj" fmla="val 20000"/>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77824" y="1627632"/>
            <a:ext cx="347472" cy="347472"/>
          </a:xfrm>
          <a:prstGeom prst="ellipse">
            <a:avLst/>
          </a:prstGeom>
          <a:solidFill>
            <a:srgbClr val="D64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77824" y="2011680"/>
            <a:ext cx="347472" cy="347472"/>
          </a:xfrm>
          <a:prstGeom prst="ellipse">
            <a:avLst/>
          </a:prstGeom>
          <a:solidFill>
            <a:srgbClr val="F5E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77824" y="2395728"/>
            <a:ext cx="347472" cy="347472"/>
          </a:xfrm>
          <a:prstGeom prst="ellipse">
            <a:avLst/>
          </a:prstGeom>
          <a:solidFill>
            <a:srgbClr val="BFE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1480" y="3291840"/>
            <a:ext cx="548640" cy="274320"/>
          </a:xfrm>
          <a:prstGeom prst="rect">
            <a:avLst/>
          </a:prstGeom>
          <a:noFill/>
        </p:spPr>
        <p:txBody>
          <a:bodyPr wrap="square" lIns="0" tIns="0" rIns="0" bIns="0" anchor="t">
            <a:spAutoFit/>
          </a:bodyPr>
          <a:lstStyle/>
          <a:p>
            <a:pPr algn="r">
              <a:lnSpc>
                <a:spcPct val="115000"/>
              </a:lnSpc>
              <a:spcAft>
                <a:spcPts val="0"/>
              </a:spcAft>
            </a:pPr>
            <a:r>
              <a:rPr lang="ko-KR" sz="1100" b="0">
                <a:solidFill>
                  <a:srgbClr val="6B7480"/>
                </a:solidFill>
                <a:latin typeface="맑은 고딕"/>
                <a:ea typeface="맑은 고딕"/>
                <a:cs typeface="맑은 고딕"/>
              </a:rPr>
              <a:t>경고등</a:t>
            </a:r>
          </a:p>
        </p:txBody>
      </p:sp>
      <p:sp>
        <p:nvSpPr>
          <p:cNvPr id="21" name="Rounded Rectangle 20"/>
          <p:cNvSpPr/>
          <p:nvPr/>
        </p:nvSpPr>
        <p:spPr>
          <a:xfrm>
            <a:off x="2011680" y="1508760"/>
            <a:ext cx="1371600" cy="914400"/>
          </a:xfrm>
          <a:prstGeom prst="roundRect">
            <a:avLst>
              <a:gd name="adj" fmla="val 8000"/>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084831" y="1581912"/>
            <a:ext cx="122529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2176272" y="1682496"/>
            <a:ext cx="182880" cy="182880"/>
          </a:xfrm>
          <a:prstGeom prst="ellipse">
            <a:avLst/>
          </a:prstGeom>
          <a:solidFill>
            <a:srgbClr val="D64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414016" y="1645920"/>
            <a:ext cx="868680" cy="256032"/>
          </a:xfrm>
          <a:prstGeom prst="rect">
            <a:avLst/>
          </a:prstGeom>
          <a:noFill/>
        </p:spPr>
        <p:txBody>
          <a:bodyPr wrap="square" lIns="0" tIns="0" rIns="0" bIns="0" anchor="t">
            <a:spAutoFit/>
          </a:bodyPr>
          <a:lstStyle/>
          <a:p>
            <a:pPr algn="l">
              <a:lnSpc>
                <a:spcPct val="115000"/>
              </a:lnSpc>
              <a:spcAft>
                <a:spcPts val="0"/>
              </a:spcAft>
            </a:pPr>
            <a:r>
              <a:rPr lang="ko-KR" sz="1000" b="1">
                <a:solidFill>
                  <a:srgbClr val="D64541"/>
                </a:solidFill>
                <a:latin typeface="맑은 고딕"/>
                <a:ea typeface="맑은 고딕"/>
                <a:cs typeface="맑은 고딕"/>
              </a:rPr>
              <a:t>위험 · 정지</a:t>
            </a:r>
          </a:p>
        </p:txBody>
      </p:sp>
      <p:sp>
        <p:nvSpPr>
          <p:cNvPr id="25" name="Rectangle 24"/>
          <p:cNvSpPr/>
          <p:nvPr/>
        </p:nvSpPr>
        <p:spPr>
          <a:xfrm>
            <a:off x="2176272" y="2011680"/>
            <a:ext cx="1024128" cy="54864"/>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176272" y="2148840"/>
            <a:ext cx="1024128" cy="54864"/>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606040" y="2423160"/>
            <a:ext cx="182880" cy="137160"/>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423160" y="2560320"/>
            <a:ext cx="548640" cy="54864"/>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737360" y="2697480"/>
            <a:ext cx="1920240" cy="274320"/>
          </a:xfrm>
          <a:prstGeom prst="rect">
            <a:avLst/>
          </a:prstGeom>
          <a:noFill/>
        </p:spPr>
        <p:txBody>
          <a:bodyPr wrap="square" lIns="0" tIns="0" rIns="0" bIns="0" anchor="t">
            <a:spAutoFit/>
          </a:bodyPr>
          <a:lstStyle/>
          <a:p>
            <a:pPr algn="ctr">
              <a:lnSpc>
                <a:spcPct val="115000"/>
              </a:lnSpc>
              <a:spcAft>
                <a:spcPts val="0"/>
              </a:spcAft>
            </a:pPr>
            <a:r>
              <a:rPr lang="ko-KR" sz="1100" b="0">
                <a:solidFill>
                  <a:srgbClr val="6B7480"/>
                </a:solidFill>
                <a:latin typeface="맑은 고딕"/>
                <a:ea typeface="맑은 고딕"/>
                <a:cs typeface="맑은 고딕"/>
              </a:rPr>
              <a:t>대시보드 · DB 기록</a:t>
            </a:r>
          </a:p>
        </p:txBody>
      </p:sp>
      <p:sp>
        <p:nvSpPr>
          <p:cNvPr id="30" name="Rounded Rectangle 29"/>
          <p:cNvSpPr/>
          <p:nvPr/>
        </p:nvSpPr>
        <p:spPr>
          <a:xfrm>
            <a:off x="3657600" y="1600200"/>
            <a:ext cx="1417320" cy="685800"/>
          </a:xfrm>
          <a:prstGeom prst="roundRect">
            <a:avLst>
              <a:gd name="adj" fmla="val 12000"/>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pPr>
            <a:r>
              <a:rPr lang="ko-KR" sz="1300" b="1">
                <a:solidFill>
                  <a:srgbClr val="FFFFFF"/>
                </a:solidFill>
                <a:latin typeface="맑은 고딕"/>
                <a:ea typeface="맑은 고딕"/>
                <a:cs typeface="맑은 고딕"/>
              </a:rPr>
              <a:t>Jetson</a:t>
            </a:r>
          </a:p>
          <a:p>
            <a:pPr algn="ctr">
              <a:lnSpc>
                <a:spcPct val="100000"/>
              </a:lnSpc>
            </a:pPr>
            <a:r>
              <a:rPr lang="ko-KR" sz="1000" b="0">
                <a:solidFill>
                  <a:srgbClr val="C9D1DB"/>
                </a:solidFill>
                <a:latin typeface="맑은 고딕"/>
                <a:ea typeface="맑은 고딕"/>
                <a:cs typeface="맑은 고딕"/>
              </a:rPr>
              <a:t>Orin Nano</a:t>
            </a:r>
          </a:p>
        </p:txBody>
      </p:sp>
      <p:sp>
        <p:nvSpPr>
          <p:cNvPr id="31" name="Rectangle 30"/>
          <p:cNvSpPr/>
          <p:nvPr/>
        </p:nvSpPr>
        <p:spPr>
          <a:xfrm>
            <a:off x="2011680" y="4187952"/>
            <a:ext cx="109728" cy="1481328"/>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394960" y="4187952"/>
            <a:ext cx="109728" cy="1481328"/>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645920" y="3840480"/>
            <a:ext cx="4206240" cy="347472"/>
          </a:xfrm>
          <a:prstGeom prst="roundRect">
            <a:avLst>
              <a:gd name="adj" fmla="val 50000"/>
            </a:avLst>
          </a:prstGeom>
          <a:solidFill>
            <a:srgbClr val="4A5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700784"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487168"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3273552"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059936"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4846320"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5632704" y="3895344"/>
            <a:ext cx="237744" cy="237744"/>
          </a:xfrm>
          <a:prstGeom prst="ellipse">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2103120" y="3273552"/>
            <a:ext cx="566928" cy="566928"/>
          </a:xfrm>
          <a:prstGeom prst="ellipse">
            <a:avLst/>
          </a:prstGeom>
          <a:solidFill>
            <a:srgbClr val="B8C0C9"/>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2176272" y="3346704"/>
            <a:ext cx="420624" cy="420624"/>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240279" y="3410712"/>
            <a:ext cx="292608" cy="292608"/>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2304288" y="3474720"/>
            <a:ext cx="164592" cy="164592"/>
          </a:xfrm>
          <a:prstGeom prst="ellipse">
            <a:avLst/>
          </a:prstGeom>
          <a:solidFill>
            <a:srgbClr val="FFFFFF"/>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3108960" y="3273552"/>
            <a:ext cx="566928" cy="566928"/>
          </a:xfrm>
          <a:prstGeom prst="ellipse">
            <a:avLst/>
          </a:prstGeom>
          <a:solidFill>
            <a:srgbClr val="B8C0C9"/>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3182112" y="3346704"/>
            <a:ext cx="420624" cy="420624"/>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3246120" y="3410712"/>
            <a:ext cx="292608" cy="292608"/>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3310128" y="3474720"/>
            <a:ext cx="164592" cy="164592"/>
          </a:xfrm>
          <a:prstGeom prst="ellipse">
            <a:avLst/>
          </a:prstGeom>
          <a:solidFill>
            <a:srgbClr val="FFFFFF"/>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4846320" y="3273552"/>
            <a:ext cx="566928" cy="566928"/>
          </a:xfrm>
          <a:prstGeom prst="ellipse">
            <a:avLst/>
          </a:prstGeom>
          <a:solidFill>
            <a:srgbClr val="B8C0C9"/>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4919472" y="3346704"/>
            <a:ext cx="420624" cy="420624"/>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4983480" y="3410712"/>
            <a:ext cx="292608" cy="292608"/>
          </a:xfrm>
          <a:prstGeom prst="ellipse">
            <a:avLst/>
          </a:prstGeom>
          <a:no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5047488" y="3474720"/>
            <a:ext cx="164592" cy="164592"/>
          </a:xfrm>
          <a:prstGeom prst="ellipse">
            <a:avLst/>
          </a:prstGeom>
          <a:solidFill>
            <a:srgbClr val="FFFFFF"/>
          </a:solidFill>
          <a:ln w="15875">
            <a:solidFill>
              <a:srgbClr val="7D87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3017520" y="4434840"/>
            <a:ext cx="1463040" cy="411480"/>
          </a:xfrm>
          <a:prstGeom prst="roundRect">
            <a:avLst>
              <a:gd name="adj" fmla="val 30000"/>
            </a:avLst>
          </a:prstGeom>
          <a:solidFill>
            <a:srgbClr val="D645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ko-KR" sz="1400" b="1">
                <a:solidFill>
                  <a:srgbClr val="FFFFFF"/>
                </a:solidFill>
                <a:latin typeface="맑은 고딕"/>
                <a:ea typeface="맑은 고딕"/>
                <a:cs typeface="맑은 고딕"/>
              </a:rPr>
              <a:t>벨트 정지</a:t>
            </a:r>
          </a:p>
        </p:txBody>
      </p:sp>
      <p:sp>
        <p:nvSpPr>
          <p:cNvPr id="53" name="TextBox 52"/>
          <p:cNvSpPr txBox="1"/>
          <p:nvPr/>
        </p:nvSpPr>
        <p:spPr>
          <a:xfrm>
            <a:off x="2194560" y="4983480"/>
            <a:ext cx="3108960" cy="274320"/>
          </a:xfrm>
          <a:prstGeom prst="rect">
            <a:avLst/>
          </a:prstGeom>
          <a:noFill/>
        </p:spPr>
        <p:txBody>
          <a:bodyPr wrap="square" lIns="0" tIns="0" rIns="0" bIns="0" anchor="t">
            <a:spAutoFit/>
          </a:bodyPr>
          <a:lstStyle/>
          <a:p>
            <a:pPr algn="ctr">
              <a:lnSpc>
                <a:spcPct val="115000"/>
              </a:lnSpc>
              <a:spcAft>
                <a:spcPts val="0"/>
              </a:spcAft>
            </a:pPr>
            <a:r>
              <a:rPr lang="ko-KR" sz="1100" b="0">
                <a:solidFill>
                  <a:srgbClr val="6B7480"/>
                </a:solidFill>
                <a:latin typeface="맑은 고딕"/>
                <a:ea typeface="맑은 고딕"/>
                <a:cs typeface="맑은 고딕"/>
              </a:rPr>
              <a:t>컨베이어 벨트 (L9110S · DC 모터)</a:t>
            </a:r>
          </a:p>
        </p:txBody>
      </p:sp>
      <p:sp>
        <p:nvSpPr>
          <p:cNvPr id="54" name="Rectangle 53"/>
          <p:cNvSpPr/>
          <p:nvPr/>
        </p:nvSpPr>
        <p:spPr>
          <a:xfrm>
            <a:off x="5623560" y="2395728"/>
            <a:ext cx="91440" cy="1444752"/>
          </a:xfrm>
          <a:prstGeom prst="rect">
            <a:avLst/>
          </a:prstGeom>
          <a:solidFill>
            <a:srgbClr val="8A9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5349240" y="2011680"/>
            <a:ext cx="658368" cy="384048"/>
          </a:xfrm>
          <a:prstGeom prst="roundRect">
            <a:avLst>
              <a:gd name="adj" fmla="val 20000"/>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5870448" y="2048256"/>
            <a:ext cx="310896" cy="310896"/>
          </a:xfrm>
          <a:prstGeom prst="ellipse">
            <a:avLst/>
          </a:prstGeom>
          <a:solidFill>
            <a:srgbClr val="2B333D"/>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5971032" y="2103120"/>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120640" y="1645920"/>
            <a:ext cx="1188720" cy="274320"/>
          </a:xfrm>
          <a:prstGeom prst="rect">
            <a:avLst/>
          </a:prstGeom>
          <a:noFill/>
        </p:spPr>
        <p:txBody>
          <a:bodyPr wrap="square" lIns="0" tIns="0" rIns="0" bIns="0" anchor="t">
            <a:spAutoFit/>
          </a:bodyPr>
          <a:lstStyle/>
          <a:p>
            <a:pPr algn="ctr">
              <a:lnSpc>
                <a:spcPct val="115000"/>
              </a:lnSpc>
              <a:spcAft>
                <a:spcPts val="0"/>
              </a:spcAft>
            </a:pPr>
            <a:r>
              <a:rPr lang="ko-KR" sz="1100" b="0">
                <a:solidFill>
                  <a:srgbClr val="6B7480"/>
                </a:solidFill>
                <a:latin typeface="맑은 고딕"/>
                <a:ea typeface="맑은 고딕"/>
                <a:cs typeface="맑은 고딕"/>
              </a:rPr>
              <a:t>USB 웹캠</a:t>
            </a:r>
          </a:p>
        </p:txBody>
      </p:sp>
      <p:cxnSp>
        <p:nvCxnSpPr>
          <p:cNvPr id="59" name="Connector 58"/>
          <p:cNvCxnSpPr/>
          <p:nvPr/>
        </p:nvCxnSpPr>
        <p:spPr>
          <a:xfrm>
            <a:off x="5074920" y="2103120"/>
            <a:ext cx="274320" cy="0"/>
          </a:xfrm>
          <a:prstGeom prst="line">
            <a:avLst/>
          </a:prstGeom>
          <a:ln w="19050">
            <a:solidFill>
              <a:srgbClr val="8A939E"/>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1938528"/>
            <a:ext cx="274320" cy="0"/>
          </a:xfrm>
          <a:prstGeom prst="line">
            <a:avLst/>
          </a:prstGeom>
          <a:ln w="19050">
            <a:solidFill>
              <a:srgbClr val="8A939E"/>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297680" y="2286000"/>
            <a:ext cx="0" cy="1554480"/>
          </a:xfrm>
          <a:prstGeom prst="line">
            <a:avLst/>
          </a:prstGeom>
          <a:ln w="19050">
            <a:solidFill>
              <a:srgbClr val="8A939E"/>
            </a:solidFill>
            <a:prstDash val="dash"/>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97280" y="3017520"/>
            <a:ext cx="3200400" cy="0"/>
          </a:xfrm>
          <a:prstGeom prst="line">
            <a:avLst/>
          </a:prstGeom>
          <a:ln w="19050">
            <a:solidFill>
              <a:srgbClr val="8A939E"/>
            </a:solidFill>
            <a:prstDash val="dash"/>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10184130" y="4640580"/>
            <a:ext cx="205740" cy="937259"/>
          </a:xfrm>
          <a:prstGeom prst="roundRect">
            <a:avLst>
              <a:gd name="adj" fmla="val 40000"/>
            </a:avLst>
          </a:prstGeom>
          <a:solidFill>
            <a:srgbClr val="CC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ounded Rectangle 63"/>
          <p:cNvSpPr/>
          <p:nvPr/>
        </p:nvSpPr>
        <p:spPr>
          <a:xfrm>
            <a:off x="10458450" y="4640580"/>
            <a:ext cx="205740" cy="937259"/>
          </a:xfrm>
          <a:prstGeom prst="roundRect">
            <a:avLst>
              <a:gd name="adj" fmla="val 40000"/>
            </a:avLst>
          </a:prstGeom>
          <a:solidFill>
            <a:srgbClr val="CC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10126980" y="5554980"/>
            <a:ext cx="285750" cy="114300"/>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10435590" y="5554980"/>
            <a:ext cx="285750" cy="114300"/>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10001250" y="3943350"/>
            <a:ext cx="160020" cy="754380"/>
          </a:xfrm>
          <a:prstGeom prst="roundRect">
            <a:avLst>
              <a:gd name="adj" fmla="val 50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ounded Rectangle 67"/>
          <p:cNvSpPr/>
          <p:nvPr/>
        </p:nvSpPr>
        <p:spPr>
          <a:xfrm>
            <a:off x="10687050" y="3943350"/>
            <a:ext cx="160020" cy="754380"/>
          </a:xfrm>
          <a:prstGeom prst="roundRect">
            <a:avLst>
              <a:gd name="adj" fmla="val 50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10126980" y="3886200"/>
            <a:ext cx="594360" cy="845820"/>
          </a:xfrm>
          <a:prstGeom prst="roundRect">
            <a:avLst>
              <a:gd name="adj" fmla="val 25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10195560" y="3383280"/>
            <a:ext cx="457200" cy="297180"/>
          </a:xfrm>
          <a:prstGeom prst="ellipse">
            <a:avLst/>
          </a:prstGeom>
          <a:solidFill>
            <a:srgbClr val="F6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10229850" y="3486150"/>
            <a:ext cx="388620" cy="400050"/>
          </a:xfrm>
          <a:prstGeom prst="ellipse">
            <a:avLst/>
          </a:prstGeom>
          <a:solidFill>
            <a:srgbClr val="F7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ounded Rectangle 71"/>
          <p:cNvSpPr/>
          <p:nvPr/>
        </p:nvSpPr>
        <p:spPr>
          <a:xfrm>
            <a:off x="10149840" y="3497580"/>
            <a:ext cx="548640" cy="57150"/>
          </a:xfrm>
          <a:prstGeom prst="roundRect">
            <a:avLst>
              <a:gd name="adj" fmla="val 50000"/>
            </a:avLst>
          </a:prstGeom>
          <a:solidFill>
            <a:srgbClr val="F6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10309860" y="3657600"/>
            <a:ext cx="50292" cy="50292"/>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10488168" y="3657600"/>
            <a:ext cx="50292" cy="50292"/>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ounded Rectangle 74"/>
          <p:cNvSpPr/>
          <p:nvPr/>
        </p:nvSpPr>
        <p:spPr>
          <a:xfrm>
            <a:off x="8081010" y="4640580"/>
            <a:ext cx="205740" cy="937259"/>
          </a:xfrm>
          <a:prstGeom prst="roundRect">
            <a:avLst>
              <a:gd name="adj" fmla="val 40000"/>
            </a:avLst>
          </a:prstGeom>
          <a:solidFill>
            <a:srgbClr val="CC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8355329" y="4640580"/>
            <a:ext cx="205740" cy="937259"/>
          </a:xfrm>
          <a:prstGeom prst="roundRect">
            <a:avLst>
              <a:gd name="adj" fmla="val 40000"/>
            </a:avLst>
          </a:prstGeom>
          <a:solidFill>
            <a:srgbClr val="CC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8023860" y="5554980"/>
            <a:ext cx="285750" cy="114300"/>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8332469" y="5554980"/>
            <a:ext cx="285750" cy="114300"/>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7898129" y="3943350"/>
            <a:ext cx="160020" cy="754380"/>
          </a:xfrm>
          <a:prstGeom prst="roundRect">
            <a:avLst>
              <a:gd name="adj" fmla="val 50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8583930" y="3943350"/>
            <a:ext cx="160020" cy="754380"/>
          </a:xfrm>
          <a:prstGeom prst="roundRect">
            <a:avLst>
              <a:gd name="adj" fmla="val 50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8023860" y="3886200"/>
            <a:ext cx="594360" cy="845820"/>
          </a:xfrm>
          <a:prstGeom prst="roundRect">
            <a:avLst>
              <a:gd name="adj" fmla="val 25000"/>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8092440" y="3383280"/>
            <a:ext cx="457200" cy="297180"/>
          </a:xfrm>
          <a:prstGeom prst="ellipse">
            <a:avLst/>
          </a:prstGeom>
          <a:solidFill>
            <a:srgbClr val="F6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8126729" y="3486150"/>
            <a:ext cx="388620" cy="400050"/>
          </a:xfrm>
          <a:prstGeom prst="ellipse">
            <a:avLst/>
          </a:prstGeom>
          <a:solidFill>
            <a:srgbClr val="F7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ounded Rectangle 83"/>
          <p:cNvSpPr/>
          <p:nvPr/>
        </p:nvSpPr>
        <p:spPr>
          <a:xfrm>
            <a:off x="8046719" y="3497580"/>
            <a:ext cx="548640" cy="57150"/>
          </a:xfrm>
          <a:prstGeom prst="roundRect">
            <a:avLst>
              <a:gd name="adj" fmla="val 50000"/>
            </a:avLst>
          </a:prstGeom>
          <a:solidFill>
            <a:srgbClr val="F6D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8206740" y="3657600"/>
            <a:ext cx="50292" cy="50292"/>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8385048" y="3657600"/>
            <a:ext cx="50292" cy="50292"/>
          </a:xfrm>
          <a:prstGeom prst="ellipse">
            <a:avLst/>
          </a:prstGeom>
          <a:solidFill>
            <a:srgbClr val="B8B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7" name="Connector 86"/>
          <p:cNvCxnSpPr/>
          <p:nvPr/>
        </p:nvCxnSpPr>
        <p:spPr>
          <a:xfrm flipH="1">
            <a:off x="7863840" y="2926080"/>
            <a:ext cx="2194560" cy="0"/>
          </a:xfrm>
          <a:prstGeom prst="line">
            <a:avLst/>
          </a:prstGeom>
          <a:ln w="22225">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8412480" y="2578608"/>
            <a:ext cx="1097280" cy="274320"/>
          </a:xfrm>
          <a:prstGeom prst="rect">
            <a:avLst/>
          </a:prstGeom>
          <a:noFill/>
        </p:spPr>
        <p:txBody>
          <a:bodyPr wrap="square" lIns="0" tIns="0" rIns="0" bIns="0" anchor="t">
            <a:spAutoFit/>
          </a:bodyPr>
          <a:lstStyle/>
          <a:p>
            <a:pPr algn="ctr">
              <a:lnSpc>
                <a:spcPct val="115000"/>
              </a:lnSpc>
              <a:spcAft>
                <a:spcPts val="0"/>
              </a:spcAft>
            </a:pPr>
            <a:r>
              <a:rPr lang="ko-KR" sz="1200" b="0">
                <a:solidFill>
                  <a:srgbClr val="6B7480"/>
                </a:solidFill>
                <a:latin typeface="맑은 고딕"/>
                <a:ea typeface="맑은 고딕"/>
                <a:cs typeface="맑은 고딕"/>
              </a:rPr>
              <a:t>다가옴</a:t>
            </a:r>
          </a:p>
        </p:txBody>
      </p:sp>
      <p:sp>
        <p:nvSpPr>
          <p:cNvPr id="89" name="Rounded Rectangle 88"/>
          <p:cNvSpPr/>
          <p:nvPr/>
        </p:nvSpPr>
        <p:spPr>
          <a:xfrm>
            <a:off x="6435090" y="4640580"/>
            <a:ext cx="205740" cy="937259"/>
          </a:xfrm>
          <a:prstGeom prst="roundRect">
            <a:avLst>
              <a:gd name="adj" fmla="val 40000"/>
            </a:avLst>
          </a:prstGeom>
          <a:solidFill>
            <a:srgbClr val="3B4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6709409" y="4640580"/>
            <a:ext cx="205740" cy="937259"/>
          </a:xfrm>
          <a:prstGeom prst="roundRect">
            <a:avLst>
              <a:gd name="adj" fmla="val 40000"/>
            </a:avLst>
          </a:prstGeom>
          <a:solidFill>
            <a:srgbClr val="3B4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6377940" y="5554980"/>
            <a:ext cx="285750" cy="1143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6686550" y="5554980"/>
            <a:ext cx="285750" cy="1143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unded Rectangle 92"/>
          <p:cNvSpPr/>
          <p:nvPr/>
        </p:nvSpPr>
        <p:spPr>
          <a:xfrm>
            <a:off x="6252209" y="3943350"/>
            <a:ext cx="160020" cy="754380"/>
          </a:xfrm>
          <a:prstGeom prst="roundRect">
            <a:avLst>
              <a:gd name="adj" fmla="val 50000"/>
            </a:avLst>
          </a:prstGeom>
          <a:solidFill>
            <a:srgbClr val="5A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6938009" y="3943350"/>
            <a:ext cx="160020" cy="754380"/>
          </a:xfrm>
          <a:prstGeom prst="roundRect">
            <a:avLst>
              <a:gd name="adj" fmla="val 50000"/>
            </a:avLst>
          </a:prstGeom>
          <a:solidFill>
            <a:srgbClr val="5A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a:off x="6377940" y="3886200"/>
            <a:ext cx="594360" cy="845820"/>
          </a:xfrm>
          <a:prstGeom prst="roundRect">
            <a:avLst>
              <a:gd name="adj" fmla="val 25000"/>
            </a:avLst>
          </a:prstGeom>
          <a:solidFill>
            <a:srgbClr val="5A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6446520" y="3383280"/>
            <a:ext cx="457200" cy="29718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6480809" y="3486150"/>
            <a:ext cx="388620" cy="400050"/>
          </a:xfrm>
          <a:prstGeom prst="ellipse">
            <a:avLst/>
          </a:prstGeom>
          <a:solidFill>
            <a:srgbClr val="F2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6400800" y="3497580"/>
            <a:ext cx="548640" cy="57150"/>
          </a:xfrm>
          <a:prstGeom prst="roundRect">
            <a:avLst>
              <a:gd name="adj" fmla="val 50000"/>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6560820" y="3657600"/>
            <a:ext cx="50292" cy="5029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Oval 99"/>
          <p:cNvSpPr/>
          <p:nvPr/>
        </p:nvSpPr>
        <p:spPr>
          <a:xfrm>
            <a:off x="6739128" y="3657600"/>
            <a:ext cx="50292" cy="50292"/>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423659" y="3463290"/>
            <a:ext cx="502920" cy="457200"/>
          </a:xfrm>
          <a:prstGeom prst="rect">
            <a:avLst/>
          </a:prstGeom>
          <a:noFill/>
          <a:ln w="25400">
            <a:solidFill>
              <a:srgbClr val="E874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423659" y="3154680"/>
            <a:ext cx="960120" cy="237744"/>
          </a:xfrm>
          <a:prstGeom prst="rect">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000" b="1">
                <a:solidFill>
                  <a:srgbClr val="FFFFFF"/>
                </a:solidFill>
                <a:latin typeface="맑은 고딕"/>
                <a:ea typeface="맑은 고딕"/>
                <a:cs typeface="맑은 고딕"/>
              </a:rPr>
              <a:t>얼굴 검출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04  </a:t>
            </a:r>
            <a:r>
              <a:rPr lang="ko-KR" sz="3000" b="1">
                <a:solidFill>
                  <a:srgbClr val="1F2D3D"/>
                </a:solidFill>
                <a:latin typeface="맑은 고딕"/>
                <a:ea typeface="맑은 고딕"/>
                <a:cs typeface="맑은 고딕"/>
              </a:rPr>
              <a:t>모델 선택과 검증</a:t>
            </a:r>
          </a:p>
        </p:txBody>
      </p:sp>
      <p:sp>
        <p:nvSpPr>
          <p:cNvPr id="3" name="TextBox 2"/>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4" name="TextBox 3"/>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6</a:t>
            </a:r>
          </a:p>
        </p:txBody>
      </p:sp>
      <p:sp>
        <p:nvSpPr>
          <p:cNvPr id="5" name="TextBox 4"/>
          <p:cNvSpPr txBox="1"/>
          <p:nvPr/>
        </p:nvSpPr>
        <p:spPr>
          <a:xfrm>
            <a:off x="731520" y="1463040"/>
            <a:ext cx="566928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YuNet을 고른 이유</a:t>
            </a:r>
          </a:p>
        </p:txBody>
      </p:sp>
      <p:sp>
        <p:nvSpPr>
          <p:cNvPr id="6" name="Oval 5"/>
          <p:cNvSpPr/>
          <p:nvPr/>
        </p:nvSpPr>
        <p:spPr>
          <a:xfrm>
            <a:off x="731520" y="2057400"/>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1</a:t>
            </a:r>
          </a:p>
        </p:txBody>
      </p:sp>
      <p:sp>
        <p:nvSpPr>
          <p:cNvPr id="7" name="TextBox 6"/>
          <p:cNvSpPr txBox="1"/>
          <p:nvPr/>
        </p:nvSpPr>
        <p:spPr>
          <a:xfrm>
            <a:off x="1508760" y="2011680"/>
            <a:ext cx="475488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가볍다</a:t>
            </a:r>
          </a:p>
        </p:txBody>
      </p:sp>
      <p:sp>
        <p:nvSpPr>
          <p:cNvPr id="8" name="TextBox 7"/>
          <p:cNvSpPr txBox="1"/>
          <p:nvPr/>
        </p:nvSpPr>
        <p:spPr>
          <a:xfrm>
            <a:off x="1508760" y="2395728"/>
            <a:ext cx="4754880" cy="73152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모델 파일이 약 227KB, Jetson CPU에서도 실시간으로 돈다</a:t>
            </a:r>
          </a:p>
        </p:txBody>
      </p:sp>
      <p:sp>
        <p:nvSpPr>
          <p:cNvPr id="9" name="Oval 8"/>
          <p:cNvSpPr/>
          <p:nvPr/>
        </p:nvSpPr>
        <p:spPr>
          <a:xfrm>
            <a:off x="731520" y="3383280"/>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2</a:t>
            </a:r>
          </a:p>
        </p:txBody>
      </p:sp>
      <p:sp>
        <p:nvSpPr>
          <p:cNvPr id="10" name="TextBox 9"/>
          <p:cNvSpPr txBox="1"/>
          <p:nvPr/>
        </p:nvSpPr>
        <p:spPr>
          <a:xfrm>
            <a:off x="1508760" y="3337560"/>
            <a:ext cx="475488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바로 쓸 수 있다</a:t>
            </a:r>
          </a:p>
        </p:txBody>
      </p:sp>
      <p:sp>
        <p:nvSpPr>
          <p:cNvPr id="11" name="TextBox 10"/>
          <p:cNvSpPr txBox="1"/>
          <p:nvPr/>
        </p:nvSpPr>
        <p:spPr>
          <a:xfrm>
            <a:off x="1508760" y="3721608"/>
            <a:ext cx="4754880" cy="73152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OpenCV에 들어 있는 사전학습 모델이라 학습 데이터 없이 시작할 수 있다</a:t>
            </a:r>
          </a:p>
        </p:txBody>
      </p:sp>
      <p:sp>
        <p:nvSpPr>
          <p:cNvPr id="12" name="Oval 11"/>
          <p:cNvSpPr/>
          <p:nvPr/>
        </p:nvSpPr>
        <p:spPr>
          <a:xfrm>
            <a:off x="731520" y="4709159"/>
            <a:ext cx="548640" cy="548640"/>
          </a:xfrm>
          <a:prstGeom prst="ellipse">
            <a:avLst/>
          </a:prstGeom>
          <a:solidFill>
            <a:srgbClr val="E8742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800" b="1">
                <a:solidFill>
                  <a:srgbClr val="FFFFFF"/>
                </a:solidFill>
                <a:latin typeface="맑은 고딕"/>
                <a:ea typeface="맑은 고딕"/>
                <a:cs typeface="맑은 고딕"/>
              </a:rPr>
              <a:t>3</a:t>
            </a:r>
          </a:p>
        </p:txBody>
      </p:sp>
      <p:sp>
        <p:nvSpPr>
          <p:cNvPr id="13" name="TextBox 12"/>
          <p:cNvSpPr txBox="1"/>
          <p:nvPr/>
        </p:nvSpPr>
        <p:spPr>
          <a:xfrm>
            <a:off x="1508760" y="4663440"/>
            <a:ext cx="475488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거리 추정에 맞다</a:t>
            </a:r>
          </a:p>
        </p:txBody>
      </p:sp>
      <p:sp>
        <p:nvSpPr>
          <p:cNvPr id="14" name="TextBox 13"/>
          <p:cNvSpPr txBox="1"/>
          <p:nvPr/>
        </p:nvSpPr>
        <p:spPr>
          <a:xfrm>
            <a:off x="1508760" y="5047488"/>
            <a:ext cx="4754880" cy="731520"/>
          </a:xfrm>
          <a:prstGeom prst="rect">
            <a:avLst/>
          </a:prstGeom>
          <a:noFill/>
        </p:spPr>
        <p:txBody>
          <a:bodyPr wrap="square" lIns="0" tIns="0" rIns="0" bIns="0" anchor="t">
            <a:spAutoFit/>
          </a:bodyPr>
          <a:lstStyle/>
          <a:p>
            <a:pPr algn="l">
              <a:lnSpc>
                <a:spcPct val="115000"/>
              </a:lnSpc>
              <a:spcAft>
                <a:spcPts val="0"/>
              </a:spcAft>
            </a:pPr>
            <a:r>
              <a:rPr lang="ko-KR" sz="1400" b="0">
                <a:solidFill>
                  <a:srgbClr val="2B333D"/>
                </a:solidFill>
                <a:latin typeface="맑은 고딕"/>
                <a:ea typeface="맑은 고딕"/>
                <a:cs typeface="맑은 고딕"/>
              </a:rPr>
              <a:t>얼굴 상자 크기로 거리를 바로 계산할 수 있다</a:t>
            </a:r>
          </a:p>
        </p:txBody>
      </p:sp>
      <p:sp>
        <p:nvSpPr>
          <p:cNvPr id="15" name="TextBox 14"/>
          <p:cNvSpPr txBox="1"/>
          <p:nvPr/>
        </p:nvSpPr>
        <p:spPr>
          <a:xfrm>
            <a:off x="6949440" y="1463040"/>
            <a:ext cx="457200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검증</a:t>
            </a:r>
          </a:p>
        </p:txBody>
      </p:sp>
      <p:sp>
        <p:nvSpPr>
          <p:cNvPr id="16" name="Rounded Rectangle 15"/>
          <p:cNvSpPr/>
          <p:nvPr/>
        </p:nvSpPr>
        <p:spPr>
          <a:xfrm>
            <a:off x="6949440" y="1920240"/>
            <a:ext cx="4526280" cy="10972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78040" y="1920240"/>
            <a:ext cx="2194560" cy="1097280"/>
          </a:xfrm>
          <a:prstGeom prst="rect">
            <a:avLst/>
          </a:prstGeom>
          <a:noFill/>
        </p:spPr>
        <p:txBody>
          <a:bodyPr wrap="square" lIns="0" tIns="0" rIns="0" bIns="0" anchor="ctr">
            <a:spAutoFit/>
          </a:bodyPr>
          <a:lstStyle/>
          <a:p>
            <a:pPr algn="l">
              <a:lnSpc>
                <a:spcPct val="115000"/>
              </a:lnSpc>
              <a:spcAft>
                <a:spcPts val="0"/>
              </a:spcAft>
            </a:pPr>
            <a:r>
              <a:rPr lang="ko-KR" sz="2800" b="1">
                <a:solidFill>
                  <a:srgbClr val="E8742B"/>
                </a:solidFill>
                <a:latin typeface="맑은 고딕"/>
                <a:ea typeface="맑은 고딕"/>
                <a:cs typeface="맑은 고딕"/>
              </a:rPr>
              <a:t>0.834</a:t>
            </a:r>
          </a:p>
        </p:txBody>
      </p:sp>
      <p:sp>
        <p:nvSpPr>
          <p:cNvPr id="18" name="TextBox 17"/>
          <p:cNvSpPr txBox="1"/>
          <p:nvPr/>
        </p:nvSpPr>
        <p:spPr>
          <a:xfrm>
            <a:off x="9326880" y="1920240"/>
            <a:ext cx="2057400" cy="1097280"/>
          </a:xfrm>
          <a:prstGeom prst="rect">
            <a:avLst/>
          </a:prstGeom>
          <a:noFill/>
        </p:spPr>
        <p:txBody>
          <a:bodyPr wrap="square" lIns="0" tIns="0" rIns="0" bIns="0" anchor="ctr">
            <a:spAutoFit/>
          </a:bodyPr>
          <a:lstStyle/>
          <a:p>
            <a:pPr algn="l">
              <a:lnSpc>
                <a:spcPct val="115000"/>
              </a:lnSpc>
              <a:spcAft>
                <a:spcPts val="0"/>
              </a:spcAft>
            </a:pPr>
            <a:r>
              <a:rPr lang="ko-KR" sz="1300" b="0">
                <a:solidFill>
                  <a:srgbClr val="2B333D"/>
                </a:solidFill>
                <a:latin typeface="맑은 고딕"/>
                <a:ea typeface="맑은 고딕"/>
                <a:cs typeface="맑은 고딕"/>
              </a:rPr>
              <a:t>공개 검증 AP (WIDER Face, easy)</a:t>
            </a:r>
          </a:p>
        </p:txBody>
      </p:sp>
      <p:sp>
        <p:nvSpPr>
          <p:cNvPr id="19" name="Rounded Rectangle 18"/>
          <p:cNvSpPr/>
          <p:nvPr/>
        </p:nvSpPr>
        <p:spPr>
          <a:xfrm>
            <a:off x="6949440" y="3200400"/>
            <a:ext cx="4526280" cy="10972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78040" y="3200400"/>
            <a:ext cx="2194560" cy="1097280"/>
          </a:xfrm>
          <a:prstGeom prst="rect">
            <a:avLst/>
          </a:prstGeom>
          <a:noFill/>
        </p:spPr>
        <p:txBody>
          <a:bodyPr wrap="square" lIns="0" tIns="0" rIns="0" bIns="0" anchor="ctr">
            <a:spAutoFit/>
          </a:bodyPr>
          <a:lstStyle/>
          <a:p>
            <a:pPr algn="l">
              <a:lnSpc>
                <a:spcPct val="115000"/>
              </a:lnSpc>
              <a:spcAft>
                <a:spcPts val="0"/>
              </a:spcAft>
            </a:pPr>
            <a:r>
              <a:rPr lang="ko-KR" sz="2800" b="1">
                <a:solidFill>
                  <a:srgbClr val="E8742B"/>
                </a:solidFill>
                <a:latin typeface="맑은 고딕"/>
                <a:ea typeface="맑은 고딕"/>
                <a:cs typeface="맑은 고딕"/>
              </a:rPr>
              <a:t>36~37 FPS</a:t>
            </a:r>
          </a:p>
        </p:txBody>
      </p:sp>
      <p:sp>
        <p:nvSpPr>
          <p:cNvPr id="21" name="TextBox 20"/>
          <p:cNvSpPr txBox="1"/>
          <p:nvPr/>
        </p:nvSpPr>
        <p:spPr>
          <a:xfrm>
            <a:off x="9326880" y="3200400"/>
            <a:ext cx="2057400" cy="1097280"/>
          </a:xfrm>
          <a:prstGeom prst="rect">
            <a:avLst/>
          </a:prstGeom>
          <a:noFill/>
        </p:spPr>
        <p:txBody>
          <a:bodyPr wrap="square" lIns="0" tIns="0" rIns="0" bIns="0" anchor="ctr">
            <a:spAutoFit/>
          </a:bodyPr>
          <a:lstStyle/>
          <a:p>
            <a:pPr algn="l">
              <a:lnSpc>
                <a:spcPct val="115000"/>
              </a:lnSpc>
              <a:spcAft>
                <a:spcPts val="0"/>
              </a:spcAft>
            </a:pPr>
            <a:r>
              <a:rPr lang="ko-KR" sz="1300" b="0">
                <a:solidFill>
                  <a:srgbClr val="2B333D"/>
                </a:solidFill>
                <a:latin typeface="맑은 고딕"/>
                <a:ea typeface="맑은 고딕"/>
                <a:cs typeface="맑은 고딕"/>
              </a:rPr>
              <a:t>Jetson에서 모델만 실행</a:t>
            </a:r>
          </a:p>
        </p:txBody>
      </p:sp>
      <p:sp>
        <p:nvSpPr>
          <p:cNvPr id="22" name="Rounded Rectangle 21"/>
          <p:cNvSpPr/>
          <p:nvPr/>
        </p:nvSpPr>
        <p:spPr>
          <a:xfrm>
            <a:off x="6949440" y="4480560"/>
            <a:ext cx="4526280" cy="10972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78040" y="4480560"/>
            <a:ext cx="2194560" cy="1097280"/>
          </a:xfrm>
          <a:prstGeom prst="rect">
            <a:avLst/>
          </a:prstGeom>
          <a:noFill/>
        </p:spPr>
        <p:txBody>
          <a:bodyPr wrap="square" lIns="0" tIns="0" rIns="0" bIns="0" anchor="ctr">
            <a:spAutoFit/>
          </a:bodyPr>
          <a:lstStyle/>
          <a:p>
            <a:pPr algn="l">
              <a:lnSpc>
                <a:spcPct val="115000"/>
              </a:lnSpc>
              <a:spcAft>
                <a:spcPts val="0"/>
              </a:spcAft>
            </a:pPr>
            <a:r>
              <a:rPr lang="ko-KR" sz="2800" b="1">
                <a:solidFill>
                  <a:srgbClr val="E8742B"/>
                </a:solidFill>
                <a:latin typeface="맑은 고딕"/>
                <a:ea typeface="맑은 고딕"/>
                <a:cs typeface="맑은 고딕"/>
              </a:rPr>
              <a:t>22.1 FPS</a:t>
            </a:r>
          </a:p>
        </p:txBody>
      </p:sp>
      <p:sp>
        <p:nvSpPr>
          <p:cNvPr id="24" name="TextBox 23"/>
          <p:cNvSpPr txBox="1"/>
          <p:nvPr/>
        </p:nvSpPr>
        <p:spPr>
          <a:xfrm>
            <a:off x="9326880" y="4480560"/>
            <a:ext cx="2057400" cy="1097280"/>
          </a:xfrm>
          <a:prstGeom prst="rect">
            <a:avLst/>
          </a:prstGeom>
          <a:noFill/>
        </p:spPr>
        <p:txBody>
          <a:bodyPr wrap="square" lIns="0" tIns="0" rIns="0" bIns="0" anchor="ctr">
            <a:spAutoFit/>
          </a:bodyPr>
          <a:lstStyle/>
          <a:p>
            <a:pPr algn="l">
              <a:lnSpc>
                <a:spcPct val="115000"/>
              </a:lnSpc>
              <a:spcAft>
                <a:spcPts val="0"/>
              </a:spcAft>
            </a:pPr>
            <a:r>
              <a:rPr lang="ko-KR" sz="1300" b="0">
                <a:solidFill>
                  <a:srgbClr val="2B333D"/>
                </a:solidFill>
                <a:latin typeface="맑은 고딕"/>
                <a:ea typeface="맑은 고딕"/>
                <a:cs typeface="맑은 고딕"/>
              </a:rPr>
              <a:t>카메라까지 포함한 실시간 처리</a:t>
            </a:r>
          </a:p>
        </p:txBody>
      </p:sp>
      <p:sp>
        <p:nvSpPr>
          <p:cNvPr id="25" name="TextBox 24"/>
          <p:cNvSpPr txBox="1"/>
          <p:nvPr/>
        </p:nvSpPr>
        <p:spPr>
          <a:xfrm>
            <a:off x="6949440" y="5806440"/>
            <a:ext cx="4526280" cy="457200"/>
          </a:xfrm>
          <a:prstGeom prst="rect">
            <a:avLst/>
          </a:prstGeom>
          <a:noFill/>
        </p:spPr>
        <p:txBody>
          <a:bodyPr wrap="square" lIns="0" tIns="0" rIns="0" bIns="0" anchor="t">
            <a:spAutoFit/>
          </a:bodyPr>
          <a:lstStyle/>
          <a:p>
            <a:pPr algn="l">
              <a:lnSpc>
                <a:spcPct val="115000"/>
              </a:lnSpc>
              <a:spcAft>
                <a:spcPts val="0"/>
              </a:spcAft>
            </a:pPr>
            <a:r>
              <a:rPr lang="ko-KR" sz="1200" b="0">
                <a:solidFill>
                  <a:srgbClr val="6B7480"/>
                </a:solidFill>
                <a:latin typeface="맑은 고딕"/>
                <a:ea typeface="맑은 고딕"/>
                <a:cs typeface="맑은 고딕"/>
              </a:rPr>
              <a:t>현장 줄자 시험에서는 거리가 실제보다 짧게 추정되어 보정이 필요합니다 (07 개선 방향)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05  </a:t>
            </a:r>
            <a:r>
              <a:rPr lang="ko-KR" sz="3000" b="1">
                <a:solidFill>
                  <a:srgbClr val="1F2D3D"/>
                </a:solidFill>
                <a:latin typeface="맑은 고딕"/>
                <a:ea typeface="맑은 고딕"/>
                <a:cs typeface="맑은 고딕"/>
              </a:rPr>
              <a:t>동작 설명</a:t>
            </a:r>
          </a:p>
        </p:txBody>
      </p:sp>
      <p:sp>
        <p:nvSpPr>
          <p:cNvPr id="3" name="TextBox 2"/>
          <p:cNvSpPr txBox="1"/>
          <p:nvPr/>
        </p:nvSpPr>
        <p:spPr>
          <a:xfrm>
            <a:off x="640080" y="1024128"/>
            <a:ext cx="10058400" cy="365760"/>
          </a:xfrm>
          <a:prstGeom prst="rect">
            <a:avLst/>
          </a:prstGeom>
          <a:noFill/>
        </p:spPr>
        <p:txBody>
          <a:bodyPr wrap="square" lIns="0" tIns="0" rIns="0" bIns="0" anchor="t">
            <a:spAutoFit/>
          </a:bodyPr>
          <a:lstStyle/>
          <a:p>
            <a:pPr algn="l">
              <a:lnSpc>
                <a:spcPct val="115000"/>
              </a:lnSpc>
              <a:spcAft>
                <a:spcPts val="0"/>
              </a:spcAft>
            </a:pPr>
            <a:r>
              <a:rPr lang="ko-KR" sz="1500" b="0">
                <a:solidFill>
                  <a:srgbClr val="6B7480"/>
                </a:solidFill>
                <a:latin typeface="맑은 고딕"/>
                <a:ea typeface="맑은 고딕"/>
                <a:cs typeface="맑은 고딕"/>
              </a:rPr>
              <a:t>상태별 동작</a:t>
            </a:r>
          </a:p>
        </p:txBody>
      </p:sp>
      <p:sp>
        <p:nvSpPr>
          <p:cNvPr id="4" name="TextBox 3"/>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5" name="TextBox 4"/>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7</a:t>
            </a:r>
          </a:p>
        </p:txBody>
      </p:sp>
      <p:sp>
        <p:nvSpPr>
          <p:cNvPr id="6" name="정상 카드"/>
          <p:cNvSpPr/>
          <p:nvPr/>
        </p:nvSpPr>
        <p:spPr>
          <a:xfrm>
            <a:off x="731520" y="1600200"/>
            <a:ext cx="3337560" cy="402336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05840" y="1874519"/>
            <a:ext cx="731520" cy="7315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920240" y="1874519"/>
            <a:ext cx="2011680" cy="731520"/>
          </a:xfrm>
          <a:prstGeom prst="rect">
            <a:avLst/>
          </a:prstGeom>
          <a:noFill/>
        </p:spPr>
        <p:txBody>
          <a:bodyPr wrap="square" lIns="0" tIns="0" rIns="0" bIns="0" anchor="ctr">
            <a:spAutoFit/>
          </a:bodyPr>
          <a:lstStyle/>
          <a:p>
            <a:pPr algn="l">
              <a:lnSpc>
                <a:spcPct val="115000"/>
              </a:lnSpc>
              <a:spcAft>
                <a:spcPts val="0"/>
              </a:spcAft>
            </a:pPr>
            <a:r>
              <a:rPr lang="ko-KR" sz="2600" b="1">
                <a:solidFill>
                  <a:srgbClr val="1F2D3D"/>
                </a:solidFill>
                <a:latin typeface="맑은 고딕"/>
                <a:ea typeface="맑은 고딕"/>
                <a:cs typeface="맑은 고딕"/>
              </a:rPr>
              <a:t>정상</a:t>
            </a:r>
          </a:p>
        </p:txBody>
      </p:sp>
      <p:sp>
        <p:nvSpPr>
          <p:cNvPr id="9" name="TextBox 8"/>
          <p:cNvSpPr txBox="1"/>
          <p:nvPr/>
        </p:nvSpPr>
        <p:spPr>
          <a:xfrm>
            <a:off x="1005840" y="2788920"/>
            <a:ext cx="2834640" cy="365760"/>
          </a:xfrm>
          <a:prstGeom prst="rect">
            <a:avLst/>
          </a:prstGeom>
          <a:noFill/>
        </p:spPr>
        <p:txBody>
          <a:bodyPr wrap="square" lIns="0" tIns="0" rIns="0" bIns="0" anchor="t">
            <a:spAutoFit/>
          </a:bodyPr>
          <a:lstStyle/>
          <a:p>
            <a:pPr algn="l">
              <a:lnSpc>
                <a:spcPct val="115000"/>
              </a:lnSpc>
              <a:spcAft>
                <a:spcPts val="0"/>
              </a:spcAft>
            </a:pPr>
            <a:r>
              <a:rPr lang="ko-KR" sz="1400" b="0">
                <a:solidFill>
                  <a:srgbClr val="6B7480"/>
                </a:solidFill>
                <a:latin typeface="맑은 고딕"/>
                <a:ea typeface="맑은 고딕"/>
                <a:cs typeface="맑은 고딕"/>
              </a:rPr>
              <a:t>얼굴 없음 또는 200cm 초과</a:t>
            </a:r>
          </a:p>
        </p:txBody>
      </p:sp>
      <p:cxnSp>
        <p:nvCxnSpPr>
          <p:cNvPr id="10" name="Connector 9"/>
          <p:cNvCxnSpPr/>
          <p:nvPr/>
        </p:nvCxnSpPr>
        <p:spPr>
          <a:xfrm>
            <a:off x="1005840" y="32644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33375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LED</a:t>
            </a:r>
          </a:p>
        </p:txBody>
      </p:sp>
      <p:sp>
        <p:nvSpPr>
          <p:cNvPr id="12" name="TextBox 11"/>
          <p:cNvSpPr txBox="1"/>
          <p:nvPr/>
        </p:nvSpPr>
        <p:spPr>
          <a:xfrm>
            <a:off x="2011680" y="33375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꺼짐</a:t>
            </a:r>
          </a:p>
        </p:txBody>
      </p:sp>
      <p:cxnSp>
        <p:nvCxnSpPr>
          <p:cNvPr id="13" name="Connector 12"/>
          <p:cNvCxnSpPr/>
          <p:nvPr/>
        </p:nvCxnSpPr>
        <p:spPr>
          <a:xfrm>
            <a:off x="1005840" y="39502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5840" y="40233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벨트</a:t>
            </a:r>
          </a:p>
        </p:txBody>
      </p:sp>
      <p:sp>
        <p:nvSpPr>
          <p:cNvPr id="15" name="TextBox 14"/>
          <p:cNvSpPr txBox="1"/>
          <p:nvPr/>
        </p:nvSpPr>
        <p:spPr>
          <a:xfrm>
            <a:off x="2011680" y="40233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작동</a:t>
            </a:r>
          </a:p>
        </p:txBody>
      </p:sp>
      <p:cxnSp>
        <p:nvCxnSpPr>
          <p:cNvPr id="16" name="Connector 15"/>
          <p:cNvCxnSpPr/>
          <p:nvPr/>
        </p:nvCxnSpPr>
        <p:spPr>
          <a:xfrm>
            <a:off x="1005840" y="46360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 y="47091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DB 기록</a:t>
            </a:r>
          </a:p>
        </p:txBody>
      </p:sp>
      <p:sp>
        <p:nvSpPr>
          <p:cNvPr id="18" name="TextBox 17"/>
          <p:cNvSpPr txBox="1"/>
          <p:nvPr/>
        </p:nvSpPr>
        <p:spPr>
          <a:xfrm>
            <a:off x="2011680" y="47091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상태가 바뀔 때</a:t>
            </a:r>
          </a:p>
        </p:txBody>
      </p:sp>
      <p:sp>
        <p:nvSpPr>
          <p:cNvPr id="19" name="경고 카드"/>
          <p:cNvSpPr/>
          <p:nvPr/>
        </p:nvSpPr>
        <p:spPr>
          <a:xfrm>
            <a:off x="4389120" y="1600200"/>
            <a:ext cx="3337560" cy="402336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663440" y="1874519"/>
            <a:ext cx="731520" cy="7315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577840" y="1874519"/>
            <a:ext cx="2011680" cy="731520"/>
          </a:xfrm>
          <a:prstGeom prst="rect">
            <a:avLst/>
          </a:prstGeom>
          <a:noFill/>
        </p:spPr>
        <p:txBody>
          <a:bodyPr wrap="square" lIns="0" tIns="0" rIns="0" bIns="0" anchor="ctr">
            <a:spAutoFit/>
          </a:bodyPr>
          <a:lstStyle/>
          <a:p>
            <a:pPr algn="l">
              <a:lnSpc>
                <a:spcPct val="115000"/>
              </a:lnSpc>
              <a:spcAft>
                <a:spcPts val="0"/>
              </a:spcAft>
            </a:pPr>
            <a:r>
              <a:rPr lang="ko-KR" sz="2600" b="1">
                <a:solidFill>
                  <a:srgbClr val="1F2D3D"/>
                </a:solidFill>
                <a:latin typeface="맑은 고딕"/>
                <a:ea typeface="맑은 고딕"/>
                <a:cs typeface="맑은 고딕"/>
              </a:rPr>
              <a:t>경고</a:t>
            </a:r>
          </a:p>
        </p:txBody>
      </p:sp>
      <p:sp>
        <p:nvSpPr>
          <p:cNvPr id="22" name="TextBox 21"/>
          <p:cNvSpPr txBox="1"/>
          <p:nvPr/>
        </p:nvSpPr>
        <p:spPr>
          <a:xfrm>
            <a:off x="4663440" y="2788920"/>
            <a:ext cx="2834640" cy="365760"/>
          </a:xfrm>
          <a:prstGeom prst="rect">
            <a:avLst/>
          </a:prstGeom>
          <a:noFill/>
        </p:spPr>
        <p:txBody>
          <a:bodyPr wrap="square" lIns="0" tIns="0" rIns="0" bIns="0" anchor="t">
            <a:spAutoFit/>
          </a:bodyPr>
          <a:lstStyle/>
          <a:p>
            <a:pPr algn="l">
              <a:lnSpc>
                <a:spcPct val="115000"/>
              </a:lnSpc>
              <a:spcAft>
                <a:spcPts val="0"/>
              </a:spcAft>
            </a:pPr>
            <a:r>
              <a:rPr lang="ko-KR" sz="1400" b="0">
                <a:solidFill>
                  <a:srgbClr val="6B7480"/>
                </a:solidFill>
                <a:latin typeface="맑은 고딕"/>
                <a:ea typeface="맑은 고딕"/>
                <a:cs typeface="맑은 고딕"/>
              </a:rPr>
              <a:t>50cm 초과 ~ 200cm 이하</a:t>
            </a:r>
          </a:p>
        </p:txBody>
      </p:sp>
      <p:cxnSp>
        <p:nvCxnSpPr>
          <p:cNvPr id="23" name="Connector 22"/>
          <p:cNvCxnSpPr/>
          <p:nvPr/>
        </p:nvCxnSpPr>
        <p:spPr>
          <a:xfrm>
            <a:off x="4663440" y="32644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663440" y="33375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LED</a:t>
            </a:r>
          </a:p>
        </p:txBody>
      </p:sp>
      <p:sp>
        <p:nvSpPr>
          <p:cNvPr id="25" name="TextBox 24"/>
          <p:cNvSpPr txBox="1"/>
          <p:nvPr/>
        </p:nvSpPr>
        <p:spPr>
          <a:xfrm>
            <a:off x="5669279" y="33375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노랑</a:t>
            </a:r>
          </a:p>
        </p:txBody>
      </p:sp>
      <p:cxnSp>
        <p:nvCxnSpPr>
          <p:cNvPr id="26" name="Connector 25"/>
          <p:cNvCxnSpPr/>
          <p:nvPr/>
        </p:nvCxnSpPr>
        <p:spPr>
          <a:xfrm>
            <a:off x="4663440" y="39502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63440" y="40233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벨트</a:t>
            </a:r>
          </a:p>
        </p:txBody>
      </p:sp>
      <p:sp>
        <p:nvSpPr>
          <p:cNvPr id="28" name="TextBox 27"/>
          <p:cNvSpPr txBox="1"/>
          <p:nvPr/>
        </p:nvSpPr>
        <p:spPr>
          <a:xfrm>
            <a:off x="5669279" y="40233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계속 작동</a:t>
            </a:r>
          </a:p>
        </p:txBody>
      </p:sp>
      <p:cxnSp>
        <p:nvCxnSpPr>
          <p:cNvPr id="29" name="Connector 28"/>
          <p:cNvCxnSpPr/>
          <p:nvPr/>
        </p:nvCxnSpPr>
        <p:spPr>
          <a:xfrm>
            <a:off x="4663440" y="46360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63440" y="47091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DB 기록</a:t>
            </a:r>
          </a:p>
        </p:txBody>
      </p:sp>
      <p:sp>
        <p:nvSpPr>
          <p:cNvPr id="31" name="TextBox 30"/>
          <p:cNvSpPr txBox="1"/>
          <p:nvPr/>
        </p:nvSpPr>
        <p:spPr>
          <a:xfrm>
            <a:off x="5669279" y="47091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상태가 바뀔 때</a:t>
            </a:r>
          </a:p>
        </p:txBody>
      </p:sp>
      <p:sp>
        <p:nvSpPr>
          <p:cNvPr id="32" name="위험 카드"/>
          <p:cNvSpPr/>
          <p:nvPr/>
        </p:nvSpPr>
        <p:spPr>
          <a:xfrm>
            <a:off x="8046720" y="1600200"/>
            <a:ext cx="3337560" cy="402336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321040" y="1874519"/>
            <a:ext cx="731520" cy="731520"/>
          </a:xfrm>
          <a:prstGeom prst="ellipse">
            <a:avLst/>
          </a:prstGeom>
          <a:solidFill>
            <a:srgbClr val="D64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35440" y="1874519"/>
            <a:ext cx="2011680" cy="731520"/>
          </a:xfrm>
          <a:prstGeom prst="rect">
            <a:avLst/>
          </a:prstGeom>
          <a:noFill/>
        </p:spPr>
        <p:txBody>
          <a:bodyPr wrap="square" lIns="0" tIns="0" rIns="0" bIns="0" anchor="ctr">
            <a:spAutoFit/>
          </a:bodyPr>
          <a:lstStyle/>
          <a:p>
            <a:pPr algn="l">
              <a:lnSpc>
                <a:spcPct val="115000"/>
              </a:lnSpc>
              <a:spcAft>
                <a:spcPts val="0"/>
              </a:spcAft>
            </a:pPr>
            <a:r>
              <a:rPr lang="ko-KR" sz="2600" b="1">
                <a:solidFill>
                  <a:srgbClr val="1F2D3D"/>
                </a:solidFill>
                <a:latin typeface="맑은 고딕"/>
                <a:ea typeface="맑은 고딕"/>
                <a:cs typeface="맑은 고딕"/>
              </a:rPr>
              <a:t>위험</a:t>
            </a:r>
          </a:p>
        </p:txBody>
      </p:sp>
      <p:sp>
        <p:nvSpPr>
          <p:cNvPr id="35" name="TextBox 34"/>
          <p:cNvSpPr txBox="1"/>
          <p:nvPr/>
        </p:nvSpPr>
        <p:spPr>
          <a:xfrm>
            <a:off x="8321040" y="2788920"/>
            <a:ext cx="2834640" cy="365760"/>
          </a:xfrm>
          <a:prstGeom prst="rect">
            <a:avLst/>
          </a:prstGeom>
          <a:noFill/>
        </p:spPr>
        <p:txBody>
          <a:bodyPr wrap="square" lIns="0" tIns="0" rIns="0" bIns="0" anchor="t">
            <a:spAutoFit/>
          </a:bodyPr>
          <a:lstStyle/>
          <a:p>
            <a:pPr algn="l">
              <a:lnSpc>
                <a:spcPct val="115000"/>
              </a:lnSpc>
              <a:spcAft>
                <a:spcPts val="0"/>
              </a:spcAft>
            </a:pPr>
            <a:r>
              <a:rPr lang="ko-KR" sz="1400" b="0">
                <a:solidFill>
                  <a:srgbClr val="6B7480"/>
                </a:solidFill>
                <a:latin typeface="맑은 고딕"/>
                <a:ea typeface="맑은 고딕"/>
                <a:cs typeface="맑은 고딕"/>
              </a:rPr>
              <a:t>50cm 이하</a:t>
            </a:r>
          </a:p>
        </p:txBody>
      </p:sp>
      <p:cxnSp>
        <p:nvCxnSpPr>
          <p:cNvPr id="36" name="Connector 35"/>
          <p:cNvCxnSpPr/>
          <p:nvPr/>
        </p:nvCxnSpPr>
        <p:spPr>
          <a:xfrm>
            <a:off x="8321040" y="32644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21040" y="33375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LED</a:t>
            </a:r>
          </a:p>
        </p:txBody>
      </p:sp>
      <p:sp>
        <p:nvSpPr>
          <p:cNvPr id="38" name="TextBox 37"/>
          <p:cNvSpPr txBox="1"/>
          <p:nvPr/>
        </p:nvSpPr>
        <p:spPr>
          <a:xfrm>
            <a:off x="9326880" y="33375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빨강</a:t>
            </a:r>
          </a:p>
        </p:txBody>
      </p:sp>
      <p:cxnSp>
        <p:nvCxnSpPr>
          <p:cNvPr id="39" name="Connector 38"/>
          <p:cNvCxnSpPr/>
          <p:nvPr/>
        </p:nvCxnSpPr>
        <p:spPr>
          <a:xfrm>
            <a:off x="8321040" y="39502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321040" y="40233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벨트</a:t>
            </a:r>
          </a:p>
        </p:txBody>
      </p:sp>
      <p:sp>
        <p:nvSpPr>
          <p:cNvPr id="41" name="TextBox 40"/>
          <p:cNvSpPr txBox="1"/>
          <p:nvPr/>
        </p:nvSpPr>
        <p:spPr>
          <a:xfrm>
            <a:off x="9326880" y="40233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D64541"/>
                </a:solidFill>
                <a:latin typeface="맑은 고딕"/>
                <a:ea typeface="맑은 고딕"/>
                <a:cs typeface="맑은 고딕"/>
              </a:rPr>
              <a:t>정지</a:t>
            </a:r>
          </a:p>
        </p:txBody>
      </p:sp>
      <p:cxnSp>
        <p:nvCxnSpPr>
          <p:cNvPr id="42" name="Connector 41"/>
          <p:cNvCxnSpPr/>
          <p:nvPr/>
        </p:nvCxnSpPr>
        <p:spPr>
          <a:xfrm>
            <a:off x="8321040" y="4636008"/>
            <a:ext cx="2788920" cy="0"/>
          </a:xfrm>
          <a:prstGeom prst="line">
            <a:avLst/>
          </a:prstGeom>
          <a:ln w="12700">
            <a:solidFill>
              <a:srgbClr val="D5DAE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321040" y="4709160"/>
            <a:ext cx="1097280" cy="457200"/>
          </a:xfrm>
          <a:prstGeom prst="rect">
            <a:avLst/>
          </a:prstGeom>
          <a:noFill/>
        </p:spPr>
        <p:txBody>
          <a:bodyPr wrap="square" lIns="0" tIns="0" rIns="0" bIns="0" anchor="ctr">
            <a:spAutoFit/>
          </a:bodyPr>
          <a:lstStyle/>
          <a:p>
            <a:pPr algn="l">
              <a:lnSpc>
                <a:spcPct val="115000"/>
              </a:lnSpc>
              <a:spcAft>
                <a:spcPts val="0"/>
              </a:spcAft>
            </a:pPr>
            <a:r>
              <a:rPr lang="ko-KR" sz="1400" b="0">
                <a:solidFill>
                  <a:srgbClr val="6B7480"/>
                </a:solidFill>
                <a:latin typeface="맑은 고딕"/>
                <a:ea typeface="맑은 고딕"/>
                <a:cs typeface="맑은 고딕"/>
              </a:rPr>
              <a:t>DB 기록</a:t>
            </a:r>
          </a:p>
        </p:txBody>
      </p:sp>
      <p:sp>
        <p:nvSpPr>
          <p:cNvPr id="44" name="TextBox 43"/>
          <p:cNvSpPr txBox="1"/>
          <p:nvPr/>
        </p:nvSpPr>
        <p:spPr>
          <a:xfrm>
            <a:off x="9326880" y="4709160"/>
            <a:ext cx="1783080" cy="457200"/>
          </a:xfrm>
          <a:prstGeom prst="rect">
            <a:avLst/>
          </a:prstGeom>
          <a:noFill/>
        </p:spPr>
        <p:txBody>
          <a:bodyPr wrap="square" lIns="0" tIns="0" rIns="0" bIns="0" anchor="ctr">
            <a:spAutoFit/>
          </a:bodyPr>
          <a:lstStyle/>
          <a:p>
            <a:pPr algn="r">
              <a:lnSpc>
                <a:spcPct val="115000"/>
              </a:lnSpc>
              <a:spcAft>
                <a:spcPts val="0"/>
              </a:spcAft>
            </a:pPr>
            <a:r>
              <a:rPr lang="ko-KR" sz="1600" b="1">
                <a:solidFill>
                  <a:srgbClr val="2B333D"/>
                </a:solidFill>
                <a:latin typeface="맑은 고딕"/>
                <a:ea typeface="맑은 고딕"/>
                <a:cs typeface="맑은 고딕"/>
              </a:rPr>
              <a:t>정지 시각 · 사유</a:t>
            </a:r>
          </a:p>
        </p:txBody>
      </p:sp>
      <p:sp>
        <p:nvSpPr>
          <p:cNvPr id="45" name="TextBox 44"/>
          <p:cNvSpPr txBox="1"/>
          <p:nvPr/>
        </p:nvSpPr>
        <p:spPr>
          <a:xfrm>
            <a:off x="731520" y="5806440"/>
            <a:ext cx="10789920" cy="457200"/>
          </a:xfrm>
          <a:prstGeom prst="rect">
            <a:avLst/>
          </a:prstGeom>
          <a:noFill/>
        </p:spPr>
        <p:txBody>
          <a:bodyPr wrap="square" lIns="0" tIns="0" rIns="0" bIns="0" anchor="t">
            <a:spAutoFit/>
          </a:bodyPr>
          <a:lstStyle/>
          <a:p>
            <a:pPr algn="l">
              <a:lnSpc>
                <a:spcPct val="115000"/>
              </a:lnSpc>
              <a:spcAft>
                <a:spcPts val="0"/>
              </a:spcAft>
            </a:pPr>
            <a:r>
              <a:rPr lang="ko-KR" sz="1300" b="0">
                <a:solidFill>
                  <a:srgbClr val="6B7480"/>
                </a:solidFill>
                <a:latin typeface="맑은 고딕"/>
                <a:ea typeface="맑은 고딕"/>
                <a:cs typeface="맑은 고딕"/>
              </a:rPr>
              <a:t>얼굴 검출이 잠깐 끊겨도 상태가 깜빡이지 않도록, 위험해질 때는 바로, 안전해질 때는 1초 유지된 뒤 바뀝니다. 대시보드 신호등도 같은 색으로 바뀝니다.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05  </a:t>
            </a:r>
            <a:r>
              <a:rPr lang="ko-KR" sz="3000" b="1">
                <a:solidFill>
                  <a:srgbClr val="1F2D3D"/>
                </a:solidFill>
                <a:latin typeface="맑은 고딕"/>
                <a:ea typeface="맑은 고딕"/>
                <a:cs typeface="맑은 고딕"/>
              </a:rPr>
              <a:t>동작 설명</a:t>
            </a:r>
          </a:p>
        </p:txBody>
      </p:sp>
      <p:sp>
        <p:nvSpPr>
          <p:cNvPr id="3" name="TextBox 2"/>
          <p:cNvSpPr txBox="1"/>
          <p:nvPr/>
        </p:nvSpPr>
        <p:spPr>
          <a:xfrm>
            <a:off x="640080" y="1024128"/>
            <a:ext cx="10058400" cy="365760"/>
          </a:xfrm>
          <a:prstGeom prst="rect">
            <a:avLst/>
          </a:prstGeom>
          <a:noFill/>
        </p:spPr>
        <p:txBody>
          <a:bodyPr wrap="square" lIns="0" tIns="0" rIns="0" bIns="0" anchor="t">
            <a:spAutoFit/>
          </a:bodyPr>
          <a:lstStyle/>
          <a:p>
            <a:pPr algn="l">
              <a:lnSpc>
                <a:spcPct val="115000"/>
              </a:lnSpc>
              <a:spcAft>
                <a:spcPts val="0"/>
              </a:spcAft>
            </a:pPr>
            <a:r>
              <a:rPr lang="ko-KR" sz="1500" b="0">
                <a:solidFill>
                  <a:srgbClr val="6B7480"/>
                </a:solidFill>
                <a:latin typeface="맑은 고딕"/>
                <a:ea typeface="맑은 고딕"/>
                <a:cs typeface="맑은 고딕"/>
              </a:rPr>
              <a:t>시연 영상 (31초)</a:t>
            </a:r>
          </a:p>
        </p:txBody>
      </p:sp>
      <p:sp>
        <p:nvSpPr>
          <p:cNvPr id="4" name="TextBox 3"/>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5" name="TextBox 4"/>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8</a:t>
            </a:r>
          </a:p>
        </p:txBody>
      </p:sp>
      <p:pic>
        <p:nvPicPr>
          <p:cNvPr id="6" name="conveyor_demo.mp4">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rotWithShape="1">
          <a:blip r:embed="rId5"/>
          <a:stretch>
            <a:fillRect/>
          </a:stretch>
        </p:blipFill>
        <p:spPr>
          <a:xfrm>
            <a:off x="640080" y="1508760"/>
            <a:ext cx="7863840" cy="4423409"/>
          </a:xfrm>
          <a:prstGeom prst="rect">
            <a:avLst/>
          </a:prstGeom>
        </p:spPr>
      </p:pic>
      <p:sp>
        <p:nvSpPr>
          <p:cNvPr id="7" name="Oval 6"/>
          <p:cNvSpPr/>
          <p:nvPr/>
        </p:nvSpPr>
        <p:spPr>
          <a:xfrm>
            <a:off x="8915400" y="1645920"/>
            <a:ext cx="292608" cy="29260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72600" y="1554480"/>
            <a:ext cx="2286000" cy="365760"/>
          </a:xfrm>
          <a:prstGeom prst="rect">
            <a:avLst/>
          </a:prstGeom>
          <a:noFill/>
        </p:spPr>
        <p:txBody>
          <a:bodyPr wrap="square" lIns="0" tIns="0" rIns="0" bIns="0" anchor="t">
            <a:spAutoFit/>
          </a:bodyPr>
          <a:lstStyle/>
          <a:p>
            <a:pPr algn="l">
              <a:lnSpc>
                <a:spcPct val="115000"/>
              </a:lnSpc>
              <a:spcAft>
                <a:spcPts val="0"/>
              </a:spcAft>
            </a:pPr>
            <a:r>
              <a:rPr lang="ko-KR" sz="1600" b="1">
                <a:solidFill>
                  <a:srgbClr val="1F2D3D"/>
                </a:solidFill>
                <a:latin typeface="맑은 고딕"/>
                <a:ea typeface="맑은 고딕"/>
                <a:cs typeface="맑은 고딕"/>
              </a:rPr>
              <a:t>정상</a:t>
            </a:r>
            <a:r>
              <a:rPr lang="ko-KR" sz="1200" b="0">
                <a:solidFill>
                  <a:srgbClr val="6B7480"/>
                </a:solidFill>
                <a:latin typeface="맑은 고딕"/>
                <a:ea typeface="맑은 고딕"/>
                <a:cs typeface="맑은 고딕"/>
              </a:rPr>
              <a:t>  0:00</a:t>
            </a:r>
          </a:p>
        </p:txBody>
      </p:sp>
      <p:sp>
        <p:nvSpPr>
          <p:cNvPr id="9" name="TextBox 8"/>
          <p:cNvSpPr txBox="1"/>
          <p:nvPr/>
        </p:nvSpPr>
        <p:spPr>
          <a:xfrm>
            <a:off x="9372600" y="1901952"/>
            <a:ext cx="2377440" cy="411480"/>
          </a:xfrm>
          <a:prstGeom prst="rect">
            <a:avLst/>
          </a:prstGeom>
          <a:noFill/>
        </p:spPr>
        <p:txBody>
          <a:bodyPr wrap="square" lIns="0" tIns="0" rIns="0" bIns="0" anchor="t">
            <a:spAutoFit/>
          </a:bodyPr>
          <a:lstStyle/>
          <a:p>
            <a:pPr algn="l">
              <a:lnSpc>
                <a:spcPct val="115000"/>
              </a:lnSpc>
              <a:spcAft>
                <a:spcPts val="0"/>
              </a:spcAft>
            </a:pPr>
            <a:r>
              <a:rPr lang="ko-KR" sz="1300" b="0">
                <a:solidFill>
                  <a:srgbClr val="2B333D"/>
                </a:solidFill>
                <a:latin typeface="맑은 고딕"/>
                <a:ea typeface="맑은 고딕"/>
                <a:cs typeface="맑은 고딕"/>
              </a:rPr>
              <a:t>벨트 작동</a:t>
            </a:r>
          </a:p>
        </p:txBody>
      </p:sp>
      <p:sp>
        <p:nvSpPr>
          <p:cNvPr id="10" name="Oval 9"/>
          <p:cNvSpPr/>
          <p:nvPr/>
        </p:nvSpPr>
        <p:spPr>
          <a:xfrm>
            <a:off x="8915400" y="2532888"/>
            <a:ext cx="292608" cy="292608"/>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72600" y="2441448"/>
            <a:ext cx="2286000" cy="365760"/>
          </a:xfrm>
          <a:prstGeom prst="rect">
            <a:avLst/>
          </a:prstGeom>
          <a:noFill/>
        </p:spPr>
        <p:txBody>
          <a:bodyPr wrap="square" lIns="0" tIns="0" rIns="0" bIns="0" anchor="t">
            <a:spAutoFit/>
          </a:bodyPr>
          <a:lstStyle/>
          <a:p>
            <a:pPr algn="l">
              <a:lnSpc>
                <a:spcPct val="115000"/>
              </a:lnSpc>
              <a:spcAft>
                <a:spcPts val="0"/>
              </a:spcAft>
            </a:pPr>
            <a:r>
              <a:rPr lang="ko-KR" sz="1600" b="1">
                <a:solidFill>
                  <a:srgbClr val="1F2D3D"/>
                </a:solidFill>
                <a:latin typeface="맑은 고딕"/>
                <a:ea typeface="맑은 고딕"/>
                <a:cs typeface="맑은 고딕"/>
              </a:rPr>
              <a:t>경고</a:t>
            </a:r>
            <a:r>
              <a:rPr lang="ko-KR" sz="1200" b="0">
                <a:solidFill>
                  <a:srgbClr val="6B7480"/>
                </a:solidFill>
                <a:latin typeface="맑은 고딕"/>
                <a:ea typeface="맑은 고딕"/>
                <a:cs typeface="맑은 고딕"/>
              </a:rPr>
              <a:t>  0:07</a:t>
            </a:r>
          </a:p>
        </p:txBody>
      </p:sp>
      <p:sp>
        <p:nvSpPr>
          <p:cNvPr id="12" name="TextBox 11"/>
          <p:cNvSpPr txBox="1"/>
          <p:nvPr/>
        </p:nvSpPr>
        <p:spPr>
          <a:xfrm>
            <a:off x="9372600" y="2788920"/>
            <a:ext cx="2377440" cy="411480"/>
          </a:xfrm>
          <a:prstGeom prst="rect">
            <a:avLst/>
          </a:prstGeom>
          <a:noFill/>
        </p:spPr>
        <p:txBody>
          <a:bodyPr wrap="square" lIns="0" tIns="0" rIns="0" bIns="0" anchor="t">
            <a:spAutoFit/>
          </a:bodyPr>
          <a:lstStyle/>
          <a:p>
            <a:pPr algn="l">
              <a:lnSpc>
                <a:spcPct val="115000"/>
              </a:lnSpc>
              <a:spcAft>
                <a:spcPts val="0"/>
              </a:spcAft>
            </a:pPr>
            <a:r>
              <a:rPr lang="ko-KR" sz="1300" b="0">
                <a:solidFill>
                  <a:srgbClr val="2B333D"/>
                </a:solidFill>
                <a:latin typeface="맑은 고딕"/>
                <a:ea typeface="맑은 고딕"/>
                <a:cs typeface="맑은 고딕"/>
              </a:rPr>
              <a:t>노랑 LED, 벨트는 계속</a:t>
            </a:r>
          </a:p>
        </p:txBody>
      </p:sp>
      <p:sp>
        <p:nvSpPr>
          <p:cNvPr id="13" name="Oval 12"/>
          <p:cNvSpPr/>
          <p:nvPr/>
        </p:nvSpPr>
        <p:spPr>
          <a:xfrm>
            <a:off x="8915400" y="3419856"/>
            <a:ext cx="292608" cy="292608"/>
          </a:xfrm>
          <a:prstGeom prst="ellipse">
            <a:avLst/>
          </a:prstGeom>
          <a:solidFill>
            <a:srgbClr val="D64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72600" y="3328415"/>
            <a:ext cx="2286000" cy="365760"/>
          </a:xfrm>
          <a:prstGeom prst="rect">
            <a:avLst/>
          </a:prstGeom>
          <a:noFill/>
        </p:spPr>
        <p:txBody>
          <a:bodyPr wrap="square" lIns="0" tIns="0" rIns="0" bIns="0" anchor="t">
            <a:spAutoFit/>
          </a:bodyPr>
          <a:lstStyle/>
          <a:p>
            <a:pPr algn="l">
              <a:lnSpc>
                <a:spcPct val="115000"/>
              </a:lnSpc>
              <a:spcAft>
                <a:spcPts val="0"/>
              </a:spcAft>
            </a:pPr>
            <a:r>
              <a:rPr lang="ko-KR" sz="1600" b="1">
                <a:solidFill>
                  <a:srgbClr val="1F2D3D"/>
                </a:solidFill>
                <a:latin typeface="맑은 고딕"/>
                <a:ea typeface="맑은 고딕"/>
                <a:cs typeface="맑은 고딕"/>
              </a:rPr>
              <a:t>위험</a:t>
            </a:r>
            <a:r>
              <a:rPr lang="ko-KR" sz="1200" b="0">
                <a:solidFill>
                  <a:srgbClr val="6B7480"/>
                </a:solidFill>
                <a:latin typeface="맑은 고딕"/>
                <a:ea typeface="맑은 고딕"/>
                <a:cs typeface="맑은 고딕"/>
              </a:rPr>
              <a:t>  0:17</a:t>
            </a:r>
          </a:p>
        </p:txBody>
      </p:sp>
      <p:sp>
        <p:nvSpPr>
          <p:cNvPr id="15" name="TextBox 14"/>
          <p:cNvSpPr txBox="1"/>
          <p:nvPr/>
        </p:nvSpPr>
        <p:spPr>
          <a:xfrm>
            <a:off x="9372600" y="3675887"/>
            <a:ext cx="2377440" cy="411480"/>
          </a:xfrm>
          <a:prstGeom prst="rect">
            <a:avLst/>
          </a:prstGeom>
          <a:noFill/>
        </p:spPr>
        <p:txBody>
          <a:bodyPr wrap="square" lIns="0" tIns="0" rIns="0" bIns="0" anchor="t">
            <a:spAutoFit/>
          </a:bodyPr>
          <a:lstStyle/>
          <a:p>
            <a:pPr algn="l">
              <a:lnSpc>
                <a:spcPct val="115000"/>
              </a:lnSpc>
              <a:spcAft>
                <a:spcPts val="0"/>
              </a:spcAft>
            </a:pPr>
            <a:r>
              <a:rPr lang="ko-KR" sz="1300" b="0">
                <a:solidFill>
                  <a:srgbClr val="2B333D"/>
                </a:solidFill>
                <a:latin typeface="맑은 고딕"/>
                <a:ea typeface="맑은 고딕"/>
                <a:cs typeface="맑은 고딕"/>
              </a:rPr>
              <a:t>빨강 LED, 벨트 정지, DB 기록</a:t>
            </a:r>
          </a:p>
        </p:txBody>
      </p:sp>
      <p:sp>
        <p:nvSpPr>
          <p:cNvPr id="16" name="Oval 15"/>
          <p:cNvSpPr/>
          <p:nvPr/>
        </p:nvSpPr>
        <p:spPr>
          <a:xfrm>
            <a:off x="8915400" y="4306824"/>
            <a:ext cx="292608" cy="292608"/>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72600" y="4215384"/>
            <a:ext cx="2286000" cy="365760"/>
          </a:xfrm>
          <a:prstGeom prst="rect">
            <a:avLst/>
          </a:prstGeom>
          <a:noFill/>
        </p:spPr>
        <p:txBody>
          <a:bodyPr wrap="square" lIns="0" tIns="0" rIns="0" bIns="0" anchor="t">
            <a:spAutoFit/>
          </a:bodyPr>
          <a:lstStyle/>
          <a:p>
            <a:pPr algn="l">
              <a:lnSpc>
                <a:spcPct val="115000"/>
              </a:lnSpc>
              <a:spcAft>
                <a:spcPts val="0"/>
              </a:spcAft>
            </a:pPr>
            <a:r>
              <a:rPr lang="ko-KR" sz="1600" b="1">
                <a:solidFill>
                  <a:srgbClr val="1F2D3D"/>
                </a:solidFill>
                <a:latin typeface="맑은 고딕"/>
                <a:ea typeface="맑은 고딕"/>
                <a:cs typeface="맑은 고딕"/>
              </a:rPr>
              <a:t>경고</a:t>
            </a:r>
            <a:r>
              <a:rPr lang="ko-KR" sz="1200" b="0">
                <a:solidFill>
                  <a:srgbClr val="6B7480"/>
                </a:solidFill>
                <a:latin typeface="맑은 고딕"/>
                <a:ea typeface="맑은 고딕"/>
                <a:cs typeface="맑은 고딕"/>
              </a:rPr>
              <a:t>  0:23</a:t>
            </a:r>
          </a:p>
        </p:txBody>
      </p:sp>
      <p:sp>
        <p:nvSpPr>
          <p:cNvPr id="18" name="TextBox 17"/>
          <p:cNvSpPr txBox="1"/>
          <p:nvPr/>
        </p:nvSpPr>
        <p:spPr>
          <a:xfrm>
            <a:off x="9372600" y="4562856"/>
            <a:ext cx="2377440" cy="411480"/>
          </a:xfrm>
          <a:prstGeom prst="rect">
            <a:avLst/>
          </a:prstGeom>
          <a:noFill/>
        </p:spPr>
        <p:txBody>
          <a:bodyPr wrap="square" lIns="0" tIns="0" rIns="0" bIns="0" anchor="t">
            <a:spAutoFit/>
          </a:bodyPr>
          <a:lstStyle/>
          <a:p>
            <a:pPr algn="l">
              <a:lnSpc>
                <a:spcPct val="115000"/>
              </a:lnSpc>
              <a:spcAft>
                <a:spcPts val="0"/>
              </a:spcAft>
            </a:pPr>
            <a:r>
              <a:rPr lang="ko-KR" sz="1300" b="0">
                <a:solidFill>
                  <a:srgbClr val="2B333D"/>
                </a:solidFill>
                <a:latin typeface="맑은 고딕"/>
                <a:ea typeface="맑은 고딕"/>
                <a:cs typeface="맑은 고딕"/>
              </a:rPr>
              <a:t>물러나면 다시 작동</a:t>
            </a:r>
          </a:p>
        </p:txBody>
      </p:sp>
      <p:sp>
        <p:nvSpPr>
          <p:cNvPr id="19" name="Oval 18"/>
          <p:cNvSpPr/>
          <p:nvPr/>
        </p:nvSpPr>
        <p:spPr>
          <a:xfrm>
            <a:off x="8915400" y="5193792"/>
            <a:ext cx="292608" cy="29260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72600" y="5102352"/>
            <a:ext cx="2286000" cy="365760"/>
          </a:xfrm>
          <a:prstGeom prst="rect">
            <a:avLst/>
          </a:prstGeom>
          <a:noFill/>
        </p:spPr>
        <p:txBody>
          <a:bodyPr wrap="square" lIns="0" tIns="0" rIns="0" bIns="0" anchor="t">
            <a:spAutoFit/>
          </a:bodyPr>
          <a:lstStyle/>
          <a:p>
            <a:pPr algn="l">
              <a:lnSpc>
                <a:spcPct val="115000"/>
              </a:lnSpc>
              <a:spcAft>
                <a:spcPts val="0"/>
              </a:spcAft>
            </a:pPr>
            <a:r>
              <a:rPr lang="ko-KR" sz="1600" b="1">
                <a:solidFill>
                  <a:srgbClr val="1F2D3D"/>
                </a:solidFill>
                <a:latin typeface="맑은 고딕"/>
                <a:ea typeface="맑은 고딕"/>
                <a:cs typeface="맑은 고딕"/>
              </a:rPr>
              <a:t>정상</a:t>
            </a:r>
            <a:r>
              <a:rPr lang="ko-KR" sz="1200" b="0">
                <a:solidFill>
                  <a:srgbClr val="6B7480"/>
                </a:solidFill>
                <a:latin typeface="맑은 고딕"/>
                <a:ea typeface="맑은 고딕"/>
                <a:cs typeface="맑은 고딕"/>
              </a:rPr>
              <a:t>  0:30</a:t>
            </a:r>
          </a:p>
        </p:txBody>
      </p:sp>
      <p:sp>
        <p:nvSpPr>
          <p:cNvPr id="21" name="TextBox 20"/>
          <p:cNvSpPr txBox="1"/>
          <p:nvPr/>
        </p:nvSpPr>
        <p:spPr>
          <a:xfrm>
            <a:off x="9372600" y="5449824"/>
            <a:ext cx="2377440" cy="411480"/>
          </a:xfrm>
          <a:prstGeom prst="rect">
            <a:avLst/>
          </a:prstGeom>
          <a:noFill/>
        </p:spPr>
        <p:txBody>
          <a:bodyPr wrap="square" lIns="0" tIns="0" rIns="0" bIns="0" anchor="t">
            <a:spAutoFit/>
          </a:bodyPr>
          <a:lstStyle/>
          <a:p>
            <a:pPr algn="l">
              <a:lnSpc>
                <a:spcPct val="115000"/>
              </a:lnSpc>
              <a:spcAft>
                <a:spcPts val="0"/>
              </a:spcAft>
            </a:pPr>
            <a:r>
              <a:rPr lang="ko-KR" sz="1300" b="0">
                <a:solidFill>
                  <a:srgbClr val="2B333D"/>
                </a:solidFill>
                <a:latin typeface="맑은 고딕"/>
                <a:ea typeface="맑은 고딕"/>
                <a:cs typeface="맑은 고딕"/>
              </a:rPr>
              <a:t>자리를 떠나면 LED 꺼짐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06  </a:t>
            </a:r>
            <a:r>
              <a:rPr lang="ko-KR" sz="3000" b="1">
                <a:solidFill>
                  <a:srgbClr val="1F2D3D"/>
                </a:solidFill>
                <a:latin typeface="맑은 고딕"/>
                <a:ea typeface="맑은 고딕"/>
                <a:cs typeface="맑은 고딕"/>
              </a:rPr>
              <a:t>성능 개선</a:t>
            </a:r>
          </a:p>
        </p:txBody>
      </p:sp>
      <p:sp>
        <p:nvSpPr>
          <p:cNvPr id="3" name="TextBox 2"/>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4" name="TextBox 3"/>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9</a:t>
            </a:r>
          </a:p>
        </p:txBody>
      </p:sp>
      <p:sp>
        <p:nvSpPr>
          <p:cNvPr id="5" name="Rounded Rectangle 4"/>
          <p:cNvSpPr/>
          <p:nvPr/>
        </p:nvSpPr>
        <p:spPr>
          <a:xfrm>
            <a:off x="731520" y="1463040"/>
            <a:ext cx="5120640" cy="4754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1645920"/>
            <a:ext cx="457200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상태 깜빡임</a:t>
            </a:r>
            <a:r>
              <a:rPr lang="ko-KR" sz="1200" b="0">
                <a:solidFill>
                  <a:srgbClr val="6B7480"/>
                </a:solidFill>
                <a:latin typeface="맑은 고딕"/>
                <a:ea typeface="맑은 고딕"/>
                <a:cs typeface="맑은 고딕"/>
              </a:rPr>
              <a:t>   1초 안에 다시 뒤집힌 상태 전환 비율</a:t>
            </a:r>
          </a:p>
        </p:txBody>
      </p:sp>
      <p:graphicFrame>
        <p:nvGraphicFramePr>
          <p:cNvPr id="7" name="Chart 6"/>
          <p:cNvGraphicFramePr>
            <a:graphicFrameLocks noGrp="1"/>
          </p:cNvGraphicFramePr>
          <p:nvPr/>
        </p:nvGraphicFramePr>
        <p:xfrm>
          <a:off x="1051560" y="2148840"/>
          <a:ext cx="4480560" cy="3017520"/>
        </p:xfrm>
        <a:graphic>
          <a:graphicData uri="http://schemas.openxmlformats.org/drawingml/2006/chart">
            <c:chart xmlns:c="http://schemas.openxmlformats.org/drawingml/2006/chart" r:id="rId3"/>
          </a:graphicData>
        </a:graphic>
      </p:graphicFrame>
      <p:sp>
        <p:nvSpPr>
          <p:cNvPr id="8" name="TextBox 7"/>
          <p:cNvSpPr txBox="1"/>
          <p:nvPr/>
        </p:nvSpPr>
        <p:spPr>
          <a:xfrm>
            <a:off x="1051560" y="5303520"/>
            <a:ext cx="4572000" cy="731520"/>
          </a:xfrm>
          <a:prstGeom prst="rect">
            <a:avLst/>
          </a:prstGeom>
          <a:noFill/>
        </p:spPr>
        <p:txBody>
          <a:bodyPr wrap="square" lIns="0" tIns="0" rIns="0" bIns="0" anchor="t">
            <a:spAutoFit/>
          </a:bodyPr>
          <a:lstStyle/>
          <a:p>
            <a:pPr algn="l">
              <a:lnSpc>
                <a:spcPct val="120000"/>
              </a:lnSpc>
              <a:spcAft>
                <a:spcPts val="0"/>
              </a:spcAft>
            </a:pPr>
            <a:r>
              <a:rPr lang="ko-KR" sz="1200" b="0">
                <a:solidFill>
                  <a:srgbClr val="6B7480"/>
                </a:solidFill>
                <a:latin typeface="맑은 고딕"/>
                <a:ea typeface="맑은 고딕"/>
                <a:cs typeface="맑은 고딕"/>
              </a:rPr>
              <a:t>깜빡임 필터 적용 (위험 쪽 즉시, 안전 쪽 1초 유지)</a:t>
            </a:r>
          </a:p>
          <a:p>
            <a:pPr algn="l">
              <a:lnSpc>
                <a:spcPct val="120000"/>
              </a:lnSpc>
              <a:spcAft>
                <a:spcPts val="0"/>
              </a:spcAft>
            </a:pPr>
            <a:r>
              <a:rPr lang="ko-KR" sz="1200" b="0">
                <a:solidFill>
                  <a:srgbClr val="6B7480"/>
                </a:solidFill>
                <a:latin typeface="맑은 고딕"/>
                <a:ea typeface="맑은 고딕"/>
                <a:cs typeface="맑은 고딕"/>
              </a:rPr>
              <a:t>DB 로그 1,716건 / 507건으로 계산</a:t>
            </a:r>
          </a:p>
        </p:txBody>
      </p:sp>
      <p:sp>
        <p:nvSpPr>
          <p:cNvPr id="9" name="Rounded Rectangle 8"/>
          <p:cNvSpPr/>
          <p:nvPr/>
        </p:nvSpPr>
        <p:spPr>
          <a:xfrm>
            <a:off x="6355080" y="1463040"/>
            <a:ext cx="5120640" cy="4754880"/>
          </a:xfrm>
          <a:prstGeom prst="roundRect">
            <a:avLst>
              <a:gd name="adj" fmla="val 5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75120" y="1645920"/>
            <a:ext cx="4572000" cy="365760"/>
          </a:xfrm>
          <a:prstGeom prst="rect">
            <a:avLst/>
          </a:prstGeom>
          <a:noFill/>
        </p:spPr>
        <p:txBody>
          <a:bodyPr wrap="square" lIns="0" tIns="0" rIns="0" bIns="0" anchor="t">
            <a:spAutoFit/>
          </a:bodyPr>
          <a:lstStyle/>
          <a:p>
            <a:pPr algn="l">
              <a:lnSpc>
                <a:spcPct val="115000"/>
              </a:lnSpc>
              <a:spcAft>
                <a:spcPts val="0"/>
              </a:spcAft>
            </a:pPr>
            <a:r>
              <a:rPr lang="ko-KR" sz="1900" b="1">
                <a:solidFill>
                  <a:srgbClr val="1F2D3D"/>
                </a:solidFill>
                <a:latin typeface="맑은 고딕"/>
                <a:ea typeface="맑은 고딕"/>
                <a:cs typeface="맑은 고딕"/>
              </a:rPr>
              <a:t>CPU 사용률</a:t>
            </a:r>
            <a:r>
              <a:rPr lang="ko-KR" sz="1200" b="0">
                <a:solidFill>
                  <a:srgbClr val="6B7480"/>
                </a:solidFill>
                <a:latin typeface="맑은 고딕"/>
                <a:ea typeface="맑은 고딕"/>
                <a:cs typeface="맑은 고딕"/>
              </a:rPr>
              <a:t>   코어 1개 = 100%</a:t>
            </a:r>
          </a:p>
        </p:txBody>
      </p:sp>
      <p:graphicFrame>
        <p:nvGraphicFramePr>
          <p:cNvPr id="11" name="Chart 10"/>
          <p:cNvGraphicFramePr>
            <a:graphicFrameLocks noGrp="1"/>
          </p:cNvGraphicFramePr>
          <p:nvPr/>
        </p:nvGraphicFramePr>
        <p:xfrm>
          <a:off x="6675120" y="2148840"/>
          <a:ext cx="4480560" cy="3017520"/>
        </p:xfrm>
        <a:graphic>
          <a:graphicData uri="http://schemas.openxmlformats.org/drawingml/2006/chart">
            <c:chart xmlns:c="http://schemas.openxmlformats.org/drawingml/2006/chart" r:id="rId4"/>
          </a:graphicData>
        </a:graphic>
      </p:graphicFrame>
      <p:sp>
        <p:nvSpPr>
          <p:cNvPr id="12" name="TextBox 11"/>
          <p:cNvSpPr txBox="1"/>
          <p:nvPr/>
        </p:nvSpPr>
        <p:spPr>
          <a:xfrm>
            <a:off x="6675120" y="5303520"/>
            <a:ext cx="4572000" cy="731520"/>
          </a:xfrm>
          <a:prstGeom prst="rect">
            <a:avLst/>
          </a:prstGeom>
          <a:noFill/>
        </p:spPr>
        <p:txBody>
          <a:bodyPr wrap="square" lIns="0" tIns="0" rIns="0" bIns="0" anchor="t">
            <a:spAutoFit/>
          </a:bodyPr>
          <a:lstStyle/>
          <a:p>
            <a:pPr algn="l">
              <a:lnSpc>
                <a:spcPct val="120000"/>
              </a:lnSpc>
              <a:spcAft>
                <a:spcPts val="0"/>
              </a:spcAft>
            </a:pPr>
            <a:r>
              <a:rPr lang="ko-KR" sz="1200" b="0">
                <a:solidFill>
                  <a:srgbClr val="6B7480"/>
                </a:solidFill>
                <a:latin typeface="맑은 고딕"/>
                <a:ea typeface="맑은 고딕"/>
                <a:cs typeface="맑은 고딕"/>
              </a:rPr>
              <a:t>검출 시간도 14.03ms → 11.38ms (1.23배 빠름)</a:t>
            </a:r>
          </a:p>
          <a:p>
            <a:pPr algn="l">
              <a:lnSpc>
                <a:spcPct val="120000"/>
              </a:lnSpc>
              <a:spcAft>
                <a:spcPts val="0"/>
              </a:spcAft>
            </a:pPr>
            <a:r>
              <a:rPr lang="ko-KR" sz="1200" b="0">
                <a:solidFill>
                  <a:srgbClr val="6B7480"/>
                </a:solidFill>
                <a:latin typeface="맑은 고딕"/>
                <a:ea typeface="맑은 고딕"/>
                <a:cs typeface="맑은 고딕"/>
              </a:rPr>
              <a:t>TensorRT는 따로 측정했고, 메인 프로그램 적용은 다음 단계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p:cNvSpPr txBox="1"/>
          <p:nvPr/>
        </p:nvSpPr>
        <p:spPr>
          <a:xfrm>
            <a:off x="640080" y="41148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07  </a:t>
            </a:r>
            <a:r>
              <a:rPr lang="ko-KR" sz="3000" b="1">
                <a:solidFill>
                  <a:srgbClr val="1F2D3D"/>
                </a:solidFill>
                <a:latin typeface="맑은 고딕"/>
                <a:ea typeface="맑은 고딕"/>
                <a:cs typeface="맑은 고딕"/>
              </a:rPr>
              <a:t>개선 방향</a:t>
            </a:r>
          </a:p>
        </p:txBody>
      </p:sp>
      <p:sp>
        <p:nvSpPr>
          <p:cNvPr id="3" name="TextBox 2"/>
          <p:cNvSpPr txBox="1"/>
          <p:nvPr/>
        </p:nvSpPr>
        <p:spPr>
          <a:xfrm>
            <a:off x="640080" y="6400800"/>
            <a:ext cx="2743200" cy="274320"/>
          </a:xfrm>
          <a:prstGeom prst="rect">
            <a:avLst/>
          </a:prstGeom>
          <a:noFill/>
        </p:spPr>
        <p:txBody>
          <a:bodyPr wrap="square" lIns="0" tIns="0" rIns="0" bIns="0" anchor="t">
            <a:spAutoFit/>
          </a:bodyPr>
          <a:lstStyle/>
          <a:p>
            <a:pPr algn="l">
              <a:lnSpc>
                <a:spcPct val="115000"/>
              </a:lnSpc>
              <a:spcAft>
                <a:spcPts val="0"/>
              </a:spcAft>
            </a:pPr>
            <a:r>
              <a:rPr lang="ko-KR" sz="1000" b="0">
                <a:solidFill>
                  <a:srgbClr val="6B7480"/>
                </a:solidFill>
                <a:latin typeface="맑은 고딕"/>
                <a:ea typeface="맑은 고딕"/>
                <a:cs typeface="맑은 고딕"/>
              </a:rPr>
              <a:t>Dokkab</a:t>
            </a:r>
          </a:p>
        </p:txBody>
      </p:sp>
      <p:sp>
        <p:nvSpPr>
          <p:cNvPr id="4" name="TextBox 3"/>
          <p:cNvSpPr txBox="1"/>
          <p:nvPr/>
        </p:nvSpPr>
        <p:spPr>
          <a:xfrm>
            <a:off x="10607040" y="6400800"/>
            <a:ext cx="914400" cy="274320"/>
          </a:xfrm>
          <a:prstGeom prst="rect">
            <a:avLst/>
          </a:prstGeom>
          <a:noFill/>
        </p:spPr>
        <p:txBody>
          <a:bodyPr wrap="square" lIns="0" tIns="0" rIns="0" bIns="0" anchor="t">
            <a:spAutoFit/>
          </a:bodyPr>
          <a:lstStyle/>
          <a:p>
            <a:pPr algn="r">
              <a:lnSpc>
                <a:spcPct val="115000"/>
              </a:lnSpc>
              <a:spcAft>
                <a:spcPts val="0"/>
              </a:spcAft>
            </a:pPr>
            <a:r>
              <a:rPr lang="ko-KR" sz="1000" b="0">
                <a:solidFill>
                  <a:srgbClr val="6B7480"/>
                </a:solidFill>
                <a:latin typeface="맑은 고딕"/>
                <a:ea typeface="맑은 고딕"/>
                <a:cs typeface="맑은 고딕"/>
              </a:rPr>
              <a:t>10</a:t>
            </a:r>
          </a:p>
        </p:txBody>
      </p:sp>
      <p:sp>
        <p:nvSpPr>
          <p:cNvPr id="5" name="Rounded Rectangle 4"/>
          <p:cNvSpPr/>
          <p:nvPr/>
        </p:nvSpPr>
        <p:spPr>
          <a:xfrm>
            <a:off x="731520" y="1463040"/>
            <a:ext cx="5166360" cy="21031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05840" y="1737360"/>
            <a:ext cx="502920" cy="502920"/>
          </a:xfrm>
          <a:prstGeom prst="ellipse">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600" b="1">
                <a:solidFill>
                  <a:srgbClr val="FFFFFF"/>
                </a:solidFill>
                <a:latin typeface="맑은 고딕"/>
                <a:ea typeface="맑은 고딕"/>
                <a:cs typeface="맑은 고딕"/>
              </a:rPr>
              <a:t>1</a:t>
            </a:r>
          </a:p>
        </p:txBody>
      </p:sp>
      <p:sp>
        <p:nvSpPr>
          <p:cNvPr id="7" name="TextBox 6"/>
          <p:cNvSpPr txBox="1"/>
          <p:nvPr/>
        </p:nvSpPr>
        <p:spPr>
          <a:xfrm>
            <a:off x="1691640" y="1709928"/>
            <a:ext cx="402336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얼굴이 안 보이면 놓친다</a:t>
            </a:r>
          </a:p>
        </p:txBody>
      </p:sp>
      <p:sp>
        <p:nvSpPr>
          <p:cNvPr id="8" name="TextBox 7"/>
          <p:cNvSpPr txBox="1"/>
          <p:nvPr/>
        </p:nvSpPr>
        <p:spPr>
          <a:xfrm>
            <a:off x="1691640" y="2084832"/>
            <a:ext cx="4023360" cy="320040"/>
          </a:xfrm>
          <a:prstGeom prst="rect">
            <a:avLst/>
          </a:prstGeom>
          <a:noFill/>
        </p:spPr>
        <p:txBody>
          <a:bodyPr wrap="square" lIns="0" tIns="0" rIns="0" bIns="0" anchor="t">
            <a:spAutoFit/>
          </a:bodyPr>
          <a:lstStyle/>
          <a:p>
            <a:pPr algn="l">
              <a:lnSpc>
                <a:spcPct val="115000"/>
              </a:lnSpc>
              <a:spcAft>
                <a:spcPts val="0"/>
              </a:spcAft>
            </a:pPr>
            <a:r>
              <a:rPr lang="ko-KR" sz="1300" b="0">
                <a:solidFill>
                  <a:srgbClr val="6B7480"/>
                </a:solidFill>
                <a:latin typeface="맑은 고딕"/>
                <a:ea typeface="맑은 고딕"/>
                <a:cs typeface="맑은 고딕"/>
              </a:rPr>
              <a:t>뒤돌아선 작업자</a:t>
            </a:r>
          </a:p>
        </p:txBody>
      </p:sp>
      <p:sp>
        <p:nvSpPr>
          <p:cNvPr id="9" name="TextBox 8"/>
          <p:cNvSpPr txBox="1"/>
          <p:nvPr/>
        </p:nvSpPr>
        <p:spPr>
          <a:xfrm>
            <a:off x="1691640" y="2560320"/>
            <a:ext cx="4023360" cy="822960"/>
          </a:xfrm>
          <a:prstGeom prst="rect">
            <a:avLst/>
          </a:prstGeom>
          <a:noFill/>
        </p:spPr>
        <p:txBody>
          <a:bodyPr wrap="square" lIns="0" tIns="0" rIns="0" bIns="0" anchor="t">
            <a:spAutoFit/>
          </a:bodyPr>
          <a:lstStyle/>
          <a:p>
            <a:pPr algn="l">
              <a:lnSpc>
                <a:spcPct val="120000"/>
              </a:lnSpc>
              <a:spcAft>
                <a:spcPts val="0"/>
              </a:spcAft>
            </a:pPr>
            <a:r>
              <a:rPr lang="ko-KR" sz="1500" b="1">
                <a:solidFill>
                  <a:srgbClr val="E8742B"/>
                </a:solidFill>
                <a:latin typeface="맑은 고딕"/>
                <a:ea typeface="맑은 고딕"/>
                <a:cs typeface="맑은 고딕"/>
              </a:rPr>
              <a:t>→ </a:t>
            </a:r>
            <a:r>
              <a:rPr lang="ko-KR" sz="1500" b="0">
                <a:solidFill>
                  <a:srgbClr val="2B333D"/>
                </a:solidFill>
                <a:latin typeface="맑은 고딕"/>
                <a:ea typeface="맑은 고딕"/>
                <a:cs typeface="맑은 고딕"/>
              </a:rPr>
              <a:t>사람 전체 검출 모델(YOLO person 등)을 함께 사용</a:t>
            </a:r>
          </a:p>
        </p:txBody>
      </p:sp>
      <p:sp>
        <p:nvSpPr>
          <p:cNvPr id="10" name="Rounded Rectangle 9"/>
          <p:cNvSpPr/>
          <p:nvPr/>
        </p:nvSpPr>
        <p:spPr>
          <a:xfrm>
            <a:off x="6217920" y="1463040"/>
            <a:ext cx="5166360" cy="21031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92240" y="1737360"/>
            <a:ext cx="502920" cy="502920"/>
          </a:xfrm>
          <a:prstGeom prst="ellipse">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600" b="1">
                <a:solidFill>
                  <a:srgbClr val="FFFFFF"/>
                </a:solidFill>
                <a:latin typeface="맑은 고딕"/>
                <a:ea typeface="맑은 고딕"/>
                <a:cs typeface="맑은 고딕"/>
              </a:rPr>
              <a:t>2</a:t>
            </a:r>
          </a:p>
        </p:txBody>
      </p:sp>
      <p:sp>
        <p:nvSpPr>
          <p:cNvPr id="12" name="TextBox 11"/>
          <p:cNvSpPr txBox="1"/>
          <p:nvPr/>
        </p:nvSpPr>
        <p:spPr>
          <a:xfrm>
            <a:off x="7178040" y="1709928"/>
            <a:ext cx="402336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거리가 짧게 추정된다</a:t>
            </a:r>
          </a:p>
        </p:txBody>
      </p:sp>
      <p:sp>
        <p:nvSpPr>
          <p:cNvPr id="13" name="TextBox 12"/>
          <p:cNvSpPr txBox="1"/>
          <p:nvPr/>
        </p:nvSpPr>
        <p:spPr>
          <a:xfrm>
            <a:off x="7178040" y="2084832"/>
            <a:ext cx="4023360" cy="320040"/>
          </a:xfrm>
          <a:prstGeom prst="rect">
            <a:avLst/>
          </a:prstGeom>
          <a:noFill/>
        </p:spPr>
        <p:txBody>
          <a:bodyPr wrap="square" lIns="0" tIns="0" rIns="0" bIns="0" anchor="t">
            <a:spAutoFit/>
          </a:bodyPr>
          <a:lstStyle/>
          <a:p>
            <a:pPr algn="l">
              <a:lnSpc>
                <a:spcPct val="115000"/>
              </a:lnSpc>
              <a:spcAft>
                <a:spcPts val="0"/>
              </a:spcAft>
            </a:pPr>
            <a:r>
              <a:rPr lang="ko-KR" sz="1300" b="0">
                <a:solidFill>
                  <a:srgbClr val="6B7480"/>
                </a:solidFill>
                <a:latin typeface="맑은 고딕"/>
                <a:ea typeface="맑은 고딕"/>
                <a:cs typeface="맑은 고딕"/>
              </a:rPr>
              <a:t>실제 150cm → 약 81cm</a:t>
            </a:r>
          </a:p>
        </p:txBody>
      </p:sp>
      <p:sp>
        <p:nvSpPr>
          <p:cNvPr id="14" name="TextBox 13"/>
          <p:cNvSpPr txBox="1"/>
          <p:nvPr/>
        </p:nvSpPr>
        <p:spPr>
          <a:xfrm>
            <a:off x="7178040" y="2560320"/>
            <a:ext cx="4023360" cy="822960"/>
          </a:xfrm>
          <a:prstGeom prst="rect">
            <a:avLst/>
          </a:prstGeom>
          <a:noFill/>
        </p:spPr>
        <p:txBody>
          <a:bodyPr wrap="square" lIns="0" tIns="0" rIns="0" bIns="0" anchor="t">
            <a:spAutoFit/>
          </a:bodyPr>
          <a:lstStyle/>
          <a:p>
            <a:pPr algn="l">
              <a:lnSpc>
                <a:spcPct val="120000"/>
              </a:lnSpc>
              <a:spcAft>
                <a:spcPts val="0"/>
              </a:spcAft>
            </a:pPr>
            <a:r>
              <a:rPr lang="ko-KR" sz="1500" b="1">
                <a:solidFill>
                  <a:srgbClr val="E8742B"/>
                </a:solidFill>
                <a:latin typeface="맑은 고딕"/>
                <a:ea typeface="맑은 고딕"/>
                <a:cs typeface="맑은 고딕"/>
              </a:rPr>
              <a:t>→ </a:t>
            </a:r>
            <a:r>
              <a:rPr lang="ko-KR" sz="1500" b="0">
                <a:solidFill>
                  <a:srgbClr val="2B333D"/>
                </a:solidFill>
                <a:latin typeface="맑은 고딕"/>
                <a:ea typeface="맑은 고딕"/>
                <a:cs typeface="맑은 고딕"/>
              </a:rPr>
              <a:t>줄자 위치로 거리식을 다시 맞추고, 70·40·30cm까지 다시 측정</a:t>
            </a:r>
          </a:p>
        </p:txBody>
      </p:sp>
      <p:sp>
        <p:nvSpPr>
          <p:cNvPr id="15" name="Rounded Rectangle 14"/>
          <p:cNvSpPr/>
          <p:nvPr/>
        </p:nvSpPr>
        <p:spPr>
          <a:xfrm>
            <a:off x="731520" y="3840480"/>
            <a:ext cx="5166360" cy="21031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05840" y="4114800"/>
            <a:ext cx="502920" cy="502920"/>
          </a:xfrm>
          <a:prstGeom prst="ellipse">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600" b="1">
                <a:solidFill>
                  <a:srgbClr val="FFFFFF"/>
                </a:solidFill>
                <a:latin typeface="맑은 고딕"/>
                <a:ea typeface="맑은 고딕"/>
                <a:cs typeface="맑은 고딕"/>
              </a:rPr>
              <a:t>3</a:t>
            </a:r>
          </a:p>
        </p:txBody>
      </p:sp>
      <p:sp>
        <p:nvSpPr>
          <p:cNvPr id="17" name="TextBox 16"/>
          <p:cNvSpPr txBox="1"/>
          <p:nvPr/>
        </p:nvSpPr>
        <p:spPr>
          <a:xfrm>
            <a:off x="1691640" y="4087368"/>
            <a:ext cx="402336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TensorRT가 아직 메인에 없다</a:t>
            </a:r>
          </a:p>
        </p:txBody>
      </p:sp>
      <p:sp>
        <p:nvSpPr>
          <p:cNvPr id="18" name="TextBox 17"/>
          <p:cNvSpPr txBox="1"/>
          <p:nvPr/>
        </p:nvSpPr>
        <p:spPr>
          <a:xfrm>
            <a:off x="1691640" y="4462272"/>
            <a:ext cx="4023360" cy="320040"/>
          </a:xfrm>
          <a:prstGeom prst="rect">
            <a:avLst/>
          </a:prstGeom>
          <a:noFill/>
        </p:spPr>
        <p:txBody>
          <a:bodyPr wrap="square" lIns="0" tIns="0" rIns="0" bIns="0" anchor="t">
            <a:spAutoFit/>
          </a:bodyPr>
          <a:lstStyle/>
          <a:p>
            <a:pPr algn="l">
              <a:lnSpc>
                <a:spcPct val="115000"/>
              </a:lnSpc>
              <a:spcAft>
                <a:spcPts val="0"/>
              </a:spcAft>
            </a:pPr>
            <a:r>
              <a:rPr lang="ko-KR" sz="1300" b="0">
                <a:solidFill>
                  <a:srgbClr val="6B7480"/>
                </a:solidFill>
                <a:latin typeface="맑은 고딕"/>
                <a:ea typeface="맑은 고딕"/>
                <a:cs typeface="맑은 고딕"/>
              </a:rPr>
              <a:t>CPU 558%를 쓰는 중</a:t>
            </a:r>
          </a:p>
        </p:txBody>
      </p:sp>
      <p:sp>
        <p:nvSpPr>
          <p:cNvPr id="19" name="TextBox 18"/>
          <p:cNvSpPr txBox="1"/>
          <p:nvPr/>
        </p:nvSpPr>
        <p:spPr>
          <a:xfrm>
            <a:off x="1691640" y="4937760"/>
            <a:ext cx="4023360" cy="822960"/>
          </a:xfrm>
          <a:prstGeom prst="rect">
            <a:avLst/>
          </a:prstGeom>
          <a:noFill/>
        </p:spPr>
        <p:txBody>
          <a:bodyPr wrap="square" lIns="0" tIns="0" rIns="0" bIns="0" anchor="t">
            <a:spAutoFit/>
          </a:bodyPr>
          <a:lstStyle/>
          <a:p>
            <a:pPr algn="l">
              <a:lnSpc>
                <a:spcPct val="120000"/>
              </a:lnSpc>
              <a:spcAft>
                <a:spcPts val="0"/>
              </a:spcAft>
            </a:pPr>
            <a:r>
              <a:rPr lang="ko-KR" sz="1500" b="1">
                <a:solidFill>
                  <a:srgbClr val="E8742B"/>
                </a:solidFill>
                <a:latin typeface="맑은 고딕"/>
                <a:ea typeface="맑은 고딕"/>
                <a:cs typeface="맑은 고딕"/>
              </a:rPr>
              <a:t>→ </a:t>
            </a:r>
            <a:r>
              <a:rPr lang="ko-KR" sz="1500" b="0">
                <a:solidFill>
                  <a:srgbClr val="2B333D"/>
                </a:solidFill>
                <a:latin typeface="맑은 고딕"/>
                <a:ea typeface="맑은 고딕"/>
                <a:cs typeface="맑은 고딕"/>
              </a:rPr>
              <a:t>엔진을 메인 프로그램에 적용하고, 남는 CPU를 추가 모델에 사용</a:t>
            </a:r>
          </a:p>
        </p:txBody>
      </p:sp>
      <p:sp>
        <p:nvSpPr>
          <p:cNvPr id="20" name="Rounded Rectangle 19"/>
          <p:cNvSpPr/>
          <p:nvPr/>
        </p:nvSpPr>
        <p:spPr>
          <a:xfrm>
            <a:off x="6217920" y="3840480"/>
            <a:ext cx="5166360" cy="210312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92240" y="4114800"/>
            <a:ext cx="502920" cy="502920"/>
          </a:xfrm>
          <a:prstGeom prst="ellipse">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lnSpc>
                <a:spcPct val="110000"/>
              </a:lnSpc>
            </a:pPr>
            <a:r>
              <a:rPr lang="ko-KR" sz="1600" b="1">
                <a:solidFill>
                  <a:srgbClr val="FFFFFF"/>
                </a:solidFill>
                <a:latin typeface="맑은 고딕"/>
                <a:ea typeface="맑은 고딕"/>
                <a:cs typeface="맑은 고딕"/>
              </a:rPr>
              <a:t>4</a:t>
            </a:r>
          </a:p>
        </p:txBody>
      </p:sp>
      <p:sp>
        <p:nvSpPr>
          <p:cNvPr id="22" name="TextBox 21"/>
          <p:cNvSpPr txBox="1"/>
          <p:nvPr/>
        </p:nvSpPr>
        <p:spPr>
          <a:xfrm>
            <a:off x="7178040" y="4087368"/>
            <a:ext cx="4023360" cy="365760"/>
          </a:xfrm>
          <a:prstGeom prst="rect">
            <a:avLst/>
          </a:prstGeom>
          <a:noFill/>
        </p:spPr>
        <p:txBody>
          <a:bodyPr wrap="square" lIns="0" tIns="0" rIns="0" bIns="0" anchor="t">
            <a:spAutoFit/>
          </a:bodyPr>
          <a:lstStyle/>
          <a:p>
            <a:pPr algn="l">
              <a:lnSpc>
                <a:spcPct val="115000"/>
              </a:lnSpc>
              <a:spcAft>
                <a:spcPts val="0"/>
              </a:spcAft>
            </a:pPr>
            <a:r>
              <a:rPr lang="ko-KR" sz="1700" b="1">
                <a:solidFill>
                  <a:srgbClr val="1F2D3D"/>
                </a:solidFill>
                <a:latin typeface="맑은 고딕"/>
                <a:ea typeface="맑은 고딕"/>
                <a:cs typeface="맑은 고딕"/>
              </a:rPr>
              <a:t>하드웨어가 불안정하다</a:t>
            </a:r>
          </a:p>
        </p:txBody>
      </p:sp>
      <p:sp>
        <p:nvSpPr>
          <p:cNvPr id="23" name="TextBox 22"/>
          <p:cNvSpPr txBox="1"/>
          <p:nvPr/>
        </p:nvSpPr>
        <p:spPr>
          <a:xfrm>
            <a:off x="7178040" y="4462272"/>
            <a:ext cx="4023360" cy="320040"/>
          </a:xfrm>
          <a:prstGeom prst="rect">
            <a:avLst/>
          </a:prstGeom>
          <a:noFill/>
        </p:spPr>
        <p:txBody>
          <a:bodyPr wrap="square" lIns="0" tIns="0" rIns="0" bIns="0" anchor="t">
            <a:spAutoFit/>
          </a:bodyPr>
          <a:lstStyle/>
          <a:p>
            <a:pPr algn="l">
              <a:lnSpc>
                <a:spcPct val="115000"/>
              </a:lnSpc>
              <a:spcAft>
                <a:spcPts val="0"/>
              </a:spcAft>
            </a:pPr>
            <a:r>
              <a:rPr lang="ko-KR" sz="1300" b="0">
                <a:solidFill>
                  <a:srgbClr val="6B7480"/>
                </a:solidFill>
                <a:latin typeface="맑은 고딕"/>
                <a:ea typeface="맑은 고딕"/>
                <a:cs typeface="맑은 고딕"/>
              </a:rPr>
              <a:t>모터 입력 1개 미연결, 웹캠 멈춤</a:t>
            </a:r>
          </a:p>
        </p:txBody>
      </p:sp>
      <p:sp>
        <p:nvSpPr>
          <p:cNvPr id="24" name="TextBox 23"/>
          <p:cNvSpPr txBox="1"/>
          <p:nvPr/>
        </p:nvSpPr>
        <p:spPr>
          <a:xfrm>
            <a:off x="7178040" y="4937760"/>
            <a:ext cx="4023360" cy="822960"/>
          </a:xfrm>
          <a:prstGeom prst="rect">
            <a:avLst/>
          </a:prstGeom>
          <a:noFill/>
        </p:spPr>
        <p:txBody>
          <a:bodyPr wrap="square" lIns="0" tIns="0" rIns="0" bIns="0" anchor="t">
            <a:spAutoFit/>
          </a:bodyPr>
          <a:lstStyle/>
          <a:p>
            <a:pPr algn="l">
              <a:lnSpc>
                <a:spcPct val="120000"/>
              </a:lnSpc>
              <a:spcAft>
                <a:spcPts val="0"/>
              </a:spcAft>
            </a:pPr>
            <a:r>
              <a:rPr lang="ko-KR" sz="1500" b="1">
                <a:solidFill>
                  <a:srgbClr val="E8742B"/>
                </a:solidFill>
                <a:latin typeface="맑은 고딕"/>
                <a:ea typeface="맑은 고딕"/>
                <a:cs typeface="맑은 고딕"/>
              </a:rPr>
              <a:t>→ </a:t>
            </a:r>
            <a:r>
              <a:rPr lang="ko-KR" sz="1500" b="0">
                <a:solidFill>
                  <a:srgbClr val="2B333D"/>
                </a:solidFill>
                <a:latin typeface="맑은 고딕"/>
                <a:ea typeface="맑은 고딕"/>
                <a:cs typeface="맑은 고딕"/>
              </a:rPr>
              <a:t>모터 드라이버 배선 확정, 웹캠 자동 재연결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058400" cy="640080"/>
          </a:xfrm>
          <a:prstGeom prst="rect">
            <a:avLst/>
          </a:prstGeom>
          <a:noFill/>
        </p:spPr>
        <p:txBody>
          <a:bodyPr wrap="square" lIns="0" tIns="0" rIns="0" bIns="0" anchor="t">
            <a:spAutoFit/>
          </a:bodyPr>
          <a:lstStyle/>
          <a:p>
            <a:pPr algn="l">
              <a:lnSpc>
                <a:spcPct val="115000"/>
              </a:lnSpc>
              <a:spcAft>
                <a:spcPts val="0"/>
              </a:spcAft>
            </a:pPr>
            <a:r>
              <a:rPr lang="ko-KR" sz="3000" b="1">
                <a:solidFill>
                  <a:srgbClr val="E8742B"/>
                </a:solidFill>
                <a:latin typeface="맑은 고딕"/>
                <a:ea typeface="맑은 고딕"/>
                <a:cs typeface="맑은 고딕"/>
              </a:rPr>
              <a:t>08  </a:t>
            </a:r>
            <a:r>
              <a:rPr lang="ko-KR" sz="3000" b="1">
                <a:solidFill>
                  <a:srgbClr val="1F2D3D"/>
                </a:solidFill>
                <a:latin typeface="맑은 고딕"/>
                <a:ea typeface="맑은 고딕"/>
                <a:cs typeface="맑은 고딕"/>
              </a:rPr>
              <a:t>프로젝트 소감</a:t>
            </a:r>
          </a:p>
        </p:txBody>
      </p:sp>
      <p:sp>
        <p:nvSpPr>
          <p:cNvPr id="3" name="TextBox 2"/>
          <p:cNvSpPr txBox="1"/>
          <p:nvPr/>
        </p:nvSpPr>
        <p:spPr>
          <a:xfrm>
            <a:off x="731520" y="1234440"/>
            <a:ext cx="10058400" cy="280416"/>
          </a:xfrm>
          <a:prstGeom prst="rect">
            <a:avLst/>
          </a:prstGeom>
          <a:noFill/>
        </p:spPr>
        <p:txBody>
          <a:bodyPr wrap="square" lIns="0" tIns="0" rIns="0" bIns="0" anchor="t">
            <a:spAutoFit/>
          </a:bodyPr>
          <a:lstStyle/>
          <a:p>
            <a:pPr algn="l">
              <a:lnSpc>
                <a:spcPct val="115000"/>
              </a:lnSpc>
              <a:spcAft>
                <a:spcPts val="0"/>
              </a:spcAft>
            </a:pPr>
            <a:r>
              <a:rPr lang="ko-KR" sz="1600" b="1">
                <a:solidFill>
                  <a:srgbClr val="E8742B"/>
                </a:solidFill>
                <a:latin typeface="맑은 고딕"/>
                <a:ea typeface="맑은 고딕"/>
                <a:cs typeface="맑은 고딕"/>
              </a:rPr>
              <a:t>팀 소감</a:t>
            </a:r>
            <a:endParaRPr lang="ko-KR" sz="1600" b="1">
              <a:solidFill>
                <a:srgbClr val="E8742B"/>
              </a:solidFill>
              <a:latin typeface="맑은 고딕"/>
              <a:ea typeface="맑은 고딕"/>
              <a:cs typeface="맑은 고딕"/>
            </a:endParaRPr>
          </a:p>
        </p:txBody>
      </p:sp>
      <p:sp>
        <p:nvSpPr>
          <p:cNvPr id="4" name="TextBox 3"/>
          <p:cNvSpPr txBox="1"/>
          <p:nvPr/>
        </p:nvSpPr>
        <p:spPr>
          <a:xfrm>
            <a:off x="731520" y="1874519"/>
            <a:ext cx="10698480" cy="3931920"/>
          </a:xfrm>
          <a:prstGeom prst="rect">
            <a:avLst/>
          </a:prstGeom>
          <a:noFill/>
        </p:spPr>
        <p:txBody>
          <a:bodyPr wrap="square" lIns="0" tIns="0" rIns="0" bIns="0" anchor="t">
            <a:spAutoFit/>
          </a:bodyPr>
          <a:lstStyle/>
          <a:p>
            <a:pPr algn="l">
              <a:lnSpc>
                <a:spcPct val="135000"/>
              </a:lnSpc>
              <a:spcAft>
                <a:spcPts val="1200"/>
              </a:spcAft>
            </a:pPr>
            <a:r>
              <a:rPr lang="ko-KR" sz="1600" b="0">
                <a:solidFill>
                  <a:srgbClr val="2B333D"/>
                </a:solidFill>
                <a:latin typeface="맑은 고딕"/>
                <a:ea typeface="맑은 고딕"/>
                <a:cs typeface="맑은 고딕"/>
              </a:rPr>
              <a:t>처음에는 카메라로 얼굴만 찾으면 금방 끝날 줄 알았습니다. 막상 Jetson에 올려 보니 코드보다 배선, 실행 위치, 뒤에서 돌고 있던 프로그램 같은 곳에서 문제가 더 많이 나왔습니다.</a:t>
            </a:r>
          </a:p>
          <a:p>
            <a:pPr algn="l">
              <a:lnSpc>
                <a:spcPct val="135000"/>
              </a:lnSpc>
              <a:spcAft>
                <a:spcPts val="1200"/>
              </a:spcAft>
            </a:pPr>
            <a:r>
              <a:rPr lang="ko-KR" sz="1600" b="0">
                <a:solidFill>
                  <a:srgbClr val="2B333D"/>
                </a:solidFill>
                <a:latin typeface="맑은 고딕"/>
                <a:ea typeface="맑은 고딕"/>
                <a:cs typeface="맑은 고딕"/>
              </a:rPr>
              <a:t>가장 기억에 남는 건 벨트가 거꾸로 돌던 일입니다. 한참 코드만 보다가 상태별 핀 값을 표로 그려 보고서야 배선 문제라는 걸 알았고, 그 뒤로는 고치기 전에 원인부터 확인하게 됐습니다.</a:t>
            </a:r>
          </a:p>
          <a:p>
            <a:pPr algn="l">
              <a:lnSpc>
                <a:spcPct val="135000"/>
              </a:lnSpc>
              <a:spcAft>
                <a:spcPts val="1200"/>
              </a:spcAft>
            </a:pPr>
            <a:r>
              <a:rPr lang="ko-KR" sz="1600" b="0">
                <a:solidFill>
                  <a:srgbClr val="2B333D"/>
                </a:solidFill>
                <a:latin typeface="맑은 고딕"/>
                <a:ea typeface="맑은 고딕"/>
                <a:cs typeface="맑은 고딕"/>
              </a:rPr>
              <a:t>현장 정확도가 29%로 나왔을 때는 아쉬웠습니다. 그래도 숫자를 그대로 두고 원인을 나눠 보니 다음에 할 일이 오히려 분명해졌습니다.</a:t>
            </a:r>
          </a:p>
          <a:p>
            <a:pPr algn="l">
              <a:lnSpc>
                <a:spcPct val="135000"/>
              </a:lnSpc>
              <a:spcAft>
                <a:spcPts val="1200"/>
              </a:spcAft>
            </a:pPr>
            <a:r>
              <a:rPr lang="ko-KR" sz="1600" b="0">
                <a:solidFill>
                  <a:srgbClr val="2B333D"/>
                </a:solidFill>
                <a:latin typeface="맑은 고딕"/>
                <a:ea typeface="맑은 고딕"/>
                <a:cs typeface="맑은 고딕"/>
              </a:rPr>
              <a:t>역할을 나누고 하나로 합치는 과정이 쉽지 않았는데, 끝까지 같이 해 준 팀원들 덕분에 실제로 움직이는 결과물을 만들 수 있었습니다.</a:t>
            </a:r>
          </a:p>
        </p:txBody>
      </p:sp>
      <p:sp>
        <p:nvSpPr>
          <p:cNvPr id="5" name="TextBox 4"/>
          <p:cNvSpPr txBox="1"/>
          <p:nvPr/>
        </p:nvSpPr>
        <p:spPr>
          <a:xfrm>
            <a:off x="731520" y="5989320"/>
            <a:ext cx="5486400" cy="457200"/>
          </a:xfrm>
          <a:prstGeom prst="rect">
            <a:avLst/>
          </a:prstGeom>
          <a:noFill/>
        </p:spPr>
        <p:txBody>
          <a:bodyPr wrap="square" lIns="0" tIns="0" rIns="0" bIns="0" anchor="t">
            <a:spAutoFit/>
          </a:bodyPr>
          <a:lstStyle/>
          <a:p>
            <a:pPr algn="l">
              <a:lnSpc>
                <a:spcPct val="115000"/>
              </a:lnSpc>
              <a:spcAft>
                <a:spcPts val="0"/>
              </a:spcAft>
            </a:pPr>
            <a:r>
              <a:rPr lang="ko-KR" sz="2000" b="1">
                <a:solidFill>
                  <a:srgbClr val="E8742B"/>
                </a:solidFill>
                <a:latin typeface="맑은 고딕"/>
                <a:ea typeface="맑은 고딕"/>
                <a:cs typeface="맑은 고딕"/>
              </a:rPr>
              <a:t>감사합니다</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Application>DeckCraft</Application>
  <Slides>11</Slides>
  <Notes>10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description>generated using python-pptx</dc:description>
  <cp:lastModifiedBy>Steve Canny</cp:lastModifiedBy>
  <cp:revision>1</cp:revision>
  <dcterms:created xsi:type="dcterms:W3CDTF">2013-01-27T09:14:16Z</dcterms:created>
  <dcterms:modified xsi:type="dcterms:W3CDTF">2013-01-27T09:15:58Z</dcterms:modified>
</cp:coreProperties>
</file>