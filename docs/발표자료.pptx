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1"/>
        <c:ser>
          <c:idx val="0"/>
          <c:order val="0"/>
          <c:tx>
            <c:strRef>
              <c:f>Sheet1!$B$1</c:f>
              <c:strCache>
                <c:ptCount val="1"/>
                <c:pt idx="0">
                  <c:v>상태 깜빡임</c:v>
                </c:pt>
              </c:strCache>
            </c:strRef>
          </c:tx>
          <c:invertIfNegative val="1"/>
          <c:dPt>
            <c:idx val="0"/>
            <c:invertIfNegative val="1"/>
            <c:bubble3D val="0"/>
            <c:spPr>
              <a:solidFill>
                <a:srgbClr val="A9B1BB"/>
              </a:solidFill>
            </c:spPr>
            <c:extLst>
              <c:ext xmlns:c16="http://schemas.microsoft.com/office/drawing/2014/chart" uri="{C3380CC4-5D6E-409C-BE32-E72D297353CC}">
                <c16:uniqueId val="{00000001-FFEE-4A49-8046-EB0E21F694BC}"/>
              </c:ext>
            </c:extLst>
          </c:dPt>
          <c:dPt>
            <c:idx val="1"/>
            <c:invertIfNegative val="1"/>
            <c:bubble3D val="0"/>
            <c:spPr>
              <a:solidFill>
                <a:srgbClr val="E8742B"/>
              </a:solidFill>
            </c:spPr>
            <c:extLst>
              <c:ext xmlns:c16="http://schemas.microsoft.com/office/drawing/2014/chart" uri="{C3380CC4-5D6E-409C-BE32-E72D297353CC}">
                <c16:uniqueId val="{00000003-FFEE-4A49-8046-EB0E21F694BC}"/>
              </c:ext>
            </c:extLst>
          </c:dPt>
          <c:dLbls>
            <c:numFmt formatCode="0.0&quot;%&quot;" sourceLinked="0"/>
            <c:spPr>
              <a:noFill/>
              <a:ln>
                <a:noFill/>
              </a:ln>
              <a:effectLst/>
            </c:spPr>
            <c:txPr>
              <a:bodyPr/>
              <a:lstStyle/>
              <a:p>
                <a:pPr>
                  <a:defRPr sz="1800" b="1">
                    <a:solidFill>
                      <a:srgbClr val="1F2D3D"/>
                    </a:solidFill>
                    <a:latin typeface="맑은 고딕"/>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필터 전</c:v>
                </c:pt>
                <c:pt idx="1">
                  <c:v>필터 후</c:v>
                </c:pt>
              </c:strCache>
            </c:strRef>
          </c:cat>
          <c:val>
            <c:numRef>
              <c:f>Sheet1!$B$2:$B$3</c:f>
              <c:numCache>
                <c:formatCode>General</c:formatCode>
                <c:ptCount val="2"/>
                <c:pt idx="0">
                  <c:v>81.5</c:v>
                </c:pt>
                <c:pt idx="1">
                  <c:v>13.5</c:v>
                </c:pt>
              </c:numCache>
            </c:numRef>
          </c:val>
          <c:extLst>
            <c:ext xmlns:c16="http://schemas.microsoft.com/office/drawing/2014/chart" uri="{C3380CC4-5D6E-409C-BE32-E72D297353CC}">
              <c16:uniqueId val="{00000004-FFEE-4A49-8046-EB0E21F694BC}"/>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0"/>
            </a:solidFill>
          </a:ln>
        </c:spPr>
        <c:txPr>
          <a:bodyPr/>
          <a:lstStyle/>
          <a:p>
            <a:pPr>
              <a:defRPr sz="1400">
                <a:solidFill>
                  <a:srgbClr val="2B333D"/>
                </a:solidFill>
                <a:latin typeface="맑은 고딕"/>
              </a:defRPr>
            </a:pPr>
            <a:endParaRPr lang="ko-KR"/>
          </a:p>
        </c:txPr>
        <c:crossAx val="-2113994440"/>
        <c:crosses val="autoZero"/>
        <c:auto val="1"/>
        <c:lblAlgn val="ctr"/>
        <c:lblOffset val="100"/>
        <c:noMultiLvlLbl val="0"/>
      </c:catAx>
      <c:valAx>
        <c:axId val="-2113994440"/>
        <c:scaling>
          <c:orientation val="minMax"/>
          <c:max val="97.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1"/>
        <c:ser>
          <c:idx val="0"/>
          <c:order val="0"/>
          <c:tx>
            <c:strRef>
              <c:f>Sheet1!$B$1</c:f>
              <c:strCache>
                <c:ptCount val="1"/>
                <c:pt idx="0">
                  <c:v>CPU 사용률</c:v>
                </c:pt>
              </c:strCache>
            </c:strRef>
          </c:tx>
          <c:invertIfNegative val="1"/>
          <c:dPt>
            <c:idx val="0"/>
            <c:invertIfNegative val="1"/>
            <c:bubble3D val="0"/>
            <c:spPr>
              <a:solidFill>
                <a:srgbClr val="A9B1BB"/>
              </a:solidFill>
            </c:spPr>
            <c:extLst>
              <c:ext xmlns:c16="http://schemas.microsoft.com/office/drawing/2014/chart" uri="{C3380CC4-5D6E-409C-BE32-E72D297353CC}">
                <c16:uniqueId val="{00000001-D9BC-4B50-A40B-57DCB97822A4}"/>
              </c:ext>
            </c:extLst>
          </c:dPt>
          <c:dPt>
            <c:idx val="1"/>
            <c:invertIfNegative val="1"/>
            <c:bubble3D val="0"/>
            <c:spPr>
              <a:solidFill>
                <a:srgbClr val="E8742B"/>
              </a:solidFill>
            </c:spPr>
            <c:extLst>
              <c:ext xmlns:c16="http://schemas.microsoft.com/office/drawing/2014/chart" uri="{C3380CC4-5D6E-409C-BE32-E72D297353CC}">
                <c16:uniqueId val="{00000003-D9BC-4B50-A40B-57DCB97822A4}"/>
              </c:ext>
            </c:extLst>
          </c:dPt>
          <c:dLbls>
            <c:numFmt formatCode="0&quot;%&quot;" sourceLinked="0"/>
            <c:spPr>
              <a:noFill/>
              <a:ln>
                <a:noFill/>
              </a:ln>
              <a:effectLst/>
            </c:spPr>
            <c:txPr>
              <a:bodyPr/>
              <a:lstStyle/>
              <a:p>
                <a:pPr>
                  <a:defRPr sz="1800" b="1">
                    <a:solidFill>
                      <a:srgbClr val="1F2D3D"/>
                    </a:solidFill>
                    <a:latin typeface="맑은 고딕"/>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OpenCV (현재)</c:v>
                </c:pt>
                <c:pt idx="1">
                  <c:v>TensorRT FP16</c:v>
                </c:pt>
              </c:strCache>
            </c:strRef>
          </c:cat>
          <c:val>
            <c:numRef>
              <c:f>Sheet1!$B$2:$B$3</c:f>
              <c:numCache>
                <c:formatCode>General</c:formatCode>
                <c:ptCount val="2"/>
                <c:pt idx="0">
                  <c:v>558</c:v>
                </c:pt>
                <c:pt idx="1">
                  <c:v>65</c:v>
                </c:pt>
              </c:numCache>
            </c:numRef>
          </c:val>
          <c:extLst>
            <c:ext xmlns:c16="http://schemas.microsoft.com/office/drawing/2014/chart" uri="{C3380CC4-5D6E-409C-BE32-E72D297353CC}">
              <c16:uniqueId val="{00000004-D9BC-4B50-A40B-57DCB97822A4}"/>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0"/>
            </a:solidFill>
          </a:ln>
        </c:spPr>
        <c:txPr>
          <a:bodyPr/>
          <a:lstStyle/>
          <a:p>
            <a:pPr>
              <a:defRPr sz="1400">
                <a:solidFill>
                  <a:srgbClr val="2B333D"/>
                </a:solidFill>
                <a:latin typeface="맑은 고딕"/>
              </a:defRPr>
            </a:pPr>
            <a:endParaRPr lang="ko-KR"/>
          </a:p>
        </c:txPr>
        <c:crossAx val="-2113994440"/>
        <c:crosses val="autoZero"/>
        <c:auto val="1"/>
        <c:lblAlgn val="ctr"/>
        <c:lblOffset val="100"/>
        <c:noMultiLvlLbl val="0"/>
      </c:catAx>
      <c:valAx>
        <c:axId val="-2113994440"/>
        <c:scaling>
          <c:orientation val="minMax"/>
          <c:max val="669.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8940" cy="457200"/>
          </a:xfrm>
          <a:prstGeom prst="rect">
            <a:avLst/>
          </a:prstGeom>
        </p:spPr>
        <p:txBody>
          <a:bodyPr/>
          <a:lstStyle/>
          <a:p>
            <a:endParaRPr/>
          </a:p>
        </p:txBody>
      </p:sp>
      <p:sp>
        <p:nvSpPr>
          <p:cNvPr id="3" name="Date Placeholder 2"/>
          <p:cNvSpPr>
            <a:spLocks noGrp="1"/>
          </p:cNvSpPr>
          <p:nvPr>
            <p:ph type="dt" sz="quarter" idx="1"/>
          </p:nvPr>
        </p:nvSpPr>
        <p:spPr>
          <a:xfrm>
            <a:off x="3909060" y="0"/>
            <a:ext cx="2948940" cy="457200"/>
          </a:xfrm>
          <a:prstGeom prst="rect">
            <a:avLst/>
          </a:prstGeom>
        </p:spPr>
        <p:txBody>
          <a:bodyPr/>
          <a:lstStyle/>
          <a:p>
            <a:endParaRPr/>
          </a:p>
        </p:txBody>
      </p:sp>
      <p:sp>
        <p:nvSpPr>
          <p:cNvPr id="4" name="Slide Image Placeholder 3"/>
          <p:cNvSpPr>
            <a:spLocks noGrp="1" noRot="1" noChangeAspect="1"/>
          </p:cNvSpPr>
          <p:nvPr>
            <p:ph type="sldImg" idx="2"/>
          </p:nvPr>
        </p:nvSpPr>
        <p:spPr>
          <a:xfrm>
            <a:off x="857250" y="1143000"/>
            <a:ext cx="5143500" cy="3429000"/>
          </a:xfrm>
          <a:prstGeom prst="rect">
            <a:avLst/>
          </a:prstGeom>
          <a:noFill/>
          <a:ln w="12700">
            <a:solidFill>
              <a:srgbClr val="000000"/>
            </a:solidFill>
          </a:ln>
        </p:spPr>
      </p:sp>
      <p:sp>
        <p:nvSpPr>
          <p:cNvPr id="5" name="Notes Placeholder 4"/>
          <p:cNvSpPr>
            <a:spLocks noGrp="1"/>
          </p:cNvSpPr>
          <p:nvPr>
            <p:ph type="body" sz="quarter" idx="3"/>
          </p:nvPr>
        </p:nvSpPr>
        <p:spPr>
          <a:xfrm>
            <a:off x="685800" y="4846320"/>
            <a:ext cx="5486400" cy="3291840"/>
          </a:xfrm>
          <a:prstGeom prst="rect">
            <a:avLst/>
          </a:prstGeom>
        </p:spPr>
        <p:txBody>
          <a:bodyPr/>
          <a:lstStyle/>
          <a:p>
            <a:r>
              <a:t>Click to edit Master text styles</a:t>
            </a:r>
          </a:p>
        </p:txBody>
      </p:sp>
      <p:sp>
        <p:nvSpPr>
          <p:cNvPr id="6" name="Footer Placeholder 5"/>
          <p:cNvSpPr>
            <a:spLocks noGrp="1"/>
          </p:cNvSpPr>
          <p:nvPr>
            <p:ph type="ftr" sz="quarter" idx="4"/>
          </p:nvPr>
        </p:nvSpPr>
        <p:spPr>
          <a:xfrm>
            <a:off x="0" y="8686800"/>
            <a:ext cx="2948940" cy="457200"/>
          </a:xfrm>
          <a:prstGeom prst="rect">
            <a:avLst/>
          </a:prstGeom>
        </p:spPr>
        <p:txBody>
          <a:bodyPr/>
          <a:lstStyle/>
          <a:p>
            <a:endParaRPr/>
          </a:p>
        </p:txBody>
      </p:sp>
      <p:sp>
        <p:nvSpPr>
          <p:cNvPr id="7" name="Slide Number Placeholder 6"/>
          <p:cNvSpPr>
            <a:spLocks noGrp="1"/>
          </p:cNvSpPr>
          <p:nvPr>
            <p:ph type="sldNum" sz="quarter" idx="5"/>
          </p:nvPr>
        </p:nvSpPr>
        <p:spPr>
          <a:xfrm>
            <a:off x="3909060" y="8686800"/>
            <a:ext cx="2948940" cy="4572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a:lvl2pPr marL="457200" algn="l">
      <a:defRPr sz="1200">
        <a:solidFill>
          <a:schemeClr val="tx1"/>
        </a:solidFill>
        <a:latin typeface="+mn-lt"/>
      </a:defRPr>
    </a:lvl2pPr>
    <a:lvl3pPr marL="914400" algn="l">
      <a:defRPr sz="1200">
        <a:solidFill>
          <a:schemeClr val="tx1"/>
        </a:solidFill>
        <a:latin typeface="+mn-lt"/>
      </a:defRPr>
    </a:lvl3pPr>
    <a:lvl4pPr marL="1371600" algn="l">
      <a:defRPr sz="1200">
        <a:solidFill>
          <a:schemeClr val="tx1"/>
        </a:solidFill>
        <a:latin typeface="+mn-lt"/>
      </a:defRPr>
    </a:lvl4pPr>
    <a:lvl5pPr marL="1828800" algn="l">
      <a:defRPr sz="1200">
        <a:solidFill>
          <a:schemeClr val="tx1"/>
        </a:solidFill>
        <a:latin typeface="+mn-lt"/>
      </a:defRPr>
    </a:lvl5pPr>
    <a:lvl6pPr marL="2286000" algn="l">
      <a:defRPr sz="1200">
        <a:solidFill>
          <a:schemeClr val="tx1"/>
        </a:solidFill>
        <a:latin typeface="+mn-lt"/>
      </a:defRPr>
    </a:lvl6pPr>
    <a:lvl7pPr marL="2743200" algn="l">
      <a:defRPr sz="1200">
        <a:solidFill>
          <a:schemeClr val="tx1"/>
        </a:solidFill>
        <a:latin typeface="+mn-lt"/>
      </a:defRPr>
    </a:lvl7pPr>
    <a:lvl8pPr marL="3200400" algn="l">
      <a:defRPr sz="1200">
        <a:solidFill>
          <a:schemeClr val="tx1"/>
        </a:solidFill>
        <a:latin typeface="+mn-lt"/>
      </a:defRPr>
    </a:lvl8pPr>
    <a:lvl9pPr marL="3657600" algn="l">
      <a:defRPr sz="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Dokkab 팀입니다. 저희는 Jetson Orin Nano와 웹캠으로 컨베이어에 다가오는 작업자를 감지하고, 위험 거리에서는 벨트를 자동으로 멈추는 시스템을 만들었습니다.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팀 소개입니다. 저는 팀장으로 전체 구조와 상태 판단, 대시보드와 기록, 통합을 맡았고, 송태원 팀원은 회로와 Jetson 보드 연결, 장호영 팀원은 비전 AI 검출과 거리 측정을 맡았습니다.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컨베이어는 계속 움직이기 때문에, 작업자가 가까이 갔을 때 벨트가 그대로 돌면 끼임이나 충돌 사고가 날 수 있습니다. 그래서 다가오는 작업자를 자동으로 감지하고, 가까워지면 경고, 위험하면 정지, 그리고 그 기록을 남기는 것을 목표로 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시스템 구성입니다. 벨트 끝의 USB 웹캠이 다가오는 작업자의 얼굴을 찾고, Jetson이 얼굴 크기로 거리를 계산합니다. 200cm 안이면 노랑으로 경고하고, 50cm 안으로 들어오면 빨강 경고등과 함께 벨트를 멈춥니다. 같은 상태가 대시보드에도 표시되고 DB에 기록됩니다.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모델은 OpenCV의 YuNet을 썼습니다. 가볍고, 학습 없이 바로 쓸 수 있고, 얼굴 상자 크기로 거리를 계산하기 좋기 때문입니다. 공개 검증에서 AP 0.834이고, Jetson에서 카메라까지 포함해 초당 22프레임으로 돌아갑니다.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200cm 밖이면 정상으로 벨트가 돌고, 50에서 200cm 사이면 노랑 LED로 경고하지만 벨트는 계속 돕니다. 50cm 안으로 들어오면 빨강 LED와 함께 벨트를 멈추고 정지 시각과 사유를 DB에 남깁니다.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실제 시연 영상입니다. 왼쪽은 대시보드, 오른쪽은 실제 LED와 벨트입니다. 다가가면 노랑, 더 가까이 가면 빨강과 함께 벨트가 멈추고, 물러나면 다시 돌아갑니다.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1143000"/>
            <a:ext cx="6096000" cy="3429000"/>
          </a:xfrm>
        </p:spPr>
      </p:sp>
      <p:sp>
        <p:nvSpPr>
          <p:cNvPr id="3" name="Notes Placeholder 2"/>
          <p:cNvSpPr>
            <a:spLocks noGrp="1"/>
          </p:cNvSpPr>
          <p:nvPr>
            <p:ph type="body" idx="1"/>
          </p:nvPr>
        </p:nvSpPr>
        <p:spPr/>
        <p:txBody>
          <a:bodyPr/>
          <a:lstStyle/>
          <a:p>
            <a:r>
              <a:t>성능 개선입니다. 처음에는 상태 전환의 81.5%가 1초 안에 다시 뒤집혔는데, 깜빡임 필터를 넣은 뒤 13.5%로 줄었습니다. 또 모델을 TensorRT FP16으로 바꿔 보니 CPU 사용이 558%에서 65%로 줄고 검출도 1.23배 빨라졌습니다. 이건 메인 프로그램에는 아직 적용하지 않았습니다.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개선 방향입니다. 얼굴이 안 보이면 놓치는 문제는 사람 전체 검출 모델로 보완하고, 거리가 짧게 나오는 문제는 줄자로 다시 보정하겠습니다. 만들어 둔 TensorRT 엔진은 메인 프로그램에 적용하고, 배선과 웹캠도 안정화할 계획입니다.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소감과 함께 마무리하겠습니다. 들어 주셔서 감사합니다.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F395B21-E8EE-4505-87E0-7B7F2C3DBBD0}" type="datetimeFigureOut">
              <a:rPr lang="en-US"/>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DC6D5D-A00E-4AA9-84F2-364CBECE0EEA}"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E609E6-1126-4CCC-8F95-892B304C12E9}" type="datetimeFigureOut">
              <a:rPr lang="en-US"/>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D0F9E-EF7E-4C26-8662-25A73F2263DD}"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a:t>Click to edit Master text styles</a:t>
            </a:r>
          </a:p>
        </p:txBody>
      </p:sp>
      <p:sp>
        <p:nvSpPr>
          <p:cNvPr id="4" name="Date Placeholder 3"/>
          <p:cNvSpPr>
            <a:spLocks noGrp="1"/>
          </p:cNvSpPr>
          <p:nvPr>
            <p:ph type="dt" sz="half" idx="10"/>
          </p:nvPr>
        </p:nvSpPr>
        <p:spPr/>
        <p:txBody>
          <a:bodyPr/>
          <a:lstStyle/>
          <a:p>
            <a:fld id="{B43082BF-5467-4883-8896-824F7369BC9A}" type="datetimeFigureOut">
              <a:rPr lang="en-US"/>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C18080-B33E-4073-8615-72D8F5AE8F78}"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3A66248-C912-41CA-84D9-08E1C7982093}" type="datetimeFigureOut">
              <a:rPr lang="en-US"/>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5CB9569-04AF-4288-8880-64CE52ABE7A3}"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stStyle>
          <a:p>
            <a:r>
              <a:rPr lang="en-US"/>
              <a:t>Click to edit Master title style</a:t>
            </a:r>
          </a:p>
        </p:txBody>
      </p:sp>
      <p:sp>
        <p:nvSpPr>
          <p:cNvPr id="3" name="Text Placeholder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4" name="Content Placeholder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6" name="Content Placeholder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4EFB636-F4D9-4299-85F9-44D23E27C49C}" type="datetimeFigureOut">
              <a:rPr lang="en-US"/>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F533E07-937E-4FED-8300-891295843456}"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5CAC346-E4DF-45C0-848B-E2AC5513E0D5}" type="datetimeFigureOut">
              <a:rPr lang="en-US"/>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28B55B-FA15-48BA-860D-0231187503D9}"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20B29E-DC2A-4D67-887F-3BE2DC8489D6}" type="datetimeFigureOut">
              <a:rPr lang="en-US"/>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E0EBC0-ADA9-4FA7-889C-9287646BC794}"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10"/>
          </p:nvPr>
        </p:nvSpPr>
        <p:spPr/>
        <p:txBody>
          <a:bodyPr/>
          <a:lstStyle/>
          <a:p>
            <a:fld id="{AFC563BD-7186-488E-816C-8F41FA24179F}" type="datetimeFigureOut">
              <a:rPr lang="en-US"/>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A25AB8-FB3A-479C-8780-0B7E5F586C0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10"/>
          </p:nvPr>
        </p:nvSpPr>
        <p:spPr/>
        <p:txBody>
          <a:bodyPr/>
          <a:lstStyle/>
          <a:p>
            <a:fld id="{1EE02C48-70E8-4C8D-81F4-17FB598144B8}" type="datetimeFigureOut">
              <a:rPr lang="en-US"/>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EFC29A-6C4F-4141-86E3-1A3E2D58E3A2}"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602B83-4DFE-444B-8222-D5FF1EA6B44C}" type="datetimeFigureOut">
              <a:rPr lang="en-US"/>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19C649-D3E0-46CB-87C1-67136E4226A6}"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a:prstGeom prst="rect">
            <a:avLst/>
          </a:prstGeom>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6FA40F9-1701-4EB4-806D-4ED861E7A003}" type="datetimeFigureOut">
              <a:rPr lang="en-US"/>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EBE78A-EB3E-401E-81B5-D7F53201DAF3}"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Theme">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0ADADCF-DC63-475D-8D69-AEBF4EDF3BBC}" type="datetimeFigureOut">
              <a:rPr lang="en-US"/>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3D6AB1-0FDA-49F1-8390-8828CE9E6676}"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1662684"/>
            <a:ext cx="7315200" cy="914400"/>
          </a:xfrm>
          <a:prstGeom prst="rect">
            <a:avLst/>
          </a:prstGeom>
          <a:noFill/>
        </p:spPr>
        <p:txBody>
          <a:bodyPr wrap="square" lIns="0" tIns="0" rIns="0" bIns="0" anchor="t">
            <a:spAutoFit/>
          </a:bodyPr>
          <a:lstStyle/>
          <a:p>
            <a:pPr algn="l">
              <a:lnSpc>
                <a:spcPct val="115000"/>
              </a:lnSpc>
              <a:spcAft>
                <a:spcPts val="0"/>
              </a:spcAft>
            </a:pPr>
            <a:r>
              <a:rPr lang="ko-KR" sz="5400" b="1">
                <a:solidFill>
                  <a:srgbClr val="E8742B"/>
                </a:solidFill>
                <a:latin typeface="맑은 고딕"/>
                <a:ea typeface="맑은 고딕"/>
                <a:cs typeface="맑은 고딕"/>
              </a:rPr>
              <a:t>Dokkab</a:t>
            </a:r>
          </a:p>
        </p:txBody>
      </p:sp>
      <p:sp>
        <p:nvSpPr>
          <p:cNvPr id="3" name="TextBox 2"/>
          <p:cNvSpPr txBox="1"/>
          <p:nvPr/>
        </p:nvSpPr>
        <p:spPr>
          <a:xfrm>
            <a:off x="731520" y="2331720"/>
            <a:ext cx="10058400" cy="245364"/>
          </a:xfrm>
          <a:prstGeom prst="rect">
            <a:avLst/>
          </a:prstGeom>
          <a:noFill/>
        </p:spPr>
        <p:txBody>
          <a:bodyPr wrap="square" lIns="0" tIns="0" rIns="0" bIns="0" anchor="t">
            <a:spAutoFit/>
          </a:bodyPr>
          <a:lstStyle/>
          <a:p>
            <a:pPr algn="l">
              <a:lnSpc>
                <a:spcPct val="115000"/>
              </a:lnSpc>
              <a:spcAft>
                <a:spcPts val="0"/>
              </a:spcAft>
            </a:pPr>
            <a:endParaRPr lang="ko-KR" sz="1400" b="0">
              <a:solidFill>
                <a:srgbClr val="6B7480"/>
              </a:solidFill>
              <a:latin typeface="맑은 고딕"/>
              <a:ea typeface="맑은 고딕"/>
              <a:cs typeface="맑은 고딕"/>
            </a:endParaRPr>
          </a:p>
        </p:txBody>
      </p:sp>
      <p:sp>
        <p:nvSpPr>
          <p:cNvPr id="4" name="TextBox 3"/>
          <p:cNvSpPr txBox="1"/>
          <p:nvPr/>
        </p:nvSpPr>
        <p:spPr>
          <a:xfrm>
            <a:off x="731520" y="2834640"/>
            <a:ext cx="10515600" cy="1554480"/>
          </a:xfrm>
          <a:prstGeom prst="rect">
            <a:avLst/>
          </a:prstGeom>
          <a:noFill/>
        </p:spPr>
        <p:txBody>
          <a:bodyPr wrap="square" lIns="0" tIns="0" rIns="0" bIns="0" anchor="t">
            <a:spAutoFit/>
          </a:bodyPr>
          <a:lstStyle/>
          <a:p>
            <a:pPr algn="l">
              <a:lnSpc>
                <a:spcPct val="110000"/>
              </a:lnSpc>
              <a:spcAft>
                <a:spcPts val="0"/>
              </a:spcAft>
            </a:pPr>
            <a:r>
              <a:rPr lang="ko-KR" sz="4000" b="1">
                <a:solidFill>
                  <a:srgbClr val="1F2D3D"/>
                </a:solidFill>
                <a:latin typeface="맑은 고딕"/>
                <a:ea typeface="맑은 고딕"/>
                <a:cs typeface="맑은 고딕"/>
              </a:rPr>
              <a:t>비전 AI 기반 컨베이어</a:t>
            </a:r>
          </a:p>
          <a:p>
            <a:pPr algn="l">
              <a:lnSpc>
                <a:spcPct val="110000"/>
              </a:lnSpc>
              <a:spcAft>
                <a:spcPts val="0"/>
              </a:spcAft>
            </a:pPr>
            <a:r>
              <a:rPr lang="ko-KR" sz="4000" b="1">
                <a:solidFill>
                  <a:srgbClr val="1F2D3D"/>
                </a:solidFill>
                <a:latin typeface="맑은 고딕"/>
                <a:ea typeface="맑은 고딕"/>
                <a:cs typeface="맑은 고딕"/>
              </a:rPr>
              <a:t>작업자 접근 감지 및 안전 알림 시스템</a:t>
            </a:r>
          </a:p>
        </p:txBody>
      </p:sp>
      <p:sp>
        <p:nvSpPr>
          <p:cNvPr id="5" name="TextBox 4"/>
          <p:cNvSpPr txBox="1"/>
          <p:nvPr/>
        </p:nvSpPr>
        <p:spPr>
          <a:xfrm>
            <a:off x="731520" y="4572000"/>
            <a:ext cx="10058400" cy="315468"/>
          </a:xfrm>
          <a:prstGeom prst="rect">
            <a:avLst/>
          </a:prstGeom>
          <a:noFill/>
        </p:spPr>
        <p:txBody>
          <a:bodyPr wrap="square" lIns="0" tIns="0" rIns="0" bIns="0" anchor="t">
            <a:spAutoFit/>
          </a:bodyPr>
          <a:lstStyle/>
          <a:p>
            <a:pPr algn="l">
              <a:lnSpc>
                <a:spcPct val="115000"/>
              </a:lnSpc>
              <a:spcAft>
                <a:spcPts val="0"/>
              </a:spcAft>
            </a:pPr>
            <a:endParaRPr lang="ko-KR" sz="1800" b="0">
              <a:solidFill>
                <a:srgbClr val="6B7480"/>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1F2D3D"/>
                </a:solidFill>
                <a:latin typeface="맑은 고딕"/>
                <a:ea typeface="맑은 고딕"/>
                <a:cs typeface="맑은 고딕"/>
              </a:rPr>
              <a:t>목차</a:t>
            </a:r>
          </a:p>
        </p:txBody>
      </p:sp>
      <p:sp>
        <p:nvSpPr>
          <p:cNvPr id="3" name="TextBox 2"/>
          <p:cNvSpPr txBox="1"/>
          <p:nvPr/>
        </p:nvSpPr>
        <p:spPr>
          <a:xfrm>
            <a:off x="1005840" y="160020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01</a:t>
            </a:r>
          </a:p>
        </p:txBody>
      </p:sp>
      <p:sp>
        <p:nvSpPr>
          <p:cNvPr id="4" name="TextBox 3"/>
          <p:cNvSpPr txBox="1"/>
          <p:nvPr/>
        </p:nvSpPr>
        <p:spPr>
          <a:xfrm>
            <a:off x="2011680" y="160020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팀 소개</a:t>
            </a:r>
          </a:p>
        </p:txBody>
      </p:sp>
      <p:cxnSp>
        <p:nvCxnSpPr>
          <p:cNvPr id="5" name="Connector 4"/>
          <p:cNvCxnSpPr/>
          <p:nvPr/>
        </p:nvCxnSpPr>
        <p:spPr>
          <a:xfrm>
            <a:off x="1005840" y="244144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69748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02</a:t>
            </a:r>
          </a:p>
        </p:txBody>
      </p:sp>
      <p:sp>
        <p:nvSpPr>
          <p:cNvPr id="7" name="TextBox 6"/>
          <p:cNvSpPr txBox="1"/>
          <p:nvPr/>
        </p:nvSpPr>
        <p:spPr>
          <a:xfrm>
            <a:off x="2011680" y="269748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문제 정의</a:t>
            </a:r>
          </a:p>
        </p:txBody>
      </p:sp>
      <p:cxnSp>
        <p:nvCxnSpPr>
          <p:cNvPr id="8" name="Connector 7"/>
          <p:cNvCxnSpPr/>
          <p:nvPr/>
        </p:nvCxnSpPr>
        <p:spPr>
          <a:xfrm>
            <a:off x="1005840" y="353872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05840" y="379476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03</a:t>
            </a:r>
          </a:p>
        </p:txBody>
      </p:sp>
      <p:sp>
        <p:nvSpPr>
          <p:cNvPr id="10" name="TextBox 9"/>
          <p:cNvSpPr txBox="1"/>
          <p:nvPr/>
        </p:nvSpPr>
        <p:spPr>
          <a:xfrm>
            <a:off x="2011680" y="379476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시스템 구성</a:t>
            </a:r>
          </a:p>
        </p:txBody>
      </p:sp>
      <p:cxnSp>
        <p:nvCxnSpPr>
          <p:cNvPr id="11" name="Connector 10"/>
          <p:cNvCxnSpPr/>
          <p:nvPr/>
        </p:nvCxnSpPr>
        <p:spPr>
          <a:xfrm>
            <a:off x="1005840" y="463600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489204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04</a:t>
            </a:r>
          </a:p>
        </p:txBody>
      </p:sp>
      <p:sp>
        <p:nvSpPr>
          <p:cNvPr id="13" name="TextBox 12"/>
          <p:cNvSpPr txBox="1"/>
          <p:nvPr/>
        </p:nvSpPr>
        <p:spPr>
          <a:xfrm>
            <a:off x="2011680" y="489204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모델 선택과 검증</a:t>
            </a:r>
          </a:p>
        </p:txBody>
      </p:sp>
      <p:cxnSp>
        <p:nvCxnSpPr>
          <p:cNvPr id="14" name="Connector 13"/>
          <p:cNvCxnSpPr/>
          <p:nvPr/>
        </p:nvCxnSpPr>
        <p:spPr>
          <a:xfrm>
            <a:off x="1005840" y="573328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92240" y="160020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05</a:t>
            </a:r>
          </a:p>
        </p:txBody>
      </p:sp>
      <p:sp>
        <p:nvSpPr>
          <p:cNvPr id="16" name="TextBox 15"/>
          <p:cNvSpPr txBox="1"/>
          <p:nvPr/>
        </p:nvSpPr>
        <p:spPr>
          <a:xfrm>
            <a:off x="7498079" y="160020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동작 설명</a:t>
            </a:r>
          </a:p>
        </p:txBody>
      </p:sp>
      <p:cxnSp>
        <p:nvCxnSpPr>
          <p:cNvPr id="17" name="Connector 16"/>
          <p:cNvCxnSpPr/>
          <p:nvPr/>
        </p:nvCxnSpPr>
        <p:spPr>
          <a:xfrm>
            <a:off x="6492240" y="244144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92240" y="269748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06</a:t>
            </a:r>
          </a:p>
        </p:txBody>
      </p:sp>
      <p:sp>
        <p:nvSpPr>
          <p:cNvPr id="19" name="TextBox 18"/>
          <p:cNvSpPr txBox="1"/>
          <p:nvPr/>
        </p:nvSpPr>
        <p:spPr>
          <a:xfrm>
            <a:off x="7498079" y="269748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성능 개선</a:t>
            </a:r>
          </a:p>
        </p:txBody>
      </p:sp>
      <p:cxnSp>
        <p:nvCxnSpPr>
          <p:cNvPr id="20" name="Connector 19"/>
          <p:cNvCxnSpPr/>
          <p:nvPr/>
        </p:nvCxnSpPr>
        <p:spPr>
          <a:xfrm>
            <a:off x="6492240" y="353872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92240" y="379476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07</a:t>
            </a:r>
          </a:p>
        </p:txBody>
      </p:sp>
      <p:sp>
        <p:nvSpPr>
          <p:cNvPr id="22" name="TextBox 21"/>
          <p:cNvSpPr txBox="1"/>
          <p:nvPr/>
        </p:nvSpPr>
        <p:spPr>
          <a:xfrm>
            <a:off x="7498079" y="379476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개선 방향</a:t>
            </a:r>
          </a:p>
        </p:txBody>
      </p:sp>
      <p:cxnSp>
        <p:nvCxnSpPr>
          <p:cNvPr id="23" name="Connector 22"/>
          <p:cNvCxnSpPr/>
          <p:nvPr/>
        </p:nvCxnSpPr>
        <p:spPr>
          <a:xfrm>
            <a:off x="6492240" y="463600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92240" y="489204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08</a:t>
            </a:r>
          </a:p>
        </p:txBody>
      </p:sp>
      <p:sp>
        <p:nvSpPr>
          <p:cNvPr id="25" name="TextBox 24"/>
          <p:cNvSpPr txBox="1"/>
          <p:nvPr/>
        </p:nvSpPr>
        <p:spPr>
          <a:xfrm>
            <a:off x="7498079" y="489204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프로젝트 소감</a:t>
            </a:r>
          </a:p>
        </p:txBody>
      </p:sp>
      <p:cxnSp>
        <p:nvCxnSpPr>
          <p:cNvPr id="26" name="Connector 25"/>
          <p:cNvCxnSpPr/>
          <p:nvPr/>
        </p:nvCxnSpPr>
        <p:spPr>
          <a:xfrm>
            <a:off x="6492240" y="573328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2</a:t>
            </a:r>
          </a:p>
        </p:txBody>
      </p:sp>
      <p:sp>
        <p:nvSpPr>
          <p:cNvPr id="28" name="TextBox 27"/>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par>
                                <p:cTn id="66" presetID="10" presetClass="entr" presetSubtype="0" fill="hold"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500"/>
                                        <p:tgtEl>
                                          <p:spTgt spid="2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5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5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par>
                                <p:cTn id="88" presetID="10" presetClass="entr" presetSubtype="0" fill="hold"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7" grpId="0"/>
      <p:bldP spid="9" grpId="0"/>
      <p:bldP spid="10" grpId="0"/>
      <p:bldP spid="12" grpId="0"/>
      <p:bldP spid="13" grpId="0"/>
      <p:bldP spid="15" grpId="0"/>
      <p:bldP spid="16" grpId="0"/>
      <p:bldP spid="18" grpId="0"/>
      <p:bldP spid="19" grpId="0"/>
      <p:bldP spid="21" grpId="0"/>
      <p:bldP spid="22" grpId="0"/>
      <p:bldP spid="24" grpId="0"/>
      <p:bldP spid="2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01  </a:t>
            </a:r>
            <a:r>
              <a:rPr lang="ko-KR" sz="3000" b="1">
                <a:solidFill>
                  <a:srgbClr val="1F2D3D"/>
                </a:solidFill>
                <a:latin typeface="맑은 고딕"/>
                <a:ea typeface="맑은 고딕"/>
                <a:cs typeface="맑은 고딕"/>
              </a:rPr>
              <a:t>팀 소개</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팀 Dokkab · 3명</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3</a:t>
            </a:r>
          </a:p>
        </p:txBody>
      </p:sp>
      <p:sp>
        <p:nvSpPr>
          <p:cNvPr id="6" name="전종현 카드"/>
          <p:cNvSpPr/>
          <p:nvPr/>
        </p:nvSpPr>
        <p:spPr>
          <a:xfrm>
            <a:off x="7315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ound Same Side Corner Rectangle 53"/>
          <p:cNvSpPr/>
          <p:nvPr/>
        </p:nvSpPr>
        <p:spPr>
          <a:xfrm>
            <a:off x="1943100" y="2743200"/>
            <a:ext cx="914400" cy="457200"/>
          </a:xfrm>
          <a:prstGeom prst="round2SameRect">
            <a:avLst>
              <a:gd name="adj1" fmla="val 50000"/>
              <a:gd name="adj2" fmla="val 0"/>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924812"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997964"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619756"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692908"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1869948" y="2011680"/>
            <a:ext cx="1060704" cy="868680"/>
          </a:xfrm>
          <a:prstGeom prst="ellipse">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Chord 59"/>
          <p:cNvSpPr/>
          <p:nvPr/>
        </p:nvSpPr>
        <p:spPr>
          <a:xfrm>
            <a:off x="1869948" y="2011680"/>
            <a:ext cx="1060704" cy="868680"/>
          </a:xfrm>
          <a:prstGeom prst="chord">
            <a:avLst>
              <a:gd name="adj1" fmla="val 11700000"/>
              <a:gd name="adj2" fmla="val 20700000"/>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97053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70205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135124"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162556"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510028"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537460"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2052828"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2436876"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2363724" y="2377440"/>
            <a:ext cx="73152" cy="3657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Arc 69"/>
          <p:cNvSpPr/>
          <p:nvPr/>
        </p:nvSpPr>
        <p:spPr>
          <a:xfrm>
            <a:off x="2345436" y="2596896"/>
            <a:ext cx="109728" cy="82296"/>
          </a:xfrm>
          <a:prstGeom prst="arc">
            <a:avLst>
              <a:gd name="adj1" fmla="val 1800000"/>
              <a:gd name="adj2" fmla="val 9000000"/>
            </a:avLst>
          </a:prstGeom>
          <a:no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전종현</a:t>
            </a:r>
          </a:p>
        </p:txBody>
      </p:sp>
      <p:sp>
        <p:nvSpPr>
          <p:cNvPr id="21" name="TextBox 20"/>
          <p:cNvSpPr txBox="1"/>
          <p:nvPr/>
        </p:nvSpPr>
        <p:spPr>
          <a:xfrm>
            <a:off x="7315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팀장</a:t>
            </a:r>
          </a:p>
        </p:txBody>
      </p:sp>
      <p:sp>
        <p:nvSpPr>
          <p:cNvPr id="22" name="TextBox 21"/>
          <p:cNvSpPr txBox="1"/>
          <p:nvPr/>
        </p:nvSpPr>
        <p:spPr>
          <a:xfrm>
            <a:off x="10058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전체 아키텍처 설계</a:t>
            </a:r>
          </a:p>
          <a:p>
            <a:pPr algn="ctr">
              <a:lnSpc>
                <a:spcPct val="115000"/>
              </a:lnSpc>
              <a:spcAft>
                <a:spcPts val="400"/>
              </a:spcAft>
            </a:pPr>
            <a:r>
              <a:rPr lang="ko-KR" sz="1500" b="0">
                <a:solidFill>
                  <a:srgbClr val="2B333D"/>
                </a:solidFill>
                <a:latin typeface="맑은 고딕"/>
                <a:ea typeface="맑은 고딕"/>
                <a:cs typeface="맑은 고딕"/>
              </a:rPr>
              <a:t>상태 판단(FSM)</a:t>
            </a:r>
          </a:p>
          <a:p>
            <a:pPr algn="ctr">
              <a:lnSpc>
                <a:spcPct val="115000"/>
              </a:lnSpc>
              <a:spcAft>
                <a:spcPts val="400"/>
              </a:spcAft>
            </a:pPr>
            <a:r>
              <a:rPr lang="ko-KR" sz="1500" b="0">
                <a:solidFill>
                  <a:srgbClr val="2B333D"/>
                </a:solidFill>
                <a:latin typeface="맑은 고딕"/>
                <a:ea typeface="맑은 고딕"/>
                <a:cs typeface="맑은 고딕"/>
              </a:rPr>
              <a:t>대시보드 · 데이터 기록</a:t>
            </a:r>
          </a:p>
          <a:p>
            <a:pPr algn="ctr">
              <a:lnSpc>
                <a:spcPct val="115000"/>
              </a:lnSpc>
              <a:spcAft>
                <a:spcPts val="400"/>
              </a:spcAft>
            </a:pPr>
            <a:r>
              <a:rPr lang="ko-KR" sz="1500" b="0">
                <a:solidFill>
                  <a:srgbClr val="2B333D"/>
                </a:solidFill>
                <a:latin typeface="맑은 고딕"/>
                <a:ea typeface="맑은 고딕"/>
                <a:cs typeface="맑은 고딕"/>
              </a:rPr>
              <a:t>통합</a:t>
            </a:r>
          </a:p>
        </p:txBody>
      </p:sp>
      <p:sp>
        <p:nvSpPr>
          <p:cNvPr id="23" name="송태원 카드"/>
          <p:cNvSpPr/>
          <p:nvPr/>
        </p:nvSpPr>
        <p:spPr>
          <a:xfrm>
            <a:off x="43891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 Same Side Corner Rectangle 23"/>
          <p:cNvSpPr/>
          <p:nvPr/>
        </p:nvSpPr>
        <p:spPr>
          <a:xfrm>
            <a:off x="5490972" y="2651760"/>
            <a:ext cx="1133856" cy="548640"/>
          </a:xfrm>
          <a:prstGeom prst="round2SameRect">
            <a:avLst>
              <a:gd name="adj1" fmla="val 50000"/>
              <a:gd name="adj2" fmla="val 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Isosceles Triangle 24"/>
          <p:cNvSpPr/>
          <p:nvPr/>
        </p:nvSpPr>
        <p:spPr>
          <a:xfrm rot="10800000">
            <a:off x="59298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57195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7104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63139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57744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57835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rot="1200000">
            <a:off x="5756148" y="2011680"/>
            <a:ext cx="384048"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59115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6140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Arc 33"/>
          <p:cNvSpPr/>
          <p:nvPr/>
        </p:nvSpPr>
        <p:spPr>
          <a:xfrm>
            <a:off x="59756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3891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송태원</a:t>
            </a:r>
          </a:p>
        </p:txBody>
      </p:sp>
      <p:sp>
        <p:nvSpPr>
          <p:cNvPr id="36" name="TextBox 35"/>
          <p:cNvSpPr txBox="1"/>
          <p:nvPr/>
        </p:nvSpPr>
        <p:spPr>
          <a:xfrm>
            <a:off x="43891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팀원</a:t>
            </a:r>
          </a:p>
        </p:txBody>
      </p:sp>
      <p:sp>
        <p:nvSpPr>
          <p:cNvPr id="37" name="TextBox 36"/>
          <p:cNvSpPr txBox="1"/>
          <p:nvPr/>
        </p:nvSpPr>
        <p:spPr>
          <a:xfrm>
            <a:off x="46634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회로 구성</a:t>
            </a:r>
          </a:p>
          <a:p>
            <a:pPr algn="ctr">
              <a:lnSpc>
                <a:spcPct val="115000"/>
              </a:lnSpc>
              <a:spcAft>
                <a:spcPts val="400"/>
              </a:spcAft>
            </a:pPr>
            <a:r>
              <a:rPr lang="ko-KR" sz="1500" b="0">
                <a:solidFill>
                  <a:srgbClr val="2B333D"/>
                </a:solidFill>
                <a:latin typeface="맑은 고딕"/>
                <a:ea typeface="맑은 고딕"/>
                <a:cs typeface="맑은 고딕"/>
              </a:rPr>
              <a:t>Jetson 보드 연결</a:t>
            </a:r>
          </a:p>
        </p:txBody>
      </p:sp>
      <p:sp>
        <p:nvSpPr>
          <p:cNvPr id="38" name="장호영 카드"/>
          <p:cNvSpPr/>
          <p:nvPr/>
        </p:nvSpPr>
        <p:spPr>
          <a:xfrm>
            <a:off x="80467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 Same Side Corner Rectangle 38"/>
          <p:cNvSpPr/>
          <p:nvPr/>
        </p:nvSpPr>
        <p:spPr>
          <a:xfrm>
            <a:off x="9148572" y="2651760"/>
            <a:ext cx="1133856" cy="548640"/>
          </a:xfrm>
          <a:prstGeom prst="round2SameRect">
            <a:avLst>
              <a:gd name="adj1" fmla="val 50000"/>
              <a:gd name="adj2" fmla="val 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Isosceles Triangle 39"/>
          <p:cNvSpPr/>
          <p:nvPr/>
        </p:nvSpPr>
        <p:spPr>
          <a:xfrm rot="10800000">
            <a:off x="95874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93771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93680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99715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94320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94411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9569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97977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94960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97246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Arc 49"/>
          <p:cNvSpPr/>
          <p:nvPr/>
        </p:nvSpPr>
        <p:spPr>
          <a:xfrm>
            <a:off x="96332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0467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장호영</a:t>
            </a:r>
          </a:p>
        </p:txBody>
      </p:sp>
      <p:sp>
        <p:nvSpPr>
          <p:cNvPr id="52" name="TextBox 51"/>
          <p:cNvSpPr txBox="1"/>
          <p:nvPr/>
        </p:nvSpPr>
        <p:spPr>
          <a:xfrm>
            <a:off x="80467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팀원</a:t>
            </a:r>
          </a:p>
        </p:txBody>
      </p:sp>
      <p:sp>
        <p:nvSpPr>
          <p:cNvPr id="53" name="TextBox 52"/>
          <p:cNvSpPr txBox="1"/>
          <p:nvPr/>
        </p:nvSpPr>
        <p:spPr>
          <a:xfrm>
            <a:off x="83210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비전 AI 작업자 검출</a:t>
            </a:r>
          </a:p>
          <a:p>
            <a:pPr algn="ctr">
              <a:lnSpc>
                <a:spcPct val="115000"/>
              </a:lnSpc>
              <a:spcAft>
                <a:spcPts val="400"/>
              </a:spcAft>
            </a:pPr>
            <a:r>
              <a:rPr lang="ko-KR" sz="1500" b="0">
                <a:solidFill>
                  <a:srgbClr val="2B333D"/>
                </a:solidFill>
                <a:latin typeface="맑은 고딕"/>
                <a:ea typeface="맑은 고딕"/>
                <a:cs typeface="맑은 고딕"/>
              </a:rPr>
              <a:t>거리 측정</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animEffect transition="in" filter="fade">
                                      <p:cBhvr>
                                        <p:cTn id="10" dur="500"/>
                                        <p:tgtEl>
                                          <p:spTgt spid="5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5"/>
                                        </p:tgtEl>
                                        <p:attrNameLst>
                                          <p:attrName>style.visibility</p:attrName>
                                        </p:attrNameLst>
                                      </p:cBhvr>
                                      <p:to>
                                        <p:strVal val="visible"/>
                                      </p:to>
                                    </p:set>
                                    <p:animEffect transition="in" filter="fade">
                                      <p:cBhvr>
                                        <p:cTn id="13" dur="500"/>
                                        <p:tgtEl>
                                          <p:spTgt spid="5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6"/>
                                        </p:tgtEl>
                                        <p:attrNameLst>
                                          <p:attrName>style.visibility</p:attrName>
                                        </p:attrNameLst>
                                      </p:cBhvr>
                                      <p:to>
                                        <p:strVal val="visible"/>
                                      </p:to>
                                    </p:set>
                                    <p:animEffect transition="in" filter="fade">
                                      <p:cBhvr>
                                        <p:cTn id="16" dur="500"/>
                                        <p:tgtEl>
                                          <p:spTgt spid="5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fade">
                                      <p:cBhvr>
                                        <p:cTn id="19" dur="500"/>
                                        <p:tgtEl>
                                          <p:spTgt spid="5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500"/>
                                        <p:tgtEl>
                                          <p:spTgt spid="5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500"/>
                                        <p:tgtEl>
                                          <p:spTgt spid="5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500"/>
                                        <p:tgtEl>
                                          <p:spTgt spid="6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fade">
                                      <p:cBhvr>
                                        <p:cTn id="31" dur="500"/>
                                        <p:tgtEl>
                                          <p:spTgt spid="6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2"/>
                                        </p:tgtEl>
                                        <p:attrNameLst>
                                          <p:attrName>style.visibility</p:attrName>
                                        </p:attrNameLst>
                                      </p:cBhvr>
                                      <p:to>
                                        <p:strVal val="visible"/>
                                      </p:to>
                                    </p:set>
                                    <p:animEffect transition="in" filter="fade">
                                      <p:cBhvr>
                                        <p:cTn id="34" dur="500"/>
                                        <p:tgtEl>
                                          <p:spTgt spid="6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3"/>
                                        </p:tgtEl>
                                        <p:attrNameLst>
                                          <p:attrName>style.visibility</p:attrName>
                                        </p:attrNameLst>
                                      </p:cBhvr>
                                      <p:to>
                                        <p:strVal val="visible"/>
                                      </p:to>
                                    </p:set>
                                    <p:animEffect transition="in" filter="fade">
                                      <p:cBhvr>
                                        <p:cTn id="37" dur="500"/>
                                        <p:tgtEl>
                                          <p:spTgt spid="6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fade">
                                      <p:cBhvr>
                                        <p:cTn id="40" dur="500"/>
                                        <p:tgtEl>
                                          <p:spTgt spid="6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animEffect transition="in" filter="fade">
                                      <p:cBhvr>
                                        <p:cTn id="43" dur="500"/>
                                        <p:tgtEl>
                                          <p:spTgt spid="6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6"/>
                                        </p:tgtEl>
                                        <p:attrNameLst>
                                          <p:attrName>style.visibility</p:attrName>
                                        </p:attrNameLst>
                                      </p:cBhvr>
                                      <p:to>
                                        <p:strVal val="visible"/>
                                      </p:to>
                                    </p:set>
                                    <p:animEffect transition="in" filter="fade">
                                      <p:cBhvr>
                                        <p:cTn id="46" dur="500"/>
                                        <p:tgtEl>
                                          <p:spTgt spid="6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67"/>
                                        </p:tgtEl>
                                        <p:attrNameLst>
                                          <p:attrName>style.visibility</p:attrName>
                                        </p:attrNameLst>
                                      </p:cBhvr>
                                      <p:to>
                                        <p:strVal val="visible"/>
                                      </p:to>
                                    </p:set>
                                    <p:animEffect transition="in" filter="fade">
                                      <p:cBhvr>
                                        <p:cTn id="49" dur="500"/>
                                        <p:tgtEl>
                                          <p:spTgt spid="6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68"/>
                                        </p:tgtEl>
                                        <p:attrNameLst>
                                          <p:attrName>style.visibility</p:attrName>
                                        </p:attrNameLst>
                                      </p:cBhvr>
                                      <p:to>
                                        <p:strVal val="visible"/>
                                      </p:to>
                                    </p:set>
                                    <p:animEffect transition="in" filter="fade">
                                      <p:cBhvr>
                                        <p:cTn id="52" dur="500"/>
                                        <p:tgtEl>
                                          <p:spTgt spid="6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69"/>
                                        </p:tgtEl>
                                        <p:attrNameLst>
                                          <p:attrName>style.visibility</p:attrName>
                                        </p:attrNameLst>
                                      </p:cBhvr>
                                      <p:to>
                                        <p:strVal val="visible"/>
                                      </p:to>
                                    </p:set>
                                    <p:animEffect transition="in" filter="fade">
                                      <p:cBhvr>
                                        <p:cTn id="55" dur="500"/>
                                        <p:tgtEl>
                                          <p:spTgt spid="6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70"/>
                                        </p:tgtEl>
                                        <p:attrNameLst>
                                          <p:attrName>style.visibility</p:attrName>
                                        </p:attrNameLst>
                                      </p:cBhvr>
                                      <p:to>
                                        <p:strVal val="visible"/>
                                      </p:to>
                                    </p:set>
                                    <p:animEffect transition="in" filter="fade">
                                      <p:cBhvr>
                                        <p:cTn id="58" dur="500"/>
                                        <p:tgtEl>
                                          <p:spTgt spid="7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5" dur="500"/>
                                        <p:tgtEl>
                                          <p:spTgt spid="3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8" dur="500"/>
                                        <p:tgtEl>
                                          <p:spTgt spid="3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1" dur="500"/>
                                        <p:tgtEl>
                                          <p:spTgt spid="3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4" dur="500"/>
                                        <p:tgtEl>
                                          <p:spTgt spid="37"/>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fade">
                                      <p:cBhvr>
                                        <p:cTn id="125" dur="500"/>
                                        <p:tgtEl>
                                          <p:spTgt spid="4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1"/>
                                        </p:tgtEl>
                                        <p:attrNameLst>
                                          <p:attrName>style.visibility</p:attrName>
                                        </p:attrNameLst>
                                      </p:cBhvr>
                                      <p:to>
                                        <p:strVal val="visible"/>
                                      </p:to>
                                    </p:set>
                                    <p:animEffect transition="in" filter="fade">
                                      <p:cBhvr>
                                        <p:cTn id="128" dur="500"/>
                                        <p:tgtEl>
                                          <p:spTgt spid="4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2"/>
                                        </p:tgtEl>
                                        <p:attrNameLst>
                                          <p:attrName>style.visibility</p:attrName>
                                        </p:attrNameLst>
                                      </p:cBhvr>
                                      <p:to>
                                        <p:strVal val="visible"/>
                                      </p:to>
                                    </p:set>
                                    <p:animEffect transition="in" filter="fade">
                                      <p:cBhvr>
                                        <p:cTn id="131" dur="500"/>
                                        <p:tgtEl>
                                          <p:spTgt spid="4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3"/>
                                        </p:tgtEl>
                                        <p:attrNameLst>
                                          <p:attrName>style.visibility</p:attrName>
                                        </p:attrNameLst>
                                      </p:cBhvr>
                                      <p:to>
                                        <p:strVal val="visible"/>
                                      </p:to>
                                    </p:set>
                                    <p:animEffect transition="in" filter="fade">
                                      <p:cBhvr>
                                        <p:cTn id="134" dur="500"/>
                                        <p:tgtEl>
                                          <p:spTgt spid="4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7" dur="500"/>
                                        <p:tgtEl>
                                          <p:spTgt spid="4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45"/>
                                        </p:tgtEl>
                                        <p:attrNameLst>
                                          <p:attrName>style.visibility</p:attrName>
                                        </p:attrNameLst>
                                      </p:cBhvr>
                                      <p:to>
                                        <p:strVal val="visible"/>
                                      </p:to>
                                    </p:set>
                                    <p:animEffect transition="in" filter="fade">
                                      <p:cBhvr>
                                        <p:cTn id="140" dur="500"/>
                                        <p:tgtEl>
                                          <p:spTgt spid="45"/>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fade">
                                      <p:cBhvr>
                                        <p:cTn id="143" dur="500"/>
                                        <p:tgtEl>
                                          <p:spTgt spid="46"/>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500"/>
                                        <p:tgtEl>
                                          <p:spTgt spid="47"/>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49" dur="500"/>
                                        <p:tgtEl>
                                          <p:spTgt spid="48"/>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2" dur="500"/>
                                        <p:tgtEl>
                                          <p:spTgt spid="49"/>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500"/>
                                        <p:tgtEl>
                                          <p:spTgt spid="50"/>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8" dur="500"/>
                                        <p:tgtEl>
                                          <p:spTgt spid="51"/>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1" dur="500"/>
                                        <p:tgtEl>
                                          <p:spTgt spid="52"/>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4"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20" grpId="0"/>
      <p:bldP spid="21" grpId="0"/>
      <p:bldP spid="22" grpId="0"/>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p:bldP spid="36" grpId="0"/>
      <p:bldP spid="37" grpId="0"/>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p:bldP spid="52" grpId="0"/>
      <p:bldP spid="5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02  </a:t>
            </a:r>
            <a:r>
              <a:rPr lang="ko-KR" sz="3000" b="1">
                <a:solidFill>
                  <a:srgbClr val="1F2D3D"/>
                </a:solidFill>
                <a:latin typeface="맑은 고딕"/>
                <a:ea typeface="맑은 고딕"/>
                <a:cs typeface="맑은 고딕"/>
              </a:rPr>
              <a:t>문제 정의</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4</a:t>
            </a:r>
          </a:p>
        </p:txBody>
      </p:sp>
      <p:sp>
        <p:nvSpPr>
          <p:cNvPr id="5" name="TextBox 4"/>
          <p:cNvSpPr txBox="1"/>
          <p:nvPr/>
        </p:nvSpPr>
        <p:spPr>
          <a:xfrm>
            <a:off x="731520" y="1463040"/>
            <a:ext cx="512064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현장 문제</a:t>
            </a:r>
          </a:p>
        </p:txBody>
      </p:sp>
      <p:sp>
        <p:nvSpPr>
          <p:cNvPr id="6" name="TextBox 5"/>
          <p:cNvSpPr txBox="1"/>
          <p:nvPr/>
        </p:nvSpPr>
        <p:spPr>
          <a:xfrm>
            <a:off x="731520" y="1920240"/>
            <a:ext cx="5120640" cy="1371600"/>
          </a:xfrm>
          <a:prstGeom prst="rect">
            <a:avLst/>
          </a:prstGeom>
          <a:noFill/>
        </p:spPr>
        <p:txBody>
          <a:bodyPr wrap="square" lIns="0" tIns="0" rIns="0" bIns="0" anchor="t">
            <a:spAutoFit/>
          </a:bodyPr>
          <a:lstStyle/>
          <a:p>
            <a:pPr algn="l">
              <a:lnSpc>
                <a:spcPct val="130000"/>
              </a:lnSpc>
              <a:spcAft>
                <a:spcPts val="0"/>
              </a:spcAft>
            </a:pPr>
            <a:r>
              <a:rPr lang="ko-KR" sz="1500" b="0">
                <a:solidFill>
                  <a:srgbClr val="2B333D"/>
                </a:solidFill>
                <a:latin typeface="맑은 고딕"/>
                <a:ea typeface="맑은 고딕"/>
                <a:cs typeface="맑은 고딕"/>
              </a:rPr>
              <a:t>컨베이어 벨트는 쉬지 않고 움직입니다. 정비나 물품 정리로 가까이 간 작업자는 작업에 집중하다 장비와의 거리를 놓치기 쉽고, 이때 끼임·충돌 사고가 날 수 있습니다.</a:t>
            </a:r>
          </a:p>
        </p:txBody>
      </p:sp>
      <p:sp>
        <p:nvSpPr>
          <p:cNvPr id="7" name="TextBox 6"/>
          <p:cNvSpPr txBox="1"/>
          <p:nvPr/>
        </p:nvSpPr>
        <p:spPr>
          <a:xfrm>
            <a:off x="731520" y="3520440"/>
            <a:ext cx="512064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사용자</a:t>
            </a:r>
          </a:p>
        </p:txBody>
      </p:sp>
      <p:sp>
        <p:nvSpPr>
          <p:cNvPr id="8" name="Rounded Rectangle 7"/>
          <p:cNvSpPr/>
          <p:nvPr/>
        </p:nvSpPr>
        <p:spPr>
          <a:xfrm>
            <a:off x="731520" y="40233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14400" y="40233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현장 작업자</a:t>
            </a:r>
          </a:p>
        </p:txBody>
      </p:sp>
      <p:sp>
        <p:nvSpPr>
          <p:cNvPr id="10" name="TextBox 9"/>
          <p:cNvSpPr txBox="1"/>
          <p:nvPr/>
        </p:nvSpPr>
        <p:spPr>
          <a:xfrm>
            <a:off x="2651760" y="40233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바로 알 수 있는 경고, 자동 정지</a:t>
            </a:r>
          </a:p>
        </p:txBody>
      </p:sp>
      <p:sp>
        <p:nvSpPr>
          <p:cNvPr id="11" name="Rounded Rectangle 10"/>
          <p:cNvSpPr/>
          <p:nvPr/>
        </p:nvSpPr>
        <p:spPr>
          <a:xfrm>
            <a:off x="731520" y="47091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14400" y="47091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현장 관리자</a:t>
            </a:r>
          </a:p>
        </p:txBody>
      </p:sp>
      <p:sp>
        <p:nvSpPr>
          <p:cNvPr id="13" name="TextBox 12"/>
          <p:cNvSpPr txBox="1"/>
          <p:nvPr/>
        </p:nvSpPr>
        <p:spPr>
          <a:xfrm>
            <a:off x="2651760" y="47091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실시간 화면과 경고·정지 기록</a:t>
            </a:r>
          </a:p>
        </p:txBody>
      </p:sp>
      <p:sp>
        <p:nvSpPr>
          <p:cNvPr id="14" name="Rounded Rectangle 13"/>
          <p:cNvSpPr/>
          <p:nvPr/>
        </p:nvSpPr>
        <p:spPr>
          <a:xfrm>
            <a:off x="731520" y="53949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14400" y="53949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유지보수 담당자</a:t>
            </a:r>
          </a:p>
        </p:txBody>
      </p:sp>
      <p:sp>
        <p:nvSpPr>
          <p:cNvPr id="16" name="TextBox 15"/>
          <p:cNvSpPr txBox="1"/>
          <p:nvPr/>
        </p:nvSpPr>
        <p:spPr>
          <a:xfrm>
            <a:off x="2651760" y="53949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오류가 난 시각과 원인</a:t>
            </a:r>
          </a:p>
        </p:txBody>
      </p:sp>
      <p:sp>
        <p:nvSpPr>
          <p:cNvPr id="17" name="TextBox 16"/>
          <p:cNvSpPr txBox="1"/>
          <p:nvPr/>
        </p:nvSpPr>
        <p:spPr>
          <a:xfrm>
            <a:off x="6492240" y="1463040"/>
            <a:ext cx="493776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그래서 필요한 것</a:t>
            </a:r>
          </a:p>
        </p:txBody>
      </p:sp>
      <p:sp>
        <p:nvSpPr>
          <p:cNvPr id="18" name="Rounded Rectangle 17"/>
          <p:cNvSpPr/>
          <p:nvPr/>
        </p:nvSpPr>
        <p:spPr>
          <a:xfrm>
            <a:off x="6492240" y="19202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720840" y="22402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1</a:t>
            </a:r>
          </a:p>
        </p:txBody>
      </p:sp>
      <p:sp>
        <p:nvSpPr>
          <p:cNvPr id="20" name="TextBox 19"/>
          <p:cNvSpPr txBox="1"/>
          <p:nvPr/>
        </p:nvSpPr>
        <p:spPr>
          <a:xfrm>
            <a:off x="7498079" y="21031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자동 감지</a:t>
            </a:r>
          </a:p>
        </p:txBody>
      </p:sp>
      <p:sp>
        <p:nvSpPr>
          <p:cNvPr id="21" name="TextBox 20"/>
          <p:cNvSpPr txBox="1"/>
          <p:nvPr/>
        </p:nvSpPr>
        <p:spPr>
          <a:xfrm>
            <a:off x="7498079" y="24871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작업자가 다가오는 것을 카메라로 알아챈다</a:t>
            </a:r>
          </a:p>
        </p:txBody>
      </p:sp>
      <p:sp>
        <p:nvSpPr>
          <p:cNvPr id="22" name="Rounded Rectangle 21"/>
          <p:cNvSpPr/>
          <p:nvPr/>
        </p:nvSpPr>
        <p:spPr>
          <a:xfrm>
            <a:off x="6492240" y="32918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6720840" y="36118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2</a:t>
            </a:r>
          </a:p>
        </p:txBody>
      </p:sp>
      <p:sp>
        <p:nvSpPr>
          <p:cNvPr id="24" name="TextBox 23"/>
          <p:cNvSpPr txBox="1"/>
          <p:nvPr/>
        </p:nvSpPr>
        <p:spPr>
          <a:xfrm>
            <a:off x="7498079" y="34747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단계별 대응</a:t>
            </a:r>
          </a:p>
        </p:txBody>
      </p:sp>
      <p:sp>
        <p:nvSpPr>
          <p:cNvPr id="25" name="TextBox 24"/>
          <p:cNvSpPr txBox="1"/>
          <p:nvPr/>
        </p:nvSpPr>
        <p:spPr>
          <a:xfrm>
            <a:off x="7498079" y="38587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가까워지면 먼저 경고하고, 위험 거리에서는 벨트를 멈춘다</a:t>
            </a:r>
          </a:p>
        </p:txBody>
      </p:sp>
      <p:sp>
        <p:nvSpPr>
          <p:cNvPr id="26" name="Rounded Rectangle 25"/>
          <p:cNvSpPr/>
          <p:nvPr/>
        </p:nvSpPr>
        <p:spPr>
          <a:xfrm>
            <a:off x="6492240" y="46634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6720840" y="4983479"/>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3</a:t>
            </a:r>
          </a:p>
        </p:txBody>
      </p:sp>
      <p:sp>
        <p:nvSpPr>
          <p:cNvPr id="28" name="TextBox 27"/>
          <p:cNvSpPr txBox="1"/>
          <p:nvPr/>
        </p:nvSpPr>
        <p:spPr>
          <a:xfrm>
            <a:off x="7498079" y="48463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기록</a:t>
            </a:r>
          </a:p>
        </p:txBody>
      </p:sp>
      <p:sp>
        <p:nvSpPr>
          <p:cNvPr id="29" name="TextBox 28"/>
          <p:cNvSpPr txBox="1"/>
          <p:nvPr/>
        </p:nvSpPr>
        <p:spPr>
          <a:xfrm>
            <a:off x="7498079" y="52303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언제, 왜 경고하고 멈췄는지 남겨 나중에 확인한다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animBg="1"/>
      <p:bldP spid="9" grpId="0"/>
      <p:bldP spid="10" grpId="0"/>
      <p:bldP spid="11" grpId="0" animBg="1"/>
      <p:bldP spid="12" grpId="0"/>
      <p:bldP spid="13" grpId="0"/>
      <p:bldP spid="14" grpId="0" animBg="1"/>
      <p:bldP spid="15" grpId="0"/>
      <p:bldP spid="16" grpId="0"/>
      <p:bldP spid="17" grpId="0"/>
      <p:bldP spid="18" grpId="0" animBg="1"/>
      <p:bldP spid="19" grpId="0" animBg="1"/>
      <p:bldP spid="20" grpId="0"/>
      <p:bldP spid="21" grpId="0"/>
      <p:bldP spid="22" grpId="0" animBg="1"/>
      <p:bldP spid="23" grpId="0" animBg="1"/>
      <p:bldP spid="24" grpId="0"/>
      <p:bldP spid="25" grpId="0"/>
      <p:bldP spid="26" grpId="0" animBg="1"/>
      <p:bldP spid="27" grpId="0" animBg="1"/>
      <p:bldP spid="28" grpId="0"/>
      <p:bldP spid="2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03  </a:t>
            </a:r>
            <a:r>
              <a:rPr lang="ko-KR" sz="3000" b="1">
                <a:solidFill>
                  <a:srgbClr val="1F2D3D"/>
                </a:solidFill>
                <a:latin typeface="맑은 고딕"/>
                <a:ea typeface="맑은 고딕"/>
                <a:cs typeface="맑은 고딕"/>
              </a:rPr>
              <a:t>시스템 구성</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5</a:t>
            </a:r>
          </a:p>
        </p:txBody>
      </p:sp>
      <p:sp>
        <p:nvSpPr>
          <p:cNvPr id="5" name="카메라 시야"/>
          <p:cNvSpPr/>
          <p:nvPr/>
        </p:nvSpPr>
        <p:spPr>
          <a:xfrm>
            <a:off x="6035040" y="1417320"/>
            <a:ext cx="5486400" cy="4251960"/>
          </a:xfrm>
          <a:custGeom>
            <a:avLst/>
            <a:gdLst/>
            <a:ahLst/>
            <a:cxnLst/>
            <a:rect l="l" t="t" r="r" b="b"/>
            <a:pathLst>
              <a:path w="5486400" h="4251960">
                <a:moveTo>
                  <a:pt x="146304" y="713232"/>
                </a:moveTo>
                <a:lnTo>
                  <a:pt x="5486400" y="0"/>
                </a:lnTo>
                <a:lnTo>
                  <a:pt x="5486400" y="4251960"/>
                </a:lnTo>
                <a:lnTo>
                  <a:pt x="0" y="4251960"/>
                </a:lnTo>
                <a:lnTo>
                  <a:pt x="146304" y="859536"/>
                </a:lnTo>
                <a:close/>
              </a:path>
            </a:pathLst>
          </a:custGeom>
          <a:solidFill>
            <a:srgbClr val="E8742B">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640080" y="5669280"/>
            <a:ext cx="5394960" cy="0"/>
          </a:xfrm>
          <a:prstGeom prst="line">
            <a:avLst/>
          </a:prstGeom>
          <a:ln w="19050">
            <a:solidFill>
              <a:srgbClr val="D5DAE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035040" y="5669280"/>
            <a:ext cx="1234440" cy="182880"/>
          </a:xfrm>
          <a:prstGeom prst="rect">
            <a:avLst/>
          </a:prstGeom>
          <a:solidFill>
            <a:srgbClr val="D64541">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035040" y="5943600"/>
            <a:ext cx="1234440"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D64541"/>
                </a:solidFill>
                <a:latin typeface="맑은 고딕"/>
                <a:ea typeface="맑은 고딕"/>
                <a:cs typeface="맑은 고딕"/>
              </a:rPr>
              <a:t>위험 · 50cm 이하</a:t>
            </a:r>
          </a:p>
        </p:txBody>
      </p:sp>
      <p:sp>
        <p:nvSpPr>
          <p:cNvPr id="9" name="Rectangle 8"/>
          <p:cNvSpPr/>
          <p:nvPr/>
        </p:nvSpPr>
        <p:spPr>
          <a:xfrm>
            <a:off x="7269480" y="5669280"/>
            <a:ext cx="2103120" cy="182880"/>
          </a:xfrm>
          <a:prstGeom prst="rect">
            <a:avLst/>
          </a:prstGeom>
          <a:solidFill>
            <a:srgbClr val="F2B705">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269480" y="5943600"/>
            <a:ext cx="2103120"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B08200"/>
                </a:solidFill>
                <a:latin typeface="맑은 고딕"/>
                <a:ea typeface="맑은 고딕"/>
                <a:cs typeface="맑은 고딕"/>
              </a:rPr>
              <a:t>경고 · 200cm 이하</a:t>
            </a:r>
          </a:p>
        </p:txBody>
      </p:sp>
      <p:sp>
        <p:nvSpPr>
          <p:cNvPr id="11" name="Rectangle 10"/>
          <p:cNvSpPr/>
          <p:nvPr/>
        </p:nvSpPr>
        <p:spPr>
          <a:xfrm>
            <a:off x="9372600" y="5669280"/>
            <a:ext cx="2148839" cy="182880"/>
          </a:xfrm>
          <a:prstGeom prst="rect">
            <a:avLst/>
          </a:prstGeom>
          <a:solidFill>
            <a:srgbClr val="2E9E5B">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372600" y="5943600"/>
            <a:ext cx="2148839"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2E9E5B"/>
                </a:solidFill>
                <a:latin typeface="맑은 고딕"/>
                <a:ea typeface="맑은 고딕"/>
                <a:cs typeface="맑은 고딕"/>
              </a:rPr>
              <a:t>정상</a:t>
            </a:r>
          </a:p>
        </p:txBody>
      </p:sp>
      <p:sp>
        <p:nvSpPr>
          <p:cNvPr id="13" name="Oval 12"/>
          <p:cNvSpPr/>
          <p:nvPr/>
        </p:nvSpPr>
        <p:spPr>
          <a:xfrm>
            <a:off x="594360" y="1371600"/>
            <a:ext cx="914400" cy="868680"/>
          </a:xfrm>
          <a:prstGeom prst="ellipse">
            <a:avLst/>
          </a:prstGeom>
          <a:solidFill>
            <a:srgbClr val="D6454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1005840" y="2788920"/>
            <a:ext cx="91440" cy="2880360"/>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777240" y="5532120"/>
            <a:ext cx="548640" cy="137160"/>
          </a:xfrm>
          <a:prstGeom prst="roundRect">
            <a:avLst>
              <a:gd name="adj" fmla="val 30000"/>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758952" y="1554480"/>
            <a:ext cx="585216" cy="1261872"/>
          </a:xfrm>
          <a:prstGeom prst="roundRect">
            <a:avLst>
              <a:gd name="adj" fmla="val 20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77824" y="1627632"/>
            <a:ext cx="347472" cy="347472"/>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877824" y="2011680"/>
            <a:ext cx="347472" cy="347472"/>
          </a:xfrm>
          <a:prstGeom prst="ellipse">
            <a:avLst/>
          </a:prstGeom>
          <a:solidFill>
            <a:srgbClr val="F5E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877824" y="2395728"/>
            <a:ext cx="347472" cy="347472"/>
          </a:xfrm>
          <a:prstGeom prst="ellipse">
            <a:avLst/>
          </a:prstGeom>
          <a:solidFill>
            <a:srgbClr val="BFE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11480" y="3291840"/>
            <a:ext cx="548640" cy="274320"/>
          </a:xfrm>
          <a:prstGeom prst="rect">
            <a:avLst/>
          </a:prstGeom>
          <a:noFill/>
        </p:spPr>
        <p:txBody>
          <a:bodyPr wrap="square" lIns="0" tIns="0" rIns="0" bIns="0" anchor="t">
            <a:spAutoFit/>
          </a:bodyPr>
          <a:lstStyle/>
          <a:p>
            <a:pPr algn="r">
              <a:lnSpc>
                <a:spcPct val="115000"/>
              </a:lnSpc>
              <a:spcAft>
                <a:spcPts val="0"/>
              </a:spcAft>
            </a:pPr>
            <a:r>
              <a:rPr lang="ko-KR" sz="1100" b="0">
                <a:solidFill>
                  <a:srgbClr val="6B7480"/>
                </a:solidFill>
                <a:latin typeface="맑은 고딕"/>
                <a:ea typeface="맑은 고딕"/>
                <a:cs typeface="맑은 고딕"/>
              </a:rPr>
              <a:t>경고등</a:t>
            </a:r>
          </a:p>
        </p:txBody>
      </p:sp>
      <p:sp>
        <p:nvSpPr>
          <p:cNvPr id="21" name="Rounded Rectangle 20"/>
          <p:cNvSpPr/>
          <p:nvPr/>
        </p:nvSpPr>
        <p:spPr>
          <a:xfrm>
            <a:off x="2011680" y="1508760"/>
            <a:ext cx="1371600" cy="914400"/>
          </a:xfrm>
          <a:prstGeom prst="roundRect">
            <a:avLst>
              <a:gd name="adj" fmla="val 8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2084831" y="1581912"/>
            <a:ext cx="122529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2176272" y="1682496"/>
            <a:ext cx="182880" cy="182880"/>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414016" y="1645920"/>
            <a:ext cx="868680" cy="256032"/>
          </a:xfrm>
          <a:prstGeom prst="rect">
            <a:avLst/>
          </a:prstGeom>
          <a:noFill/>
        </p:spPr>
        <p:txBody>
          <a:bodyPr wrap="square" lIns="0" tIns="0" rIns="0" bIns="0" anchor="t">
            <a:spAutoFit/>
          </a:bodyPr>
          <a:lstStyle/>
          <a:p>
            <a:pPr algn="l">
              <a:lnSpc>
                <a:spcPct val="115000"/>
              </a:lnSpc>
              <a:spcAft>
                <a:spcPts val="0"/>
              </a:spcAft>
            </a:pPr>
            <a:r>
              <a:rPr lang="ko-KR" sz="1000" b="1">
                <a:solidFill>
                  <a:srgbClr val="D64541"/>
                </a:solidFill>
                <a:latin typeface="맑은 고딕"/>
                <a:ea typeface="맑은 고딕"/>
                <a:cs typeface="맑은 고딕"/>
              </a:rPr>
              <a:t>위험 · 정지</a:t>
            </a:r>
          </a:p>
        </p:txBody>
      </p:sp>
      <p:sp>
        <p:nvSpPr>
          <p:cNvPr id="25" name="Rectangle 24"/>
          <p:cNvSpPr/>
          <p:nvPr/>
        </p:nvSpPr>
        <p:spPr>
          <a:xfrm>
            <a:off x="2176272" y="2011680"/>
            <a:ext cx="1024128" cy="54864"/>
          </a:xfrm>
          <a:prstGeom prst="rect">
            <a:avLst/>
          </a:prstGeom>
          <a:solidFill>
            <a:srgbClr val="D5D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2176272" y="2148840"/>
            <a:ext cx="1024128" cy="54864"/>
          </a:xfrm>
          <a:prstGeom prst="rect">
            <a:avLst/>
          </a:prstGeom>
          <a:solidFill>
            <a:srgbClr val="D5D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2606040" y="2423160"/>
            <a:ext cx="182880" cy="137160"/>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2423160" y="2560320"/>
            <a:ext cx="548640" cy="54864"/>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737360" y="2697480"/>
            <a:ext cx="192024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대시보드 · DB 기록</a:t>
            </a:r>
          </a:p>
        </p:txBody>
      </p:sp>
      <p:sp>
        <p:nvSpPr>
          <p:cNvPr id="30" name="Rounded Rectangle 29"/>
          <p:cNvSpPr/>
          <p:nvPr/>
        </p:nvSpPr>
        <p:spPr>
          <a:xfrm>
            <a:off x="3657600" y="1600200"/>
            <a:ext cx="1417320" cy="685800"/>
          </a:xfrm>
          <a:prstGeom prst="roundRect">
            <a:avLst>
              <a:gd name="adj" fmla="val 12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00000"/>
              </a:lnSpc>
            </a:pPr>
            <a:r>
              <a:rPr lang="ko-KR" sz="1300" b="1">
                <a:solidFill>
                  <a:srgbClr val="FFFFFF"/>
                </a:solidFill>
                <a:latin typeface="맑은 고딕"/>
                <a:ea typeface="맑은 고딕"/>
                <a:cs typeface="맑은 고딕"/>
              </a:rPr>
              <a:t>Jetson</a:t>
            </a:r>
          </a:p>
          <a:p>
            <a:pPr algn="ctr">
              <a:lnSpc>
                <a:spcPct val="100000"/>
              </a:lnSpc>
            </a:pPr>
            <a:r>
              <a:rPr lang="ko-KR" sz="1000" b="0">
                <a:solidFill>
                  <a:srgbClr val="C9D1DB"/>
                </a:solidFill>
                <a:latin typeface="맑은 고딕"/>
                <a:ea typeface="맑은 고딕"/>
                <a:cs typeface="맑은 고딕"/>
              </a:rPr>
              <a:t>Orin Nano</a:t>
            </a:r>
          </a:p>
        </p:txBody>
      </p:sp>
      <p:sp>
        <p:nvSpPr>
          <p:cNvPr id="31" name="Rectangle 30"/>
          <p:cNvSpPr/>
          <p:nvPr/>
        </p:nvSpPr>
        <p:spPr>
          <a:xfrm>
            <a:off x="2011680" y="4187952"/>
            <a:ext cx="109728" cy="1481328"/>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5394960" y="4187952"/>
            <a:ext cx="109728" cy="1481328"/>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ounded Rectangle 32"/>
          <p:cNvSpPr/>
          <p:nvPr/>
        </p:nvSpPr>
        <p:spPr>
          <a:xfrm>
            <a:off x="1645920" y="3840480"/>
            <a:ext cx="4206240" cy="347472"/>
          </a:xfrm>
          <a:prstGeom prst="roundRect">
            <a:avLst>
              <a:gd name="adj" fmla="val 50000"/>
            </a:avLst>
          </a:prstGeom>
          <a:solidFill>
            <a:srgbClr val="4A5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700784"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2487168"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3273552"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4059936"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4846320"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5632704"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210312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217627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2240279"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230428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310896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318211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3246120"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331012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484632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491947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4983480"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504748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3017520" y="4434840"/>
            <a:ext cx="1463040" cy="411480"/>
          </a:xfrm>
          <a:prstGeom prst="roundRect">
            <a:avLst>
              <a:gd name="adj" fmla="val 30000"/>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lang="ko-KR" sz="1400" b="1">
                <a:solidFill>
                  <a:srgbClr val="FFFFFF"/>
                </a:solidFill>
                <a:latin typeface="맑은 고딕"/>
                <a:ea typeface="맑은 고딕"/>
                <a:cs typeface="맑은 고딕"/>
              </a:rPr>
              <a:t>벨트 정지</a:t>
            </a:r>
          </a:p>
        </p:txBody>
      </p:sp>
      <p:sp>
        <p:nvSpPr>
          <p:cNvPr id="53" name="TextBox 52"/>
          <p:cNvSpPr txBox="1"/>
          <p:nvPr/>
        </p:nvSpPr>
        <p:spPr>
          <a:xfrm>
            <a:off x="2194560" y="4983480"/>
            <a:ext cx="310896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컨베이어 벨트 (L9110S · DC 모터)</a:t>
            </a:r>
          </a:p>
        </p:txBody>
      </p:sp>
      <p:sp>
        <p:nvSpPr>
          <p:cNvPr id="54" name="Rectangle 53"/>
          <p:cNvSpPr/>
          <p:nvPr/>
        </p:nvSpPr>
        <p:spPr>
          <a:xfrm>
            <a:off x="5623560" y="2395728"/>
            <a:ext cx="91440" cy="1444752"/>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ounded Rectangle 54"/>
          <p:cNvSpPr/>
          <p:nvPr/>
        </p:nvSpPr>
        <p:spPr>
          <a:xfrm>
            <a:off x="5349240" y="2011680"/>
            <a:ext cx="658368" cy="384048"/>
          </a:xfrm>
          <a:prstGeom prst="roundRect">
            <a:avLst>
              <a:gd name="adj" fmla="val 20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Oval 55"/>
          <p:cNvSpPr/>
          <p:nvPr/>
        </p:nvSpPr>
        <p:spPr>
          <a:xfrm>
            <a:off x="5870448" y="2048256"/>
            <a:ext cx="310896" cy="310896"/>
          </a:xfrm>
          <a:prstGeom prst="ellipse">
            <a:avLst/>
          </a:prstGeom>
          <a:solidFill>
            <a:srgbClr val="2B333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5971032" y="2103120"/>
            <a:ext cx="82296" cy="822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5120640" y="1645920"/>
            <a:ext cx="118872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USB 웹캠</a:t>
            </a:r>
          </a:p>
        </p:txBody>
      </p:sp>
      <p:cxnSp>
        <p:nvCxnSpPr>
          <p:cNvPr id="59" name="Connector 58"/>
          <p:cNvCxnSpPr/>
          <p:nvPr/>
        </p:nvCxnSpPr>
        <p:spPr>
          <a:xfrm>
            <a:off x="5074920" y="2103120"/>
            <a:ext cx="27432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1938528"/>
            <a:ext cx="27432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297680" y="2286000"/>
            <a:ext cx="0" cy="155448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97280" y="3017520"/>
            <a:ext cx="320040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1018413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Rounded Rectangle 63"/>
          <p:cNvSpPr/>
          <p:nvPr/>
        </p:nvSpPr>
        <p:spPr>
          <a:xfrm>
            <a:off x="1045845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1012698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1043559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Rounded Rectangle 66"/>
          <p:cNvSpPr/>
          <p:nvPr/>
        </p:nvSpPr>
        <p:spPr>
          <a:xfrm>
            <a:off x="1000125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Rounded Rectangle 67"/>
          <p:cNvSpPr/>
          <p:nvPr/>
        </p:nvSpPr>
        <p:spPr>
          <a:xfrm>
            <a:off x="1068705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Rounded Rectangle 68"/>
          <p:cNvSpPr/>
          <p:nvPr/>
        </p:nvSpPr>
        <p:spPr>
          <a:xfrm>
            <a:off x="10126980" y="3886200"/>
            <a:ext cx="594360" cy="845820"/>
          </a:xfrm>
          <a:prstGeom prst="roundRect">
            <a:avLst>
              <a:gd name="adj" fmla="val 25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10195560" y="3383280"/>
            <a:ext cx="457200" cy="297180"/>
          </a:xfrm>
          <a:prstGeom prst="ellipse">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Oval 70"/>
          <p:cNvSpPr/>
          <p:nvPr/>
        </p:nvSpPr>
        <p:spPr>
          <a:xfrm>
            <a:off x="10229850" y="3486150"/>
            <a:ext cx="388620" cy="400050"/>
          </a:xfrm>
          <a:prstGeom prst="ellipse">
            <a:avLst/>
          </a:prstGeom>
          <a:solidFill>
            <a:srgbClr val="F7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Rounded Rectangle 71"/>
          <p:cNvSpPr/>
          <p:nvPr/>
        </p:nvSpPr>
        <p:spPr>
          <a:xfrm>
            <a:off x="10149840" y="3497580"/>
            <a:ext cx="548640" cy="57150"/>
          </a:xfrm>
          <a:prstGeom prst="roundRect">
            <a:avLst>
              <a:gd name="adj" fmla="val 50000"/>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Oval 72"/>
          <p:cNvSpPr/>
          <p:nvPr/>
        </p:nvSpPr>
        <p:spPr>
          <a:xfrm>
            <a:off x="10309860"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Oval 73"/>
          <p:cNvSpPr/>
          <p:nvPr/>
        </p:nvSpPr>
        <p:spPr>
          <a:xfrm>
            <a:off x="10488168"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Rounded Rectangle 74"/>
          <p:cNvSpPr/>
          <p:nvPr/>
        </p:nvSpPr>
        <p:spPr>
          <a:xfrm>
            <a:off x="808101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Rounded Rectangle 75"/>
          <p:cNvSpPr/>
          <p:nvPr/>
        </p:nvSpPr>
        <p:spPr>
          <a:xfrm>
            <a:off x="8355329"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Oval 76"/>
          <p:cNvSpPr/>
          <p:nvPr/>
        </p:nvSpPr>
        <p:spPr>
          <a:xfrm>
            <a:off x="802386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Oval 77"/>
          <p:cNvSpPr/>
          <p:nvPr/>
        </p:nvSpPr>
        <p:spPr>
          <a:xfrm>
            <a:off x="8332469"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Rounded Rectangle 78"/>
          <p:cNvSpPr/>
          <p:nvPr/>
        </p:nvSpPr>
        <p:spPr>
          <a:xfrm>
            <a:off x="7898129"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Rounded Rectangle 79"/>
          <p:cNvSpPr/>
          <p:nvPr/>
        </p:nvSpPr>
        <p:spPr>
          <a:xfrm>
            <a:off x="858393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Rounded Rectangle 80"/>
          <p:cNvSpPr/>
          <p:nvPr/>
        </p:nvSpPr>
        <p:spPr>
          <a:xfrm>
            <a:off x="8023860" y="3886200"/>
            <a:ext cx="594360" cy="845820"/>
          </a:xfrm>
          <a:prstGeom prst="roundRect">
            <a:avLst>
              <a:gd name="adj" fmla="val 25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Oval 81"/>
          <p:cNvSpPr/>
          <p:nvPr/>
        </p:nvSpPr>
        <p:spPr>
          <a:xfrm>
            <a:off x="8092440" y="3383280"/>
            <a:ext cx="457200" cy="297180"/>
          </a:xfrm>
          <a:prstGeom prst="ellipse">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Oval 82"/>
          <p:cNvSpPr/>
          <p:nvPr/>
        </p:nvSpPr>
        <p:spPr>
          <a:xfrm>
            <a:off x="8126729" y="3486150"/>
            <a:ext cx="388620" cy="400050"/>
          </a:xfrm>
          <a:prstGeom prst="ellipse">
            <a:avLst/>
          </a:prstGeom>
          <a:solidFill>
            <a:srgbClr val="F7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Rounded Rectangle 83"/>
          <p:cNvSpPr/>
          <p:nvPr/>
        </p:nvSpPr>
        <p:spPr>
          <a:xfrm>
            <a:off x="8046719" y="3497580"/>
            <a:ext cx="548640" cy="57150"/>
          </a:xfrm>
          <a:prstGeom prst="roundRect">
            <a:avLst>
              <a:gd name="adj" fmla="val 50000"/>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Oval 84"/>
          <p:cNvSpPr/>
          <p:nvPr/>
        </p:nvSpPr>
        <p:spPr>
          <a:xfrm>
            <a:off x="8206740"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Oval 85"/>
          <p:cNvSpPr/>
          <p:nvPr/>
        </p:nvSpPr>
        <p:spPr>
          <a:xfrm>
            <a:off x="8385048"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87" name="Connector 86"/>
          <p:cNvCxnSpPr/>
          <p:nvPr/>
        </p:nvCxnSpPr>
        <p:spPr>
          <a:xfrm flipH="1">
            <a:off x="7863840" y="2926080"/>
            <a:ext cx="2194560" cy="0"/>
          </a:xfrm>
          <a:prstGeom prst="line">
            <a:avLst/>
          </a:prstGeom>
          <a:ln w="2222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8412480" y="2578608"/>
            <a:ext cx="1097280" cy="274320"/>
          </a:xfrm>
          <a:prstGeom prst="rect">
            <a:avLst/>
          </a:prstGeom>
          <a:noFill/>
        </p:spPr>
        <p:txBody>
          <a:bodyPr wrap="square" lIns="0" tIns="0" rIns="0" bIns="0" anchor="t">
            <a:spAutoFit/>
          </a:bodyPr>
          <a:lstStyle/>
          <a:p>
            <a:pPr algn="ctr">
              <a:lnSpc>
                <a:spcPct val="115000"/>
              </a:lnSpc>
              <a:spcAft>
                <a:spcPts val="0"/>
              </a:spcAft>
            </a:pPr>
            <a:r>
              <a:rPr lang="ko-KR" sz="1200" b="0">
                <a:solidFill>
                  <a:srgbClr val="6B7480"/>
                </a:solidFill>
                <a:latin typeface="맑은 고딕"/>
                <a:ea typeface="맑은 고딕"/>
                <a:cs typeface="맑은 고딕"/>
              </a:rPr>
              <a:t>다가옴</a:t>
            </a:r>
          </a:p>
        </p:txBody>
      </p:sp>
      <p:sp>
        <p:nvSpPr>
          <p:cNvPr id="89" name="Rounded Rectangle 88"/>
          <p:cNvSpPr/>
          <p:nvPr/>
        </p:nvSpPr>
        <p:spPr>
          <a:xfrm>
            <a:off x="6435090" y="4640580"/>
            <a:ext cx="205740" cy="937259"/>
          </a:xfrm>
          <a:prstGeom prst="roundRect">
            <a:avLst>
              <a:gd name="adj" fmla="val 40000"/>
            </a:avLst>
          </a:prstGeom>
          <a:solidFill>
            <a:srgbClr val="3B4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Rounded Rectangle 89"/>
          <p:cNvSpPr/>
          <p:nvPr/>
        </p:nvSpPr>
        <p:spPr>
          <a:xfrm>
            <a:off x="6709409" y="4640580"/>
            <a:ext cx="205740" cy="937259"/>
          </a:xfrm>
          <a:prstGeom prst="roundRect">
            <a:avLst>
              <a:gd name="adj" fmla="val 40000"/>
            </a:avLst>
          </a:prstGeom>
          <a:solidFill>
            <a:srgbClr val="3B4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Oval 90"/>
          <p:cNvSpPr/>
          <p:nvPr/>
        </p:nvSpPr>
        <p:spPr>
          <a:xfrm>
            <a:off x="6377940" y="5554980"/>
            <a:ext cx="285750" cy="1143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Oval 91"/>
          <p:cNvSpPr/>
          <p:nvPr/>
        </p:nvSpPr>
        <p:spPr>
          <a:xfrm>
            <a:off x="6686550" y="5554980"/>
            <a:ext cx="285750" cy="1143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Rounded Rectangle 92"/>
          <p:cNvSpPr/>
          <p:nvPr/>
        </p:nvSpPr>
        <p:spPr>
          <a:xfrm>
            <a:off x="6252209" y="3943350"/>
            <a:ext cx="160020" cy="754380"/>
          </a:xfrm>
          <a:prstGeom prst="roundRect">
            <a:avLst>
              <a:gd name="adj" fmla="val 50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Rounded Rectangle 93"/>
          <p:cNvSpPr/>
          <p:nvPr/>
        </p:nvSpPr>
        <p:spPr>
          <a:xfrm>
            <a:off x="6938009" y="3943350"/>
            <a:ext cx="160020" cy="754380"/>
          </a:xfrm>
          <a:prstGeom prst="roundRect">
            <a:avLst>
              <a:gd name="adj" fmla="val 50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6377940" y="3886200"/>
            <a:ext cx="594360" cy="845820"/>
          </a:xfrm>
          <a:prstGeom prst="roundRect">
            <a:avLst>
              <a:gd name="adj" fmla="val 25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Oval 95"/>
          <p:cNvSpPr/>
          <p:nvPr/>
        </p:nvSpPr>
        <p:spPr>
          <a:xfrm>
            <a:off x="6446520" y="3383280"/>
            <a:ext cx="457200" cy="29718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Oval 96"/>
          <p:cNvSpPr/>
          <p:nvPr/>
        </p:nvSpPr>
        <p:spPr>
          <a:xfrm>
            <a:off x="6480809" y="3486150"/>
            <a:ext cx="388620" cy="400050"/>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Rounded Rectangle 97"/>
          <p:cNvSpPr/>
          <p:nvPr/>
        </p:nvSpPr>
        <p:spPr>
          <a:xfrm>
            <a:off x="6400800" y="3497580"/>
            <a:ext cx="548640" cy="57150"/>
          </a:xfrm>
          <a:prstGeom prst="roundRect">
            <a:avLst>
              <a:gd name="adj" fmla="val 50000"/>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Oval 98"/>
          <p:cNvSpPr/>
          <p:nvPr/>
        </p:nvSpPr>
        <p:spPr>
          <a:xfrm>
            <a:off x="6560820" y="3657600"/>
            <a:ext cx="50292" cy="5029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Oval 99"/>
          <p:cNvSpPr/>
          <p:nvPr/>
        </p:nvSpPr>
        <p:spPr>
          <a:xfrm>
            <a:off x="6739128" y="3657600"/>
            <a:ext cx="50292" cy="5029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Rectangle 100"/>
          <p:cNvSpPr/>
          <p:nvPr/>
        </p:nvSpPr>
        <p:spPr>
          <a:xfrm>
            <a:off x="6423659" y="3463290"/>
            <a:ext cx="502920" cy="457200"/>
          </a:xfrm>
          <a:prstGeom prst="rect">
            <a:avLst/>
          </a:prstGeom>
          <a:noFill/>
          <a:ln w="25400">
            <a:solidFill>
              <a:srgbClr val="E874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ectangle 101"/>
          <p:cNvSpPr/>
          <p:nvPr/>
        </p:nvSpPr>
        <p:spPr>
          <a:xfrm>
            <a:off x="6423659" y="3154680"/>
            <a:ext cx="960120" cy="237744"/>
          </a:xfrm>
          <a:prstGeom prst="rect">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000" b="1">
                <a:solidFill>
                  <a:srgbClr val="FFFFFF"/>
                </a:solidFill>
                <a:latin typeface="맑은 고딕"/>
                <a:ea typeface="맑은 고딕"/>
                <a:cs typeface="맑은 고딕"/>
              </a:rPr>
              <a:t>얼굴 검출</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fade">
                                      <p:cBhvr>
                                        <p:cTn id="21" dur="500"/>
                                        <p:tgtEl>
                                          <p:spTgt spid="5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23" grpId="0" animBg="1"/>
      <p:bldP spid="24" grpId="0"/>
      <p:bldP spid="52" grpId="0" animBg="1"/>
      <p:bldP spid="101" grpId="0" animBg="1"/>
      <p:bldP spid="10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04  </a:t>
            </a:r>
            <a:r>
              <a:rPr lang="ko-KR" sz="3000" b="1">
                <a:solidFill>
                  <a:srgbClr val="1F2D3D"/>
                </a:solidFill>
                <a:latin typeface="맑은 고딕"/>
                <a:ea typeface="맑은 고딕"/>
                <a:cs typeface="맑은 고딕"/>
              </a:rPr>
              <a:t>모델 선택과 검증</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6</a:t>
            </a:r>
          </a:p>
        </p:txBody>
      </p:sp>
      <p:sp>
        <p:nvSpPr>
          <p:cNvPr id="5" name="TextBox 4"/>
          <p:cNvSpPr txBox="1"/>
          <p:nvPr/>
        </p:nvSpPr>
        <p:spPr>
          <a:xfrm>
            <a:off x="731520" y="1463040"/>
            <a:ext cx="566928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YuNet을 고른 이유</a:t>
            </a:r>
          </a:p>
        </p:txBody>
      </p:sp>
      <p:sp>
        <p:nvSpPr>
          <p:cNvPr id="6" name="Oval 5"/>
          <p:cNvSpPr/>
          <p:nvPr/>
        </p:nvSpPr>
        <p:spPr>
          <a:xfrm>
            <a:off x="731520" y="205740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1</a:t>
            </a:r>
          </a:p>
        </p:txBody>
      </p:sp>
      <p:sp>
        <p:nvSpPr>
          <p:cNvPr id="7" name="TextBox 6"/>
          <p:cNvSpPr txBox="1"/>
          <p:nvPr/>
        </p:nvSpPr>
        <p:spPr>
          <a:xfrm>
            <a:off x="1508760" y="201168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가볍다</a:t>
            </a:r>
          </a:p>
        </p:txBody>
      </p:sp>
      <p:sp>
        <p:nvSpPr>
          <p:cNvPr id="8" name="TextBox 7"/>
          <p:cNvSpPr txBox="1"/>
          <p:nvPr/>
        </p:nvSpPr>
        <p:spPr>
          <a:xfrm>
            <a:off x="1508760" y="239572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모델 파일이 약 227KB, Jetson CPU에서도 실시간으로 돈다</a:t>
            </a:r>
          </a:p>
        </p:txBody>
      </p:sp>
      <p:sp>
        <p:nvSpPr>
          <p:cNvPr id="9" name="Oval 8"/>
          <p:cNvSpPr/>
          <p:nvPr/>
        </p:nvSpPr>
        <p:spPr>
          <a:xfrm>
            <a:off x="731520" y="33832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2</a:t>
            </a:r>
          </a:p>
        </p:txBody>
      </p:sp>
      <p:sp>
        <p:nvSpPr>
          <p:cNvPr id="10" name="TextBox 9"/>
          <p:cNvSpPr txBox="1"/>
          <p:nvPr/>
        </p:nvSpPr>
        <p:spPr>
          <a:xfrm>
            <a:off x="1508760" y="333756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바로 쓸 수 있다</a:t>
            </a:r>
          </a:p>
        </p:txBody>
      </p:sp>
      <p:sp>
        <p:nvSpPr>
          <p:cNvPr id="11" name="TextBox 10"/>
          <p:cNvSpPr txBox="1"/>
          <p:nvPr/>
        </p:nvSpPr>
        <p:spPr>
          <a:xfrm>
            <a:off x="1508760" y="372160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OpenCV에 들어 있는 사전학습 모델이라 학습 데이터 없이 시작할 수 있다</a:t>
            </a:r>
          </a:p>
        </p:txBody>
      </p:sp>
      <p:sp>
        <p:nvSpPr>
          <p:cNvPr id="12" name="Oval 11"/>
          <p:cNvSpPr/>
          <p:nvPr/>
        </p:nvSpPr>
        <p:spPr>
          <a:xfrm>
            <a:off x="731520" y="4709159"/>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3</a:t>
            </a:r>
          </a:p>
        </p:txBody>
      </p:sp>
      <p:sp>
        <p:nvSpPr>
          <p:cNvPr id="13" name="TextBox 12"/>
          <p:cNvSpPr txBox="1"/>
          <p:nvPr/>
        </p:nvSpPr>
        <p:spPr>
          <a:xfrm>
            <a:off x="1508760" y="466344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거리 추정에 맞다</a:t>
            </a:r>
          </a:p>
        </p:txBody>
      </p:sp>
      <p:sp>
        <p:nvSpPr>
          <p:cNvPr id="14" name="TextBox 13"/>
          <p:cNvSpPr txBox="1"/>
          <p:nvPr/>
        </p:nvSpPr>
        <p:spPr>
          <a:xfrm>
            <a:off x="1508760" y="504748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얼굴 상자 크기로 거리를 바로 계산할 수 있다</a:t>
            </a:r>
          </a:p>
        </p:txBody>
      </p:sp>
      <p:sp>
        <p:nvSpPr>
          <p:cNvPr id="15" name="TextBox 14"/>
          <p:cNvSpPr txBox="1"/>
          <p:nvPr/>
        </p:nvSpPr>
        <p:spPr>
          <a:xfrm>
            <a:off x="6949440" y="146304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검증</a:t>
            </a:r>
          </a:p>
        </p:txBody>
      </p:sp>
      <p:sp>
        <p:nvSpPr>
          <p:cNvPr id="16" name="Rounded Rectangle 15"/>
          <p:cNvSpPr/>
          <p:nvPr/>
        </p:nvSpPr>
        <p:spPr>
          <a:xfrm>
            <a:off x="6949440" y="192024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178040" y="192024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0.834</a:t>
            </a:r>
          </a:p>
        </p:txBody>
      </p:sp>
      <p:sp>
        <p:nvSpPr>
          <p:cNvPr id="18" name="TextBox 17"/>
          <p:cNvSpPr txBox="1"/>
          <p:nvPr/>
        </p:nvSpPr>
        <p:spPr>
          <a:xfrm>
            <a:off x="9326880" y="192024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공개 검증 AP (WIDER Face, easy)</a:t>
            </a:r>
          </a:p>
        </p:txBody>
      </p:sp>
      <p:sp>
        <p:nvSpPr>
          <p:cNvPr id="19" name="Rounded Rectangle 18"/>
          <p:cNvSpPr/>
          <p:nvPr/>
        </p:nvSpPr>
        <p:spPr>
          <a:xfrm>
            <a:off x="6949440" y="320040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178040" y="320040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36~37 FPS</a:t>
            </a:r>
          </a:p>
        </p:txBody>
      </p:sp>
      <p:sp>
        <p:nvSpPr>
          <p:cNvPr id="21" name="TextBox 20"/>
          <p:cNvSpPr txBox="1"/>
          <p:nvPr/>
        </p:nvSpPr>
        <p:spPr>
          <a:xfrm>
            <a:off x="9326880" y="320040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Jetson에서 모델만 실행</a:t>
            </a:r>
          </a:p>
        </p:txBody>
      </p:sp>
      <p:sp>
        <p:nvSpPr>
          <p:cNvPr id="22" name="Rounded Rectangle 21"/>
          <p:cNvSpPr/>
          <p:nvPr/>
        </p:nvSpPr>
        <p:spPr>
          <a:xfrm>
            <a:off x="6949440" y="448056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178040" y="448056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22.1 FPS</a:t>
            </a:r>
          </a:p>
        </p:txBody>
      </p:sp>
      <p:sp>
        <p:nvSpPr>
          <p:cNvPr id="24" name="TextBox 23"/>
          <p:cNvSpPr txBox="1"/>
          <p:nvPr/>
        </p:nvSpPr>
        <p:spPr>
          <a:xfrm>
            <a:off x="9326880" y="448056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카메라까지 포함한 실시간 처리</a:t>
            </a:r>
          </a:p>
        </p:txBody>
      </p:sp>
      <p:sp>
        <p:nvSpPr>
          <p:cNvPr id="25" name="TextBox 24"/>
          <p:cNvSpPr txBox="1"/>
          <p:nvPr/>
        </p:nvSpPr>
        <p:spPr>
          <a:xfrm>
            <a:off x="6949440" y="5806440"/>
            <a:ext cx="4526280" cy="457200"/>
          </a:xfrm>
          <a:prstGeom prst="rect">
            <a:avLst/>
          </a:prstGeom>
          <a:noFill/>
        </p:spPr>
        <p:txBody>
          <a:bodyPr wrap="square" lIns="0" tIns="0" rIns="0" bIns="0" anchor="t">
            <a:spAutoFit/>
          </a:bodyPr>
          <a:lstStyle/>
          <a:p>
            <a:pPr algn="l">
              <a:lnSpc>
                <a:spcPct val="115000"/>
              </a:lnSpc>
              <a:spcAft>
                <a:spcPts val="0"/>
              </a:spcAft>
            </a:pPr>
            <a:r>
              <a:rPr lang="ko-KR" sz="1200" b="0">
                <a:solidFill>
                  <a:srgbClr val="6B7480"/>
                </a:solidFill>
                <a:latin typeface="맑은 고딕"/>
                <a:ea typeface="맑은 고딕"/>
                <a:cs typeface="맑은 고딕"/>
              </a:rPr>
              <a:t>현장 줄자 시험에서는 거리가 실제보다 짧게 추정되어 보정이 필요합니다 (07 개선 방향)</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p:bldP spid="9" grpId="0" animBg="1"/>
      <p:bldP spid="10" grpId="0"/>
      <p:bldP spid="11" grpId="0"/>
      <p:bldP spid="12" grpId="0" animBg="1"/>
      <p:bldP spid="13" grpId="0"/>
      <p:bldP spid="14" grpId="0"/>
      <p:bldP spid="15" grpId="0"/>
      <p:bldP spid="16" grpId="0" animBg="1"/>
      <p:bldP spid="17" grpId="0"/>
      <p:bldP spid="18" grpId="0"/>
      <p:bldP spid="19" grpId="0" animBg="1"/>
      <p:bldP spid="20" grpId="0"/>
      <p:bldP spid="21" grpId="0"/>
      <p:bldP spid="22" grpId="0" animBg="1"/>
      <p:bldP spid="23" grpId="0"/>
      <p:bldP spid="24" grpId="0"/>
      <p:bldP spid="2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05  </a:t>
            </a:r>
            <a:r>
              <a:rPr lang="ko-KR" sz="3000" b="1">
                <a:solidFill>
                  <a:srgbClr val="1F2D3D"/>
                </a:solidFill>
                <a:latin typeface="맑은 고딕"/>
                <a:ea typeface="맑은 고딕"/>
                <a:cs typeface="맑은 고딕"/>
              </a:rPr>
              <a:t>동작 설명</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상태별 동작</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7</a:t>
            </a:r>
          </a:p>
        </p:txBody>
      </p:sp>
      <p:sp>
        <p:nvSpPr>
          <p:cNvPr id="6" name="정상 카드"/>
          <p:cNvSpPr/>
          <p:nvPr/>
        </p:nvSpPr>
        <p:spPr>
          <a:xfrm>
            <a:off x="7315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1005840" y="1874519"/>
            <a:ext cx="731520" cy="73152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9202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정상</a:t>
            </a:r>
          </a:p>
        </p:txBody>
      </p:sp>
      <p:sp>
        <p:nvSpPr>
          <p:cNvPr id="9" name="TextBox 8"/>
          <p:cNvSpPr txBox="1"/>
          <p:nvPr/>
        </p:nvSpPr>
        <p:spPr>
          <a:xfrm>
            <a:off x="10058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얼굴 없음 또는 200cm 초과</a:t>
            </a:r>
          </a:p>
        </p:txBody>
      </p:sp>
      <p:cxnSp>
        <p:nvCxnSpPr>
          <p:cNvPr id="10" name="Connector 9"/>
          <p:cNvCxnSpPr/>
          <p:nvPr/>
        </p:nvCxnSpPr>
        <p:spPr>
          <a:xfrm>
            <a:off x="10058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12" name="TextBox 11"/>
          <p:cNvSpPr txBox="1"/>
          <p:nvPr/>
        </p:nvSpPr>
        <p:spPr>
          <a:xfrm>
            <a:off x="2011680"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꺼짐</a:t>
            </a:r>
          </a:p>
        </p:txBody>
      </p:sp>
      <p:cxnSp>
        <p:nvCxnSpPr>
          <p:cNvPr id="13" name="Connector 12"/>
          <p:cNvCxnSpPr/>
          <p:nvPr/>
        </p:nvCxnSpPr>
        <p:spPr>
          <a:xfrm>
            <a:off x="10058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058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15" name="TextBox 14"/>
          <p:cNvSpPr txBox="1"/>
          <p:nvPr/>
        </p:nvSpPr>
        <p:spPr>
          <a:xfrm>
            <a:off x="2011680"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작동</a:t>
            </a:r>
          </a:p>
        </p:txBody>
      </p:sp>
      <p:cxnSp>
        <p:nvCxnSpPr>
          <p:cNvPr id="16" name="Connector 15"/>
          <p:cNvCxnSpPr/>
          <p:nvPr/>
        </p:nvCxnSpPr>
        <p:spPr>
          <a:xfrm>
            <a:off x="10058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058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18" name="TextBox 17"/>
          <p:cNvSpPr txBox="1"/>
          <p:nvPr/>
        </p:nvSpPr>
        <p:spPr>
          <a:xfrm>
            <a:off x="2011680"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상태가 바뀔 때</a:t>
            </a:r>
          </a:p>
        </p:txBody>
      </p:sp>
      <p:sp>
        <p:nvSpPr>
          <p:cNvPr id="19" name="경고 카드"/>
          <p:cNvSpPr/>
          <p:nvPr/>
        </p:nvSpPr>
        <p:spPr>
          <a:xfrm>
            <a:off x="43891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663440" y="1874519"/>
            <a:ext cx="731520" cy="7315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5778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경고</a:t>
            </a:r>
          </a:p>
        </p:txBody>
      </p:sp>
      <p:sp>
        <p:nvSpPr>
          <p:cNvPr id="22" name="TextBox 21"/>
          <p:cNvSpPr txBox="1"/>
          <p:nvPr/>
        </p:nvSpPr>
        <p:spPr>
          <a:xfrm>
            <a:off x="46634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50cm 초과 ~ 200cm 이하</a:t>
            </a:r>
          </a:p>
        </p:txBody>
      </p:sp>
      <p:cxnSp>
        <p:nvCxnSpPr>
          <p:cNvPr id="23" name="Connector 22"/>
          <p:cNvCxnSpPr/>
          <p:nvPr/>
        </p:nvCxnSpPr>
        <p:spPr>
          <a:xfrm>
            <a:off x="46634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6634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25" name="TextBox 24"/>
          <p:cNvSpPr txBox="1"/>
          <p:nvPr/>
        </p:nvSpPr>
        <p:spPr>
          <a:xfrm>
            <a:off x="5669279"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노랑</a:t>
            </a:r>
          </a:p>
        </p:txBody>
      </p:sp>
      <p:cxnSp>
        <p:nvCxnSpPr>
          <p:cNvPr id="26" name="Connector 25"/>
          <p:cNvCxnSpPr/>
          <p:nvPr/>
        </p:nvCxnSpPr>
        <p:spPr>
          <a:xfrm>
            <a:off x="46634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6634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28" name="TextBox 27"/>
          <p:cNvSpPr txBox="1"/>
          <p:nvPr/>
        </p:nvSpPr>
        <p:spPr>
          <a:xfrm>
            <a:off x="5669279"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계속 작동</a:t>
            </a:r>
          </a:p>
        </p:txBody>
      </p:sp>
      <p:cxnSp>
        <p:nvCxnSpPr>
          <p:cNvPr id="29" name="Connector 28"/>
          <p:cNvCxnSpPr/>
          <p:nvPr/>
        </p:nvCxnSpPr>
        <p:spPr>
          <a:xfrm>
            <a:off x="46634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634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31" name="TextBox 30"/>
          <p:cNvSpPr txBox="1"/>
          <p:nvPr/>
        </p:nvSpPr>
        <p:spPr>
          <a:xfrm>
            <a:off x="5669279"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상태가 바뀔 때</a:t>
            </a:r>
          </a:p>
        </p:txBody>
      </p:sp>
      <p:sp>
        <p:nvSpPr>
          <p:cNvPr id="32" name="위험 카드"/>
          <p:cNvSpPr/>
          <p:nvPr/>
        </p:nvSpPr>
        <p:spPr>
          <a:xfrm>
            <a:off x="80467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8321040" y="1874519"/>
            <a:ext cx="731520" cy="731520"/>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2354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위험</a:t>
            </a:r>
          </a:p>
        </p:txBody>
      </p:sp>
      <p:sp>
        <p:nvSpPr>
          <p:cNvPr id="35" name="TextBox 34"/>
          <p:cNvSpPr txBox="1"/>
          <p:nvPr/>
        </p:nvSpPr>
        <p:spPr>
          <a:xfrm>
            <a:off x="83210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50cm 이하</a:t>
            </a:r>
          </a:p>
        </p:txBody>
      </p:sp>
      <p:cxnSp>
        <p:nvCxnSpPr>
          <p:cNvPr id="36" name="Connector 35"/>
          <p:cNvCxnSpPr/>
          <p:nvPr/>
        </p:nvCxnSpPr>
        <p:spPr>
          <a:xfrm>
            <a:off x="83210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210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38" name="TextBox 37"/>
          <p:cNvSpPr txBox="1"/>
          <p:nvPr/>
        </p:nvSpPr>
        <p:spPr>
          <a:xfrm>
            <a:off x="9326880"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빨강</a:t>
            </a:r>
          </a:p>
        </p:txBody>
      </p:sp>
      <p:cxnSp>
        <p:nvCxnSpPr>
          <p:cNvPr id="39" name="Connector 38"/>
          <p:cNvCxnSpPr/>
          <p:nvPr/>
        </p:nvCxnSpPr>
        <p:spPr>
          <a:xfrm>
            <a:off x="83210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3210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41" name="TextBox 40"/>
          <p:cNvSpPr txBox="1"/>
          <p:nvPr/>
        </p:nvSpPr>
        <p:spPr>
          <a:xfrm>
            <a:off x="9326880"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D64541"/>
                </a:solidFill>
                <a:latin typeface="맑은 고딕"/>
                <a:ea typeface="맑은 고딕"/>
                <a:cs typeface="맑은 고딕"/>
              </a:rPr>
              <a:t>정지</a:t>
            </a:r>
          </a:p>
        </p:txBody>
      </p:sp>
      <p:cxnSp>
        <p:nvCxnSpPr>
          <p:cNvPr id="42" name="Connector 41"/>
          <p:cNvCxnSpPr/>
          <p:nvPr/>
        </p:nvCxnSpPr>
        <p:spPr>
          <a:xfrm>
            <a:off x="83210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3210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44" name="TextBox 43"/>
          <p:cNvSpPr txBox="1"/>
          <p:nvPr/>
        </p:nvSpPr>
        <p:spPr>
          <a:xfrm>
            <a:off x="9326880"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정지 시각 · 사유</a:t>
            </a:r>
          </a:p>
        </p:txBody>
      </p:sp>
      <p:sp>
        <p:nvSpPr>
          <p:cNvPr id="45" name="TextBox 44"/>
          <p:cNvSpPr txBox="1"/>
          <p:nvPr/>
        </p:nvSpPr>
        <p:spPr>
          <a:xfrm>
            <a:off x="731520" y="5806440"/>
            <a:ext cx="10789920" cy="45720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얼굴 검출이 잠깐 끊겨도 상태가 깜빡이지 않도록, 위험해질 때는 바로, 안전해질 때는 1초 유지된 뒤 바뀝니다. 대시보드 신호등도 같은 색으로 바뀝니다.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8" presetID="10" presetClass="entr" presetSubtype="0" fill="hold"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6" presetID="10" presetClass="entr" presetSubtype="0" fill="hold"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500"/>
                                        <p:tgtEl>
                                          <p:spTgt spid="2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500"/>
                                        <p:tgtEl>
                                          <p:spTgt spid="31"/>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500"/>
                                        <p:tgtEl>
                                          <p:spTgt spid="3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500"/>
                                        <p:tgtEl>
                                          <p:spTgt spid="3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fade">
                                      <p:cBhvr>
                                        <p:cTn id="98" dur="500"/>
                                        <p:tgtEl>
                                          <p:spTgt spid="35"/>
                                        </p:tgtEl>
                                      </p:cBhvr>
                                    </p:animEffect>
                                  </p:childTnLst>
                                </p:cTn>
                              </p:par>
                              <p:par>
                                <p:cTn id="99" presetID="10" presetClass="entr" presetSubtype="0" fill="hold" nodeType="with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00"/>
                                        <p:tgtEl>
                                          <p:spTgt spid="3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7"/>
                                        </p:tgtEl>
                                        <p:attrNameLst>
                                          <p:attrName>style.visibility</p:attrName>
                                        </p:attrNameLst>
                                      </p:cBhvr>
                                      <p:to>
                                        <p:strVal val="visible"/>
                                      </p:to>
                                    </p:set>
                                    <p:animEffect transition="in" filter="fade">
                                      <p:cBhvr>
                                        <p:cTn id="104" dur="500"/>
                                        <p:tgtEl>
                                          <p:spTgt spid="3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500"/>
                                        <p:tgtEl>
                                          <p:spTgt spid="38"/>
                                        </p:tgtEl>
                                      </p:cBhvr>
                                    </p:animEffect>
                                  </p:childTnLst>
                                </p:cTn>
                              </p:par>
                              <p:par>
                                <p:cTn id="108" presetID="10" presetClass="entr" presetSubtype="0" fill="hold" nodeType="withEffect">
                                  <p:stCondLst>
                                    <p:cond delay="0"/>
                                  </p:stCondLst>
                                  <p:childTnLst>
                                    <p:set>
                                      <p:cBhvr>
                                        <p:cTn id="109" dur="1" fill="hold">
                                          <p:stCondLst>
                                            <p:cond delay="0"/>
                                          </p:stCondLst>
                                        </p:cTn>
                                        <p:tgtEl>
                                          <p:spTgt spid="39"/>
                                        </p:tgtEl>
                                        <p:attrNameLst>
                                          <p:attrName>style.visibility</p:attrName>
                                        </p:attrNameLst>
                                      </p:cBhvr>
                                      <p:to>
                                        <p:strVal val="visible"/>
                                      </p:to>
                                    </p:set>
                                    <p:animEffect transition="in" filter="fade">
                                      <p:cBhvr>
                                        <p:cTn id="110" dur="500"/>
                                        <p:tgtEl>
                                          <p:spTgt spid="3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3" dur="500"/>
                                        <p:tgtEl>
                                          <p:spTgt spid="4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6" dur="500"/>
                                        <p:tgtEl>
                                          <p:spTgt spid="41"/>
                                        </p:tgtEl>
                                      </p:cBhvr>
                                    </p:animEffect>
                                  </p:childTnLst>
                                </p:cTn>
                              </p:par>
                              <p:par>
                                <p:cTn id="117" presetID="10" presetClass="entr" presetSubtype="0" fill="hold" nodeType="with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500"/>
                                        <p:tgtEl>
                                          <p:spTgt spid="42"/>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3"/>
                                        </p:tgtEl>
                                        <p:attrNameLst>
                                          <p:attrName>style.visibility</p:attrName>
                                        </p:attrNameLst>
                                      </p:cBhvr>
                                      <p:to>
                                        <p:strVal val="visible"/>
                                      </p:to>
                                    </p:set>
                                    <p:animEffect transition="in" filter="fade">
                                      <p:cBhvr>
                                        <p:cTn id="122" dur="500"/>
                                        <p:tgtEl>
                                          <p:spTgt spid="43"/>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4"/>
                                        </p:tgtEl>
                                        <p:attrNameLst>
                                          <p:attrName>style.visibility</p:attrName>
                                        </p:attrNameLst>
                                      </p:cBhvr>
                                      <p:to>
                                        <p:strVal val="visible"/>
                                      </p:to>
                                    </p:set>
                                    <p:animEffect transition="in" filter="fade">
                                      <p:cBhvr>
                                        <p:cTn id="125" dur="500"/>
                                        <p:tgtEl>
                                          <p:spTgt spid="44"/>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5"/>
                                        </p:tgtEl>
                                        <p:attrNameLst>
                                          <p:attrName>style.visibility</p:attrName>
                                        </p:attrNameLst>
                                      </p:cBhvr>
                                      <p:to>
                                        <p:strVal val="visible"/>
                                      </p:to>
                                    </p:set>
                                    <p:animEffect transition="in" filter="fade">
                                      <p:cBhvr>
                                        <p:cTn id="128"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1" grpId="0"/>
      <p:bldP spid="12" grpId="0"/>
      <p:bldP spid="14" grpId="0"/>
      <p:bldP spid="15" grpId="0"/>
      <p:bldP spid="17" grpId="0"/>
      <p:bldP spid="18" grpId="0"/>
      <p:bldP spid="19" grpId="0" animBg="1"/>
      <p:bldP spid="20" grpId="0" animBg="1"/>
      <p:bldP spid="21" grpId="0"/>
      <p:bldP spid="22" grpId="0"/>
      <p:bldP spid="24" grpId="0"/>
      <p:bldP spid="25" grpId="0"/>
      <p:bldP spid="27" grpId="0"/>
      <p:bldP spid="28" grpId="0"/>
      <p:bldP spid="30" grpId="0"/>
      <p:bldP spid="31" grpId="0"/>
      <p:bldP spid="32" grpId="0" animBg="1"/>
      <p:bldP spid="33" grpId="0" animBg="1"/>
      <p:bldP spid="34" grpId="0"/>
      <p:bldP spid="35" grpId="0"/>
      <p:bldP spid="37" grpId="0"/>
      <p:bldP spid="38" grpId="0"/>
      <p:bldP spid="40" grpId="0"/>
      <p:bldP spid="41" grpId="0"/>
      <p:bldP spid="43" grpId="0"/>
      <p:bldP spid="44" grpId="0"/>
      <p:bldP spid="45"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05  </a:t>
            </a:r>
            <a:r>
              <a:rPr lang="ko-KR" sz="3000" b="1">
                <a:solidFill>
                  <a:srgbClr val="1F2D3D"/>
                </a:solidFill>
                <a:latin typeface="맑은 고딕"/>
                <a:ea typeface="맑은 고딕"/>
                <a:cs typeface="맑은 고딕"/>
              </a:rPr>
              <a:t>동작 설명</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시연 영상 (31초)</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8</a:t>
            </a:r>
          </a:p>
        </p:txBody>
      </p:sp>
      <p:pic>
        <p:nvPicPr>
          <p:cNvPr id="6" name="conveyor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rotWithShape="1">
          <a:blip r:embed="rId5"/>
          <a:stretch>
            <a:fillRect/>
          </a:stretch>
        </p:blipFill>
        <p:spPr>
          <a:xfrm>
            <a:off x="640080" y="1508760"/>
            <a:ext cx="7863840" cy="4423409"/>
          </a:xfrm>
          <a:prstGeom prst="rect">
            <a:avLst/>
          </a:prstGeom>
        </p:spPr>
      </p:pic>
      <p:sp>
        <p:nvSpPr>
          <p:cNvPr id="7" name="Oval 6"/>
          <p:cNvSpPr/>
          <p:nvPr/>
        </p:nvSpPr>
        <p:spPr>
          <a:xfrm>
            <a:off x="8915400" y="1645920"/>
            <a:ext cx="292608" cy="29260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372600" y="1554480"/>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정상</a:t>
            </a:r>
            <a:r>
              <a:rPr lang="ko-KR" sz="1200" b="0">
                <a:solidFill>
                  <a:srgbClr val="6B7480"/>
                </a:solidFill>
                <a:latin typeface="맑은 고딕"/>
                <a:ea typeface="맑은 고딕"/>
                <a:cs typeface="맑은 고딕"/>
              </a:rPr>
              <a:t>  0:00</a:t>
            </a:r>
          </a:p>
        </p:txBody>
      </p:sp>
      <p:sp>
        <p:nvSpPr>
          <p:cNvPr id="9" name="TextBox 8"/>
          <p:cNvSpPr txBox="1"/>
          <p:nvPr/>
        </p:nvSpPr>
        <p:spPr>
          <a:xfrm>
            <a:off x="9372600" y="1901952"/>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벨트 작동</a:t>
            </a:r>
          </a:p>
        </p:txBody>
      </p:sp>
      <p:sp>
        <p:nvSpPr>
          <p:cNvPr id="10" name="Oval 9"/>
          <p:cNvSpPr/>
          <p:nvPr/>
        </p:nvSpPr>
        <p:spPr>
          <a:xfrm>
            <a:off x="8915400" y="2532888"/>
            <a:ext cx="292608" cy="29260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372600" y="2441448"/>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경고</a:t>
            </a:r>
            <a:r>
              <a:rPr lang="ko-KR" sz="1200" b="0">
                <a:solidFill>
                  <a:srgbClr val="6B7480"/>
                </a:solidFill>
                <a:latin typeface="맑은 고딕"/>
                <a:ea typeface="맑은 고딕"/>
                <a:cs typeface="맑은 고딕"/>
              </a:rPr>
              <a:t>  0:07</a:t>
            </a:r>
          </a:p>
        </p:txBody>
      </p:sp>
      <p:sp>
        <p:nvSpPr>
          <p:cNvPr id="12" name="TextBox 11"/>
          <p:cNvSpPr txBox="1"/>
          <p:nvPr/>
        </p:nvSpPr>
        <p:spPr>
          <a:xfrm>
            <a:off x="9372600" y="2788920"/>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노랑 LED, 벨트는 계속</a:t>
            </a:r>
          </a:p>
        </p:txBody>
      </p:sp>
      <p:sp>
        <p:nvSpPr>
          <p:cNvPr id="13" name="Oval 12"/>
          <p:cNvSpPr/>
          <p:nvPr/>
        </p:nvSpPr>
        <p:spPr>
          <a:xfrm>
            <a:off x="8915400" y="3419856"/>
            <a:ext cx="292608" cy="292608"/>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72600" y="3328415"/>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위험</a:t>
            </a:r>
            <a:r>
              <a:rPr lang="ko-KR" sz="1200" b="0">
                <a:solidFill>
                  <a:srgbClr val="6B7480"/>
                </a:solidFill>
                <a:latin typeface="맑은 고딕"/>
                <a:ea typeface="맑은 고딕"/>
                <a:cs typeface="맑은 고딕"/>
              </a:rPr>
              <a:t>  0:17</a:t>
            </a:r>
          </a:p>
        </p:txBody>
      </p:sp>
      <p:sp>
        <p:nvSpPr>
          <p:cNvPr id="15" name="TextBox 14"/>
          <p:cNvSpPr txBox="1"/>
          <p:nvPr/>
        </p:nvSpPr>
        <p:spPr>
          <a:xfrm>
            <a:off x="9372600" y="3675887"/>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빨강 LED, 벨트 정지, DB 기록</a:t>
            </a:r>
          </a:p>
        </p:txBody>
      </p:sp>
      <p:sp>
        <p:nvSpPr>
          <p:cNvPr id="16" name="Oval 15"/>
          <p:cNvSpPr/>
          <p:nvPr/>
        </p:nvSpPr>
        <p:spPr>
          <a:xfrm>
            <a:off x="8915400" y="4306824"/>
            <a:ext cx="292608" cy="29260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372600" y="4215384"/>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경고</a:t>
            </a:r>
            <a:r>
              <a:rPr lang="ko-KR" sz="1200" b="0">
                <a:solidFill>
                  <a:srgbClr val="6B7480"/>
                </a:solidFill>
                <a:latin typeface="맑은 고딕"/>
                <a:ea typeface="맑은 고딕"/>
                <a:cs typeface="맑은 고딕"/>
              </a:rPr>
              <a:t>  0:23</a:t>
            </a:r>
          </a:p>
        </p:txBody>
      </p:sp>
      <p:sp>
        <p:nvSpPr>
          <p:cNvPr id="18" name="TextBox 17"/>
          <p:cNvSpPr txBox="1"/>
          <p:nvPr/>
        </p:nvSpPr>
        <p:spPr>
          <a:xfrm>
            <a:off x="9372600" y="4562856"/>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물러나면 다시 작동</a:t>
            </a:r>
          </a:p>
        </p:txBody>
      </p:sp>
      <p:sp>
        <p:nvSpPr>
          <p:cNvPr id="19" name="Oval 18"/>
          <p:cNvSpPr/>
          <p:nvPr/>
        </p:nvSpPr>
        <p:spPr>
          <a:xfrm>
            <a:off x="8915400" y="5193792"/>
            <a:ext cx="292608" cy="29260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72600" y="5102352"/>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정상</a:t>
            </a:r>
            <a:r>
              <a:rPr lang="ko-KR" sz="1200" b="0">
                <a:solidFill>
                  <a:srgbClr val="6B7480"/>
                </a:solidFill>
                <a:latin typeface="맑은 고딕"/>
                <a:ea typeface="맑은 고딕"/>
                <a:cs typeface="맑은 고딕"/>
              </a:rPr>
              <a:t>  0:30</a:t>
            </a:r>
          </a:p>
        </p:txBody>
      </p:sp>
      <p:sp>
        <p:nvSpPr>
          <p:cNvPr id="21" name="TextBox 20"/>
          <p:cNvSpPr txBox="1"/>
          <p:nvPr/>
        </p:nvSpPr>
        <p:spPr>
          <a:xfrm>
            <a:off x="9372600" y="5449824"/>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자리를 떠나면 LED 꺼짐</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06  </a:t>
            </a:r>
            <a:r>
              <a:rPr lang="ko-KR" sz="3000" b="1">
                <a:solidFill>
                  <a:srgbClr val="1F2D3D"/>
                </a:solidFill>
                <a:latin typeface="맑은 고딕"/>
                <a:ea typeface="맑은 고딕"/>
                <a:cs typeface="맑은 고딕"/>
              </a:rPr>
              <a:t>성능 개선</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9</a:t>
            </a:r>
          </a:p>
        </p:txBody>
      </p:sp>
      <p:sp>
        <p:nvSpPr>
          <p:cNvPr id="5" name="Rounded Rectangle 4"/>
          <p:cNvSpPr/>
          <p:nvPr/>
        </p:nvSpPr>
        <p:spPr>
          <a:xfrm>
            <a:off x="731520" y="1463040"/>
            <a:ext cx="5120640" cy="4754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051560" y="164592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상태 깜빡임</a:t>
            </a:r>
            <a:r>
              <a:rPr lang="ko-KR" sz="1200" b="0">
                <a:solidFill>
                  <a:srgbClr val="6B7480"/>
                </a:solidFill>
                <a:latin typeface="맑은 고딕"/>
                <a:ea typeface="맑은 고딕"/>
                <a:cs typeface="맑은 고딕"/>
              </a:rPr>
              <a:t>   1초 안에 다시 뒤집힌 상태 전환 비율</a:t>
            </a:r>
          </a:p>
        </p:txBody>
      </p:sp>
      <p:graphicFrame>
        <p:nvGraphicFramePr>
          <p:cNvPr id="7" name="Chart 6"/>
          <p:cNvGraphicFramePr>
            <a:graphicFrameLocks noGrp="1"/>
          </p:cNvGraphicFramePr>
          <p:nvPr/>
        </p:nvGraphicFramePr>
        <p:xfrm>
          <a:off x="1051560" y="2148840"/>
          <a:ext cx="448056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1051560" y="5303520"/>
            <a:ext cx="4572000" cy="731520"/>
          </a:xfrm>
          <a:prstGeom prst="rect">
            <a:avLst/>
          </a:prstGeom>
          <a:noFill/>
        </p:spPr>
        <p:txBody>
          <a:bodyPr wrap="square" lIns="0" tIns="0" rIns="0" bIns="0" anchor="t">
            <a:spAutoFit/>
          </a:bodyPr>
          <a:lstStyle/>
          <a:p>
            <a:pPr algn="l">
              <a:lnSpc>
                <a:spcPct val="120000"/>
              </a:lnSpc>
              <a:spcAft>
                <a:spcPts val="0"/>
              </a:spcAft>
            </a:pPr>
            <a:r>
              <a:rPr lang="ko-KR" sz="1200" b="0">
                <a:solidFill>
                  <a:srgbClr val="6B7480"/>
                </a:solidFill>
                <a:latin typeface="맑은 고딕"/>
                <a:ea typeface="맑은 고딕"/>
                <a:cs typeface="맑은 고딕"/>
              </a:rPr>
              <a:t>깜빡임 필터 적용 (위험 쪽 즉시, 안전 쪽 1초 유지)</a:t>
            </a:r>
          </a:p>
          <a:p>
            <a:pPr algn="l">
              <a:lnSpc>
                <a:spcPct val="120000"/>
              </a:lnSpc>
              <a:spcAft>
                <a:spcPts val="0"/>
              </a:spcAft>
            </a:pPr>
            <a:r>
              <a:rPr lang="ko-KR" sz="1200" b="0">
                <a:solidFill>
                  <a:srgbClr val="6B7480"/>
                </a:solidFill>
                <a:latin typeface="맑은 고딕"/>
                <a:ea typeface="맑은 고딕"/>
                <a:cs typeface="맑은 고딕"/>
              </a:rPr>
              <a:t>DB 로그 1,716건 / 507건으로 계산</a:t>
            </a:r>
          </a:p>
        </p:txBody>
      </p:sp>
      <p:sp>
        <p:nvSpPr>
          <p:cNvPr id="9" name="Rounded Rectangle 8"/>
          <p:cNvSpPr/>
          <p:nvPr/>
        </p:nvSpPr>
        <p:spPr>
          <a:xfrm>
            <a:off x="6355080" y="1463040"/>
            <a:ext cx="5120640" cy="4754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75120" y="164592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CPU 사용률</a:t>
            </a:r>
            <a:r>
              <a:rPr lang="ko-KR" sz="1200" b="0">
                <a:solidFill>
                  <a:srgbClr val="6B7480"/>
                </a:solidFill>
                <a:latin typeface="맑은 고딕"/>
                <a:ea typeface="맑은 고딕"/>
                <a:cs typeface="맑은 고딕"/>
              </a:rPr>
              <a:t>   코어 1개 = 100%</a:t>
            </a:r>
          </a:p>
        </p:txBody>
      </p:sp>
      <p:graphicFrame>
        <p:nvGraphicFramePr>
          <p:cNvPr id="11" name="Chart 10"/>
          <p:cNvGraphicFramePr>
            <a:graphicFrameLocks noGrp="1"/>
          </p:cNvGraphicFramePr>
          <p:nvPr/>
        </p:nvGraphicFramePr>
        <p:xfrm>
          <a:off x="6675120" y="2148840"/>
          <a:ext cx="448056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6675120" y="5303520"/>
            <a:ext cx="4572000" cy="731520"/>
          </a:xfrm>
          <a:prstGeom prst="rect">
            <a:avLst/>
          </a:prstGeom>
          <a:noFill/>
        </p:spPr>
        <p:txBody>
          <a:bodyPr wrap="square" lIns="0" tIns="0" rIns="0" bIns="0" anchor="t">
            <a:spAutoFit/>
          </a:bodyPr>
          <a:lstStyle/>
          <a:p>
            <a:pPr algn="l">
              <a:lnSpc>
                <a:spcPct val="120000"/>
              </a:lnSpc>
              <a:spcAft>
                <a:spcPts val="0"/>
              </a:spcAft>
            </a:pPr>
            <a:r>
              <a:rPr lang="ko-KR" sz="1200" b="0">
                <a:solidFill>
                  <a:srgbClr val="6B7480"/>
                </a:solidFill>
                <a:latin typeface="맑은 고딕"/>
                <a:ea typeface="맑은 고딕"/>
                <a:cs typeface="맑은 고딕"/>
              </a:rPr>
              <a:t>검출 시간도 14.03ms → 11.38ms (1.23배 빠름)</a:t>
            </a:r>
          </a:p>
          <a:p>
            <a:pPr algn="l">
              <a:lnSpc>
                <a:spcPct val="120000"/>
              </a:lnSpc>
              <a:spcAft>
                <a:spcPts val="0"/>
              </a:spcAft>
            </a:pPr>
            <a:r>
              <a:rPr lang="ko-KR" sz="1200" b="0">
                <a:solidFill>
                  <a:srgbClr val="6B7480"/>
                </a:solidFill>
                <a:latin typeface="맑은 고딕"/>
                <a:ea typeface="맑은 고딕"/>
                <a:cs typeface="맑은 고딕"/>
              </a:rPr>
              <a:t>TensorRT는 따로 측정했고, 메인 프로그램 적용은 다음 단계</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Graphic spid="7" grpId="0">
        <p:bldAsOne/>
      </p:bldGraphic>
      <p:bldP spid="8" grpId="0"/>
      <p:bldP spid="9" grpId="0" animBg="1"/>
      <p:bldP spid="10" grpId="0"/>
      <p:bldGraphic spid="11" grpId="0">
        <p:bldAsOne/>
      </p:bldGraphic>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07  </a:t>
            </a:r>
            <a:r>
              <a:rPr lang="ko-KR" sz="3000" b="1">
                <a:solidFill>
                  <a:srgbClr val="1F2D3D"/>
                </a:solidFill>
                <a:latin typeface="맑은 고딕"/>
                <a:ea typeface="맑은 고딕"/>
                <a:cs typeface="맑은 고딕"/>
              </a:rPr>
              <a:t>개선 방향</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10</a:t>
            </a:r>
          </a:p>
        </p:txBody>
      </p:sp>
      <p:sp>
        <p:nvSpPr>
          <p:cNvPr id="5" name="Rounded Rectangle 4"/>
          <p:cNvSpPr/>
          <p:nvPr/>
        </p:nvSpPr>
        <p:spPr>
          <a:xfrm>
            <a:off x="731520" y="146304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005840" y="173736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1</a:t>
            </a:r>
          </a:p>
        </p:txBody>
      </p:sp>
      <p:sp>
        <p:nvSpPr>
          <p:cNvPr id="7" name="TextBox 6"/>
          <p:cNvSpPr txBox="1"/>
          <p:nvPr/>
        </p:nvSpPr>
        <p:spPr>
          <a:xfrm>
            <a:off x="1691640" y="170992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얼굴이 안 보이면 놓친다</a:t>
            </a:r>
          </a:p>
        </p:txBody>
      </p:sp>
      <p:sp>
        <p:nvSpPr>
          <p:cNvPr id="8" name="TextBox 7"/>
          <p:cNvSpPr txBox="1"/>
          <p:nvPr/>
        </p:nvSpPr>
        <p:spPr>
          <a:xfrm>
            <a:off x="1691640" y="208483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뒤돌아선 작업자</a:t>
            </a:r>
          </a:p>
        </p:txBody>
      </p:sp>
      <p:sp>
        <p:nvSpPr>
          <p:cNvPr id="9" name="TextBox 8"/>
          <p:cNvSpPr txBox="1"/>
          <p:nvPr/>
        </p:nvSpPr>
        <p:spPr>
          <a:xfrm>
            <a:off x="1691640" y="256032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사람 전체 검출 모델(YOLO person 등)을 함께 사용</a:t>
            </a:r>
          </a:p>
        </p:txBody>
      </p:sp>
      <p:sp>
        <p:nvSpPr>
          <p:cNvPr id="10" name="Rounded Rectangle 9"/>
          <p:cNvSpPr/>
          <p:nvPr/>
        </p:nvSpPr>
        <p:spPr>
          <a:xfrm>
            <a:off x="6217920" y="146304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492240" y="173736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2</a:t>
            </a:r>
          </a:p>
        </p:txBody>
      </p:sp>
      <p:sp>
        <p:nvSpPr>
          <p:cNvPr id="12" name="TextBox 11"/>
          <p:cNvSpPr txBox="1"/>
          <p:nvPr/>
        </p:nvSpPr>
        <p:spPr>
          <a:xfrm>
            <a:off x="7178040" y="170992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거리가 짧게 추정된다</a:t>
            </a:r>
          </a:p>
        </p:txBody>
      </p:sp>
      <p:sp>
        <p:nvSpPr>
          <p:cNvPr id="13" name="TextBox 12"/>
          <p:cNvSpPr txBox="1"/>
          <p:nvPr/>
        </p:nvSpPr>
        <p:spPr>
          <a:xfrm>
            <a:off x="7178040" y="208483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실제 150cm → 약 81cm</a:t>
            </a:r>
          </a:p>
        </p:txBody>
      </p:sp>
      <p:sp>
        <p:nvSpPr>
          <p:cNvPr id="14" name="TextBox 13"/>
          <p:cNvSpPr txBox="1"/>
          <p:nvPr/>
        </p:nvSpPr>
        <p:spPr>
          <a:xfrm>
            <a:off x="7178040" y="256032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줄자 위치로 거리식을 다시 맞추고, 70·40·30cm까지 다시 측정</a:t>
            </a:r>
          </a:p>
        </p:txBody>
      </p:sp>
      <p:sp>
        <p:nvSpPr>
          <p:cNvPr id="15" name="Rounded Rectangle 14"/>
          <p:cNvSpPr/>
          <p:nvPr/>
        </p:nvSpPr>
        <p:spPr>
          <a:xfrm>
            <a:off x="731520" y="384048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005840" y="411480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3</a:t>
            </a:r>
          </a:p>
        </p:txBody>
      </p:sp>
      <p:sp>
        <p:nvSpPr>
          <p:cNvPr id="17" name="TextBox 16"/>
          <p:cNvSpPr txBox="1"/>
          <p:nvPr/>
        </p:nvSpPr>
        <p:spPr>
          <a:xfrm>
            <a:off x="1691640" y="408736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TensorRT가 아직 메인에 없다</a:t>
            </a:r>
          </a:p>
        </p:txBody>
      </p:sp>
      <p:sp>
        <p:nvSpPr>
          <p:cNvPr id="18" name="TextBox 17"/>
          <p:cNvSpPr txBox="1"/>
          <p:nvPr/>
        </p:nvSpPr>
        <p:spPr>
          <a:xfrm>
            <a:off x="1691640" y="446227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CPU 558%를 쓰는 중</a:t>
            </a:r>
          </a:p>
        </p:txBody>
      </p:sp>
      <p:sp>
        <p:nvSpPr>
          <p:cNvPr id="19" name="TextBox 18"/>
          <p:cNvSpPr txBox="1"/>
          <p:nvPr/>
        </p:nvSpPr>
        <p:spPr>
          <a:xfrm>
            <a:off x="1691640" y="493776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엔진을 메인 프로그램에 적용하고, 남는 CPU를 추가 모델에 사용</a:t>
            </a:r>
          </a:p>
        </p:txBody>
      </p:sp>
      <p:sp>
        <p:nvSpPr>
          <p:cNvPr id="20" name="Rounded Rectangle 19"/>
          <p:cNvSpPr/>
          <p:nvPr/>
        </p:nvSpPr>
        <p:spPr>
          <a:xfrm>
            <a:off x="6217920" y="384048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492240" y="411480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4</a:t>
            </a:r>
          </a:p>
        </p:txBody>
      </p:sp>
      <p:sp>
        <p:nvSpPr>
          <p:cNvPr id="22" name="TextBox 21"/>
          <p:cNvSpPr txBox="1"/>
          <p:nvPr/>
        </p:nvSpPr>
        <p:spPr>
          <a:xfrm>
            <a:off x="7178040" y="408736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하드웨어가 불안정하다</a:t>
            </a:r>
          </a:p>
        </p:txBody>
      </p:sp>
      <p:sp>
        <p:nvSpPr>
          <p:cNvPr id="23" name="TextBox 22"/>
          <p:cNvSpPr txBox="1"/>
          <p:nvPr/>
        </p:nvSpPr>
        <p:spPr>
          <a:xfrm>
            <a:off x="7178040" y="446227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모터 입력 1개 미연결, 웹캠 멈춤</a:t>
            </a:r>
          </a:p>
        </p:txBody>
      </p:sp>
      <p:sp>
        <p:nvSpPr>
          <p:cNvPr id="24" name="TextBox 23"/>
          <p:cNvSpPr txBox="1"/>
          <p:nvPr/>
        </p:nvSpPr>
        <p:spPr>
          <a:xfrm>
            <a:off x="7178040" y="493776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모터 드라이버 배선 확정, 웹캠 자동 재연결</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p:bldP spid="8" grpId="0"/>
      <p:bldP spid="9" grpId="0"/>
      <p:bldP spid="10" grpId="0" animBg="1"/>
      <p:bldP spid="11" grpId="0" animBg="1"/>
      <p:bldP spid="12" grpId="0"/>
      <p:bldP spid="13" grpId="0"/>
      <p:bldP spid="14" grpId="0"/>
      <p:bldP spid="15" grpId="0" animBg="1"/>
      <p:bldP spid="16" grpId="0" animBg="1"/>
      <p:bldP spid="17" grpId="0"/>
      <p:bldP spid="18" grpId="0"/>
      <p:bldP spid="19" grpId="0"/>
      <p:bldP spid="20" grpId="0" animBg="1"/>
      <p:bldP spid="21" grpId="0" animBg="1"/>
      <p:bldP spid="22" grpId="0"/>
      <p:bldP spid="23"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08  </a:t>
            </a:r>
            <a:r>
              <a:rPr lang="ko-KR" sz="3000" b="1">
                <a:solidFill>
                  <a:srgbClr val="1F2D3D"/>
                </a:solidFill>
                <a:latin typeface="맑은 고딕"/>
                <a:ea typeface="맑은 고딕"/>
                <a:cs typeface="맑은 고딕"/>
              </a:rPr>
              <a:t>프로젝트 소감</a:t>
            </a:r>
          </a:p>
        </p:txBody>
      </p:sp>
      <p:sp>
        <p:nvSpPr>
          <p:cNvPr id="3" name="TextBox 2"/>
          <p:cNvSpPr txBox="1"/>
          <p:nvPr/>
        </p:nvSpPr>
        <p:spPr>
          <a:xfrm>
            <a:off x="731520" y="1234440"/>
            <a:ext cx="10058400" cy="280416"/>
          </a:xfrm>
          <a:prstGeom prst="rect">
            <a:avLst/>
          </a:prstGeom>
          <a:noFill/>
        </p:spPr>
        <p:txBody>
          <a:bodyPr wrap="square" lIns="0" tIns="0" rIns="0" bIns="0" anchor="t">
            <a:spAutoFit/>
          </a:bodyPr>
          <a:lstStyle/>
          <a:p>
            <a:pPr algn="l">
              <a:lnSpc>
                <a:spcPct val="115000"/>
              </a:lnSpc>
              <a:spcAft>
                <a:spcPts val="0"/>
              </a:spcAft>
            </a:pPr>
            <a:r>
              <a:rPr lang="ko-KR" sz="1600" b="1">
                <a:solidFill>
                  <a:srgbClr val="E8742B"/>
                </a:solidFill>
                <a:latin typeface="맑은 고딕"/>
                <a:ea typeface="맑은 고딕"/>
                <a:cs typeface="맑은 고딕"/>
              </a:rPr>
              <a:t>팀 소감</a:t>
            </a:r>
          </a:p>
        </p:txBody>
      </p:sp>
      <p:sp>
        <p:nvSpPr>
          <p:cNvPr id="4" name="TextBox 3"/>
          <p:cNvSpPr txBox="1"/>
          <p:nvPr/>
        </p:nvSpPr>
        <p:spPr>
          <a:xfrm>
            <a:off x="731520" y="1874519"/>
            <a:ext cx="10698480" cy="3931920"/>
          </a:xfrm>
          <a:prstGeom prst="rect">
            <a:avLst/>
          </a:prstGeom>
          <a:noFill/>
        </p:spPr>
        <p:txBody>
          <a:bodyPr wrap="square" lIns="0" tIns="0" rIns="0" bIns="0" anchor="t">
            <a:spAutoFit/>
          </a:bodyPr>
          <a:lstStyle/>
          <a:p>
            <a:pPr algn="l">
              <a:lnSpc>
                <a:spcPct val="135000"/>
              </a:lnSpc>
              <a:spcAft>
                <a:spcPts val="1200"/>
              </a:spcAft>
            </a:pPr>
            <a:r>
              <a:rPr lang="ko-KR" sz="1600" b="0">
                <a:solidFill>
                  <a:srgbClr val="2B333D"/>
                </a:solidFill>
                <a:latin typeface="맑은 고딕"/>
                <a:ea typeface="맑은 고딕"/>
                <a:cs typeface="맑은 고딕"/>
              </a:rPr>
              <a:t>처음에는 카메라로 얼굴만 찾으면 금방 끝날 줄 알았습니다. 막상 Jetson에 올려 보니 코드보다 배선, 실행 위치, 뒤에서 돌고 있던 프로그램 같은 곳에서 문제가 더 많이 나왔습니다.</a:t>
            </a:r>
          </a:p>
          <a:p>
            <a:pPr algn="l">
              <a:lnSpc>
                <a:spcPct val="135000"/>
              </a:lnSpc>
              <a:spcAft>
                <a:spcPts val="1200"/>
              </a:spcAft>
            </a:pPr>
            <a:r>
              <a:rPr lang="ko-KR" sz="1600" b="0">
                <a:solidFill>
                  <a:srgbClr val="2B333D"/>
                </a:solidFill>
                <a:latin typeface="맑은 고딕"/>
                <a:ea typeface="맑은 고딕"/>
                <a:cs typeface="맑은 고딕"/>
              </a:rPr>
              <a:t>가장 기억에 남는 건 벨트가 거꾸로 돌던 일입니다. 한참 코드만 보다가 상태별 핀 값을 표로 그려 보고서야 배선 문제라는 걸 알았고, 그 뒤로는 고치기 전에 원인부터 확인하게 됐습니다.</a:t>
            </a:r>
          </a:p>
          <a:p>
            <a:pPr algn="l">
              <a:lnSpc>
                <a:spcPct val="135000"/>
              </a:lnSpc>
              <a:spcAft>
                <a:spcPts val="1200"/>
              </a:spcAft>
            </a:pPr>
            <a:r>
              <a:rPr lang="ko-KR" sz="1600" b="0">
                <a:solidFill>
                  <a:srgbClr val="2B333D"/>
                </a:solidFill>
                <a:latin typeface="맑은 고딕"/>
                <a:ea typeface="맑은 고딕"/>
                <a:cs typeface="맑은 고딕"/>
              </a:rPr>
              <a:t>현장 정확도가 29%로 나왔을 때는 아쉬웠습니다. 그래도 숫자를 그대로 두고 원인을 나눠 보니 다음에 할 일이 오히려 분명해졌습니다.</a:t>
            </a:r>
          </a:p>
          <a:p>
            <a:pPr algn="l">
              <a:lnSpc>
                <a:spcPct val="135000"/>
              </a:lnSpc>
              <a:spcAft>
                <a:spcPts val="1200"/>
              </a:spcAft>
            </a:pPr>
            <a:r>
              <a:rPr lang="ko-KR" sz="1600" b="0">
                <a:solidFill>
                  <a:srgbClr val="2B333D"/>
                </a:solidFill>
                <a:latin typeface="맑은 고딕"/>
                <a:ea typeface="맑은 고딕"/>
                <a:cs typeface="맑은 고딕"/>
              </a:rPr>
              <a:t>역할을 나누고 하나로 합치는 과정이 쉽지 않았는데, 끝까지 같이 해 준 팀원들 덕분에 실제로 움직이는 결과물을 만들 수 있었습니다.</a:t>
            </a:r>
          </a:p>
        </p:txBody>
      </p:sp>
      <p:sp>
        <p:nvSpPr>
          <p:cNvPr id="5" name="TextBox 4"/>
          <p:cNvSpPr txBox="1"/>
          <p:nvPr/>
        </p:nvSpPr>
        <p:spPr>
          <a:xfrm>
            <a:off x="731520" y="5989320"/>
            <a:ext cx="5486400" cy="457200"/>
          </a:xfrm>
          <a:prstGeom prst="rect">
            <a:avLst/>
          </a:prstGeom>
          <a:noFill/>
        </p:spPr>
        <p:txBody>
          <a:bodyPr wrap="square" lIns="0" tIns="0" rIns="0" bIns="0" anchor="t">
            <a:spAutoFit/>
          </a:bodyPr>
          <a:lstStyle/>
          <a:p>
            <a:pPr algn="l">
              <a:lnSpc>
                <a:spcPct val="115000"/>
              </a:lnSpc>
              <a:spcAft>
                <a:spcPts val="0"/>
              </a:spcAft>
            </a:pPr>
            <a:r>
              <a:rPr lang="ko-KR" sz="2000" b="1">
                <a:solidFill>
                  <a:srgbClr val="E8742B"/>
                </a:solidFill>
                <a:latin typeface="맑은 고딕"/>
                <a:ea typeface="맑은 고딕"/>
                <a:cs typeface="맑은 고딕"/>
              </a:rPr>
              <a:t>감사합니다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500"/>
                                        <p:tgtEl>
                                          <p:spTgt spid="4">
                                            <p:txEl>
                                              <p:pRg st="3" end="3"/>
                                            </p:txEl>
                                          </p:spTgt>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P spid="5" grpId="0"/>
    </p:bld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1017</Words>
  <Application>Microsoft Office PowerPoint</Application>
  <PresentationFormat>와이드스크린</PresentationFormat>
  <Paragraphs>187</Paragraphs>
  <Slides>11</Slides>
  <Notes>10</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description>generated using python-pptx</dc:description>
  <cp:lastModifiedBy>종현 전</cp:lastModifiedBy>
  <cp:revision>3</cp:revision>
  <dcterms:created xsi:type="dcterms:W3CDTF">2013-01-27T09:14:16Z</dcterms:created>
  <dcterms:modified xsi:type="dcterms:W3CDTF">2026-10-20T04:03:33Z</dcterms:modified>
</cp:coreProperties>
</file>