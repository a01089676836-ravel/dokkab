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1"/>
        <c:ser>
          <c:idx val="0"/>
          <c:order val="0"/>
          <c:tx>
            <c:strRef>
              <c:f>Sheet1!$B$1</c:f>
              <c:strCache>
                <c:ptCount val="1"/>
                <c:pt idx="0">
                  <c:v>상태 깜빡임</c:v>
                </c:pt>
              </c:strCache>
            </c:strRef>
          </c:tx>
          <c:invertIfNegative val="1"/>
          <c:dPt>
            <c:idx val="0"/>
            <c:invertIfNegative val="1"/>
            <c:bubble3D val="0"/>
            <c:spPr>
              <a:solidFill>
                <a:srgbClr val="A9B1BB"/>
              </a:solidFill>
            </c:spPr>
            <c:extLst>
              <c:ext xmlns:c16="http://schemas.microsoft.com/office/drawing/2014/chart" uri="{C3380CC4-5D6E-409C-BE32-E72D297353CC}">
                <c16:uniqueId val="{00000001-FFEE-4A49-8046-EB0E21F694BC}"/>
              </c:ext>
            </c:extLst>
          </c:dPt>
          <c:dPt>
            <c:idx val="1"/>
            <c:invertIfNegative val="1"/>
            <c:bubble3D val="0"/>
            <c:spPr>
              <a:solidFill>
                <a:srgbClr val="E8742B"/>
              </a:solidFill>
            </c:spPr>
            <c:extLst>
              <c:ext xmlns:c16="http://schemas.microsoft.com/office/drawing/2014/chart" uri="{C3380CC4-5D6E-409C-BE32-E72D297353CC}">
                <c16:uniqueId val="{00000003-FFEE-4A49-8046-EB0E21F694BC}"/>
              </c:ext>
            </c:extLst>
          </c:dPt>
          <c:dLbls>
            <c:numFmt formatCode="0.0&quot;%&quot;" sourceLinked="0"/>
            <c:spPr>
              <a:noFill/>
              <a:ln>
                <a:noFill/>
              </a:ln>
              <a:effectLst/>
            </c:spPr>
            <c:txPr>
              <a:bodyPr/>
              <a:lstStyle/>
              <a:p>
                <a:pPr>
                  <a:defRPr sz="1800" b="1">
                    <a:solidFill>
                      <a:srgbClr val="1F2D3D"/>
                    </a:solidFill>
                    <a:latin typeface="맑은 고딕"/>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필터 전</c:v>
                </c:pt>
                <c:pt idx="1">
                  <c:v>필터 후</c:v>
                </c:pt>
              </c:strCache>
            </c:strRef>
          </c:cat>
          <c:val>
            <c:numRef>
              <c:f>Sheet1!$B$2:$B$3</c:f>
              <c:numCache>
                <c:formatCode>General</c:formatCode>
                <c:ptCount val="2"/>
                <c:pt idx="0">
                  <c:v>81.5</c:v>
                </c:pt>
                <c:pt idx="1">
                  <c:v>13.5</c:v>
                </c:pt>
              </c:numCache>
            </c:numRef>
          </c:val>
          <c:extLst>
            <c:ext xmlns:c16="http://schemas.microsoft.com/office/drawing/2014/chart" uri="{C3380CC4-5D6E-409C-BE32-E72D297353CC}">
              <c16:uniqueId val="{00000004-FFEE-4A49-8046-EB0E21F694BC}"/>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0"/>
            </a:solidFill>
          </a:ln>
        </c:spPr>
        <c:txPr>
          <a:bodyPr/>
          <a:lstStyle/>
          <a:p>
            <a:pPr>
              <a:defRPr sz="1400">
                <a:solidFill>
                  <a:srgbClr val="2B333D"/>
                </a:solidFill>
                <a:latin typeface="맑은 고딕"/>
              </a:defRPr>
            </a:pPr>
            <a:endParaRPr lang="ko-KR"/>
          </a:p>
        </c:txPr>
        <c:crossAx val="-2113994440"/>
        <c:crosses val="autoZero"/>
        <c:auto val="1"/>
        <c:lblAlgn val="ctr"/>
        <c:lblOffset val="100"/>
        <c:noMultiLvlLbl val="0"/>
      </c:catAx>
      <c:valAx>
        <c:axId val="-2113994440"/>
        <c:scaling>
          <c:orientation val="minMax"/>
          <c:max val="97.8"/>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1"/>
        <c:ser>
          <c:idx val="0"/>
          <c:order val="0"/>
          <c:tx>
            <c:strRef>
              <c:f>Sheet1!$B$1</c:f>
              <c:strCache>
                <c:ptCount val="1"/>
                <c:pt idx="0">
                  <c:v>CPU 사용률</c:v>
                </c:pt>
              </c:strCache>
            </c:strRef>
          </c:tx>
          <c:invertIfNegative val="1"/>
          <c:dPt>
            <c:idx val="0"/>
            <c:invertIfNegative val="1"/>
            <c:bubble3D val="0"/>
            <c:spPr>
              <a:solidFill>
                <a:srgbClr val="A9B1BB"/>
              </a:solidFill>
            </c:spPr>
            <c:extLst>
              <c:ext xmlns:c16="http://schemas.microsoft.com/office/drawing/2014/chart" uri="{C3380CC4-5D6E-409C-BE32-E72D297353CC}">
                <c16:uniqueId val="{00000001-D9BC-4B50-A40B-57DCB97822A4}"/>
              </c:ext>
            </c:extLst>
          </c:dPt>
          <c:dPt>
            <c:idx val="1"/>
            <c:invertIfNegative val="1"/>
            <c:bubble3D val="0"/>
            <c:spPr>
              <a:solidFill>
                <a:srgbClr val="E8742B"/>
              </a:solidFill>
            </c:spPr>
            <c:extLst>
              <c:ext xmlns:c16="http://schemas.microsoft.com/office/drawing/2014/chart" uri="{C3380CC4-5D6E-409C-BE32-E72D297353CC}">
                <c16:uniqueId val="{00000003-D9BC-4B50-A40B-57DCB97822A4}"/>
              </c:ext>
            </c:extLst>
          </c:dPt>
          <c:dLbls>
            <c:numFmt formatCode="0&quot;%&quot;" sourceLinked="0"/>
            <c:spPr>
              <a:noFill/>
              <a:ln>
                <a:noFill/>
              </a:ln>
              <a:effectLst/>
            </c:spPr>
            <c:txPr>
              <a:bodyPr/>
              <a:lstStyle/>
              <a:p>
                <a:pPr>
                  <a:defRPr sz="1800" b="1">
                    <a:solidFill>
                      <a:srgbClr val="1F2D3D"/>
                    </a:solidFill>
                    <a:latin typeface="맑은 고딕"/>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OpenCV (현재)</c:v>
                </c:pt>
                <c:pt idx="1">
                  <c:v>TensorRT FP16</c:v>
                </c:pt>
              </c:strCache>
            </c:strRef>
          </c:cat>
          <c:val>
            <c:numRef>
              <c:f>Sheet1!$B$2:$B$3</c:f>
              <c:numCache>
                <c:formatCode>General</c:formatCode>
                <c:ptCount val="2"/>
                <c:pt idx="0">
                  <c:v>558</c:v>
                </c:pt>
                <c:pt idx="1">
                  <c:v>65</c:v>
                </c:pt>
              </c:numCache>
            </c:numRef>
          </c:val>
          <c:extLst>
            <c:ext xmlns:c16="http://schemas.microsoft.com/office/drawing/2014/chart" uri="{C3380CC4-5D6E-409C-BE32-E72D297353CC}">
              <c16:uniqueId val="{00000004-D9BC-4B50-A40B-57DCB97822A4}"/>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0"/>
            </a:solidFill>
          </a:ln>
        </c:spPr>
        <c:txPr>
          <a:bodyPr/>
          <a:lstStyle/>
          <a:p>
            <a:pPr>
              <a:defRPr sz="1400">
                <a:solidFill>
                  <a:srgbClr val="2B333D"/>
                </a:solidFill>
                <a:latin typeface="맑은 고딕"/>
              </a:defRPr>
            </a:pPr>
            <a:endParaRPr lang="ko-KR"/>
          </a:p>
        </c:txPr>
        <c:crossAx val="-2113994440"/>
        <c:crosses val="autoZero"/>
        <c:auto val="1"/>
        <c:lblAlgn val="ctr"/>
        <c:lblOffset val="100"/>
        <c:noMultiLvlLbl val="0"/>
      </c:catAx>
      <c:valAx>
        <c:axId val="-2113994440"/>
        <c:scaling>
          <c:orientation val="minMax"/>
          <c:max val="669.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8940" cy="457200"/>
          </a:xfrm>
          <a:prstGeom prst="rect">
            <a:avLst/>
          </a:prstGeom>
        </p:spPr>
        <p:txBody>
          <a:bodyPr/>
          <a:lstStyle/>
          <a:p>
            <a:endParaRPr/>
          </a:p>
        </p:txBody>
      </p:sp>
      <p:sp>
        <p:nvSpPr>
          <p:cNvPr id="3" name="Date Placeholder 2"/>
          <p:cNvSpPr>
            <a:spLocks noGrp="1"/>
          </p:cNvSpPr>
          <p:nvPr>
            <p:ph type="dt" sz="quarter" idx="1"/>
          </p:nvPr>
        </p:nvSpPr>
        <p:spPr>
          <a:xfrm>
            <a:off x="3909060" y="0"/>
            <a:ext cx="2948940" cy="457200"/>
          </a:xfrm>
          <a:prstGeom prst="rect">
            <a:avLst/>
          </a:prstGeom>
        </p:spPr>
        <p:txBody>
          <a:bodyPr/>
          <a:lstStyle/>
          <a:p>
            <a:endParaRPr/>
          </a:p>
        </p:txBody>
      </p:sp>
      <p:sp>
        <p:nvSpPr>
          <p:cNvPr id="4" name="Slide Image Placeholder 3"/>
          <p:cNvSpPr>
            <a:spLocks noGrp="1" noRot="1" noChangeAspect="1"/>
          </p:cNvSpPr>
          <p:nvPr>
            <p:ph type="sldImg" idx="2"/>
          </p:nvPr>
        </p:nvSpPr>
        <p:spPr>
          <a:xfrm>
            <a:off x="857250" y="1143000"/>
            <a:ext cx="5143500" cy="3429000"/>
          </a:xfrm>
          <a:prstGeom prst="rect">
            <a:avLst/>
          </a:prstGeom>
          <a:noFill/>
          <a:ln w="12700">
            <a:solidFill>
              <a:srgbClr val="000000"/>
            </a:solidFill>
          </a:ln>
        </p:spPr>
      </p:sp>
      <p:sp>
        <p:nvSpPr>
          <p:cNvPr id="5" name="Notes Placeholder 4"/>
          <p:cNvSpPr>
            <a:spLocks noGrp="1"/>
          </p:cNvSpPr>
          <p:nvPr>
            <p:ph type="body" sz="quarter" idx="3"/>
          </p:nvPr>
        </p:nvSpPr>
        <p:spPr>
          <a:xfrm>
            <a:off x="685800" y="4846320"/>
            <a:ext cx="5486400" cy="3291840"/>
          </a:xfrm>
          <a:prstGeom prst="rect">
            <a:avLst/>
          </a:prstGeom>
        </p:spPr>
        <p:txBody>
          <a:bodyPr/>
          <a:lstStyle/>
          <a:p>
            <a:r>
              <a:t>Click to edit Master text styles</a:t>
            </a:r>
          </a:p>
        </p:txBody>
      </p:sp>
      <p:sp>
        <p:nvSpPr>
          <p:cNvPr id="6" name="Footer Placeholder 5"/>
          <p:cNvSpPr>
            <a:spLocks noGrp="1"/>
          </p:cNvSpPr>
          <p:nvPr>
            <p:ph type="ftr" sz="quarter" idx="4"/>
          </p:nvPr>
        </p:nvSpPr>
        <p:spPr>
          <a:xfrm>
            <a:off x="0" y="8686800"/>
            <a:ext cx="2948940" cy="457200"/>
          </a:xfrm>
          <a:prstGeom prst="rect">
            <a:avLst/>
          </a:prstGeom>
        </p:spPr>
        <p:txBody>
          <a:bodyPr/>
          <a:lstStyle/>
          <a:p>
            <a:endParaRPr/>
          </a:p>
        </p:txBody>
      </p:sp>
      <p:sp>
        <p:nvSpPr>
          <p:cNvPr id="7" name="Slide Number Placeholder 6"/>
          <p:cNvSpPr>
            <a:spLocks noGrp="1"/>
          </p:cNvSpPr>
          <p:nvPr>
            <p:ph type="sldNum" sz="quarter" idx="5"/>
          </p:nvPr>
        </p:nvSpPr>
        <p:spPr>
          <a:xfrm>
            <a:off x="3909060" y="8686800"/>
            <a:ext cx="2948940" cy="4572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a:defRPr sz="1200">
        <a:solidFill>
          <a:schemeClr val="tx1"/>
        </a:solidFill>
        <a:latin typeface="+mn-lt"/>
      </a:defRPr>
    </a:lvl1pPr>
    <a:lvl2pPr marL="457200" algn="l">
      <a:defRPr sz="1200">
        <a:solidFill>
          <a:schemeClr val="tx1"/>
        </a:solidFill>
        <a:latin typeface="+mn-lt"/>
      </a:defRPr>
    </a:lvl2pPr>
    <a:lvl3pPr marL="914400" algn="l">
      <a:defRPr sz="1200">
        <a:solidFill>
          <a:schemeClr val="tx1"/>
        </a:solidFill>
        <a:latin typeface="+mn-lt"/>
      </a:defRPr>
    </a:lvl3pPr>
    <a:lvl4pPr marL="1371600" algn="l">
      <a:defRPr sz="1200">
        <a:solidFill>
          <a:schemeClr val="tx1"/>
        </a:solidFill>
        <a:latin typeface="+mn-lt"/>
      </a:defRPr>
    </a:lvl4pPr>
    <a:lvl5pPr marL="1828800" algn="l">
      <a:defRPr sz="1200">
        <a:solidFill>
          <a:schemeClr val="tx1"/>
        </a:solidFill>
        <a:latin typeface="+mn-lt"/>
      </a:defRPr>
    </a:lvl5pPr>
    <a:lvl6pPr marL="2286000" algn="l">
      <a:defRPr sz="1200">
        <a:solidFill>
          <a:schemeClr val="tx1"/>
        </a:solidFill>
        <a:latin typeface="+mn-lt"/>
      </a:defRPr>
    </a:lvl6pPr>
    <a:lvl7pPr marL="2743200" algn="l">
      <a:defRPr sz="1200">
        <a:solidFill>
          <a:schemeClr val="tx1"/>
        </a:solidFill>
        <a:latin typeface="+mn-lt"/>
      </a:defRPr>
    </a:lvl7pPr>
    <a:lvl8pPr marL="3200400" algn="l">
      <a:defRPr sz="1200">
        <a:solidFill>
          <a:schemeClr val="tx1"/>
        </a:solidFill>
        <a:latin typeface="+mn-lt"/>
      </a:defRPr>
    </a:lvl8pPr>
    <a:lvl9pPr marL="3657600" algn="l">
      <a:defRPr sz="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안녕하세요, Dokkab 팀입니다. 저희는 Jetson Orin Nano와 웹캠으로 컨베이어에 다가오는 작업자를 감지하고, 위험 거리에서는 벨트를 자동으로 멈추는 시스템을 만들었습니다.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팀 소개입니다. 저는 팀장으로 전체 구조와 상태 판단, 대시보드와 기록, 통합을 맡았고, 송태원 팀원은 회로와 Jetson 보드 연결, 장호영 팀원은 비전 AI 검출과 거리 측정을 맡았습니다.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컨베이어는 계속 움직이기 때문에, 작업자가 가까이 갔을 때 벨트가 그대로 돌면 끼임이나 충돌 사고가 날 수 있습니다. 그래서 다가오는 작업자를 자동으로 감지하고, 가까워지면 경고, 위험하면 정지, 그리고 그 기록을 남기는 것을 목표로 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시스템 구성입니다. 벨트 끝의 USB 웹캠이 다가오는 작업자의 얼굴을 찾고, Jetson이 얼굴 크기로 거리를 계산합니다. 200cm 안이면 노랑으로 경고하고, 50cm 안으로 들어오면 빨강 경고등과 함께 벨트를 멈춥니다. 같은 상태가 대시보드에도 표시되고 DB에 기록됩니다.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모델은 OpenCV의 YuNet을 썼습니다. 가볍고, 학습 없이 바로 쓸 수 있고, 얼굴 상자 크기로 거리를 계산하기 좋기 때문입니다. 공개 검증에서 AP 0.834이고, Jetson에서 카메라까지 포함해 초당 22프레임으로 돌아갑니다.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200cm 밖이면 정상으로 벨트가 돌고, 50에서 200cm 사이면 노랑 LED로 경고하지만 벨트는 계속 돕니다. 50cm 안으로 들어오면 빨강 LED와 함께 벨트를 멈추고 정지 시각과 사유를 DB에 남깁니다.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실제 시연 영상입니다. 왼쪽은 대시보드, 오른쪽은 실제 LED와 벨트입니다. 다가가면 노랑, 더 가까이 가면 빨강과 함께 벨트가 멈추고, 물러나면 다시 돌아갑니다.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1143000"/>
            <a:ext cx="6096000" cy="3429000"/>
          </a:xfrm>
        </p:spPr>
      </p:sp>
      <p:sp>
        <p:nvSpPr>
          <p:cNvPr id="3" name="Notes Placeholder 2"/>
          <p:cNvSpPr>
            <a:spLocks noGrp="1"/>
          </p:cNvSpPr>
          <p:nvPr>
            <p:ph type="body" idx="1"/>
          </p:nvPr>
        </p:nvSpPr>
        <p:spPr/>
        <p:txBody>
          <a:bodyPr/>
          <a:lstStyle/>
          <a:p>
            <a:r>
              <a:t>성능 개선입니다. 처음에는 상태 전환의 81.5%가 1초 안에 다시 뒤집혔는데, 깜빡임 필터를 넣은 뒤 13.5%로 줄었습니다. 또 모델을 TensorRT FP16으로 바꿔 보니 CPU 사용이 558%에서 65%로 줄고 검출도 1.23배 빨라졌습니다. 이건 메인 프로그램에는 아직 적용하지 않았습니다.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개선 방향입니다. 얼굴이 안 보이면 놓치는 문제는 사람 전체 검출 모델로 보완하고, 거리가 짧게 나오는 문제는 줄자로 다시 보정하겠습니다. 만들어 둔 TensorRT 엔진은 메인 프로그램에 적용하고, 배선과 웹캠도 안정화할 계획입니다.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1143000"/>
            <a:ext cx="6096000" cy="3429000"/>
          </a:xfrm>
        </p:spPr>
      </p:sp>
      <p:sp>
        <p:nvSpPr>
          <p:cNvPr id="3" name="Notes Placeholder 2"/>
          <p:cNvSpPr>
            <a:spLocks noGrp="1"/>
          </p:cNvSpPr>
          <p:nvPr>
            <p:ph type="body" idx="1"/>
          </p:nvPr>
        </p:nvSpPr>
        <p:spPr/>
        <p:txBody>
          <a:bodyPr/>
          <a:lstStyle/>
          <a:p>
            <a:r>
              <a:t>소감과 함께 마무리하겠습니다. 들어 주셔서 감사합니다.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prstGeom prst="rect">
            <a:avLst/>
          </a:prstGeo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CF395B21-E8EE-4505-87E0-7B7F2C3DBBD0}" type="datetimeFigureOut">
              <a:rPr lang="en-US"/>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DC6D5D-A00E-4AA9-84F2-364CBECE0EEA}"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5E609E6-1126-4CCC-8F95-892B304C12E9}" type="datetimeFigureOut">
              <a:rPr lang="en-US"/>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D0F9E-EF7E-4C26-8662-25A73F2263DD}"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r>
              <a:rPr lang="en-US"/>
              <a:t>Click to edit Master text styles</a:t>
            </a:r>
          </a:p>
        </p:txBody>
      </p:sp>
      <p:sp>
        <p:nvSpPr>
          <p:cNvPr id="4" name="Date Placeholder 3"/>
          <p:cNvSpPr>
            <a:spLocks noGrp="1"/>
          </p:cNvSpPr>
          <p:nvPr>
            <p:ph type="dt" sz="half" idx="10"/>
          </p:nvPr>
        </p:nvSpPr>
        <p:spPr/>
        <p:txBody>
          <a:bodyPr/>
          <a:lstStyle/>
          <a:p>
            <a:fld id="{B43082BF-5467-4883-8896-824F7369BC9A}" type="datetimeFigureOut">
              <a:rPr lang="en-US"/>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C18080-B33E-4073-8615-72D8F5AE8F78}"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3A66248-C912-41CA-84D9-08E1C7982093}" type="datetimeFigureOut">
              <a:rPr lang="en-US"/>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5CB9569-04AF-4288-8880-64CE52ABE7A3}"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stStyle>
          <a:p>
            <a:r>
              <a:rPr lang="en-US"/>
              <a:t>Click to edit Master title style</a:t>
            </a:r>
          </a:p>
        </p:txBody>
      </p:sp>
      <p:sp>
        <p:nvSpPr>
          <p:cNvPr id="3" name="Text Placeholder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4" name="Content Placeholder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6" name="Content Placeholder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4EFB636-F4D9-4299-85F9-44D23E27C49C}" type="datetimeFigureOut">
              <a:rPr lang="en-US"/>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F533E07-937E-4FED-8300-891295843456}"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5CAC346-E4DF-45C0-848B-E2AC5513E0D5}" type="datetimeFigureOut">
              <a:rPr lang="en-US"/>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A28B55B-FA15-48BA-860D-0231187503D9}"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20B29E-DC2A-4D67-887F-3BE2DC8489D6}" type="datetimeFigureOut">
              <a:rPr lang="en-US"/>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E0EBC0-ADA9-4FA7-889C-9287646BC794}"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4"/>
          <p:cNvSpPr>
            <a:spLocks noGrp="1"/>
          </p:cNvSpPr>
          <p:nvPr>
            <p:ph type="dt" sz="half" idx="10"/>
          </p:nvPr>
        </p:nvSpPr>
        <p:spPr/>
        <p:txBody>
          <a:bodyPr/>
          <a:lstStyle/>
          <a:p>
            <a:fld id="{AFC563BD-7186-488E-816C-8F41FA24179F}" type="datetimeFigureOut">
              <a:rPr lang="en-US"/>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A25AB8-FB3A-479C-8780-0B7E5F586C0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4"/>
          <p:cNvSpPr>
            <a:spLocks noGrp="1"/>
          </p:cNvSpPr>
          <p:nvPr>
            <p:ph type="dt" sz="half" idx="10"/>
          </p:nvPr>
        </p:nvSpPr>
        <p:spPr/>
        <p:txBody>
          <a:bodyPr/>
          <a:lstStyle/>
          <a:p>
            <a:fld id="{1EE02C48-70E8-4C8D-81F4-17FB598144B8}" type="datetimeFigureOut">
              <a:rPr lang="en-US"/>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EFC29A-6C4F-4141-86E3-1A3E2D58E3A2}"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7602B83-4DFE-444B-8222-D5FF1EA6B44C}" type="datetimeFigureOut">
              <a:rPr lang="en-US"/>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19C649-D3E0-46CB-87C1-67136E4226A6}"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a:prstGeom prst="rect">
            <a:avLst/>
          </a:prstGeom>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6FA40F9-1701-4EB4-806D-4ED861E7A003}" type="datetimeFigureOut">
              <a:rPr lang="en-US"/>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EBE78A-EB3E-401E-81B5-D7F53201DAF3}"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Office Theme">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0ADADCF-DC63-475D-8D69-AEBF4EDF3BBC}" type="datetimeFigureOut">
              <a:rPr lang="en-US"/>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3D6AB1-0FDA-49F1-8390-8828CE9E6676}"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1662684"/>
            <a:ext cx="7315200" cy="914400"/>
          </a:xfrm>
          <a:prstGeom prst="rect">
            <a:avLst/>
          </a:prstGeom>
          <a:noFill/>
        </p:spPr>
        <p:txBody>
          <a:bodyPr wrap="square" lIns="0" tIns="0" rIns="0" bIns="0" anchor="t">
            <a:spAutoFit/>
          </a:bodyPr>
          <a:lstStyle/>
          <a:p>
            <a:pPr algn="l">
              <a:lnSpc>
                <a:spcPct val="115000"/>
              </a:lnSpc>
              <a:spcAft>
                <a:spcPts val="0"/>
              </a:spcAft>
            </a:pPr>
            <a:r>
              <a:rPr lang="ko-KR" sz="5400" b="1">
                <a:solidFill>
                  <a:srgbClr val="E8742B"/>
                </a:solidFill>
                <a:latin typeface="맑은 고딕"/>
                <a:ea typeface="맑은 고딕"/>
                <a:cs typeface="맑은 고딕"/>
              </a:rPr>
              <a:t>Dokkab</a:t>
            </a:r>
          </a:p>
        </p:txBody>
      </p:sp>
      <p:sp>
        <p:nvSpPr>
          <p:cNvPr id="3" name="TextBox 2"/>
          <p:cNvSpPr txBox="1"/>
          <p:nvPr/>
        </p:nvSpPr>
        <p:spPr>
          <a:xfrm>
            <a:off x="731520" y="2331720"/>
            <a:ext cx="10058400" cy="245364"/>
          </a:xfrm>
          <a:prstGeom prst="rect">
            <a:avLst/>
          </a:prstGeom>
          <a:noFill/>
        </p:spPr>
        <p:txBody>
          <a:bodyPr wrap="square" lIns="0" tIns="0" rIns="0" bIns="0" anchor="t">
            <a:spAutoFit/>
          </a:bodyPr>
          <a:lstStyle/>
          <a:p>
            <a:pPr algn="l">
              <a:lnSpc>
                <a:spcPct val="115000"/>
              </a:lnSpc>
              <a:spcAft>
                <a:spcPts val="0"/>
              </a:spcAft>
            </a:pPr>
            <a:endParaRPr lang="ko-KR" sz="1400" b="0">
              <a:solidFill>
                <a:srgbClr val="6B7480"/>
              </a:solidFill>
              <a:latin typeface="맑은 고딕"/>
              <a:ea typeface="맑은 고딕"/>
              <a:cs typeface="맑은 고딕"/>
            </a:endParaRPr>
          </a:p>
        </p:txBody>
      </p:sp>
      <p:sp>
        <p:nvSpPr>
          <p:cNvPr id="4" name="TextBox 3"/>
          <p:cNvSpPr txBox="1"/>
          <p:nvPr/>
        </p:nvSpPr>
        <p:spPr>
          <a:xfrm>
            <a:off x="731520" y="2834640"/>
            <a:ext cx="10515600" cy="1554480"/>
          </a:xfrm>
          <a:prstGeom prst="rect">
            <a:avLst/>
          </a:prstGeom>
          <a:noFill/>
        </p:spPr>
        <p:txBody>
          <a:bodyPr wrap="square" lIns="0" tIns="0" rIns="0" bIns="0" anchor="t">
            <a:spAutoFit/>
          </a:bodyPr>
          <a:lstStyle/>
          <a:p>
            <a:pPr algn="l">
              <a:lnSpc>
                <a:spcPct val="110000"/>
              </a:lnSpc>
              <a:spcAft>
                <a:spcPts val="0"/>
              </a:spcAft>
            </a:pPr>
            <a:r>
              <a:rPr lang="ko-KR" sz="4000" b="1">
                <a:solidFill>
                  <a:srgbClr val="1F2D3D"/>
                </a:solidFill>
                <a:latin typeface="맑은 고딕"/>
                <a:ea typeface="맑은 고딕"/>
                <a:cs typeface="맑은 고딕"/>
              </a:rPr>
              <a:t>비전 AI 기반 컨베이어</a:t>
            </a:r>
          </a:p>
          <a:p>
            <a:pPr algn="l">
              <a:lnSpc>
                <a:spcPct val="110000"/>
              </a:lnSpc>
              <a:spcAft>
                <a:spcPts val="0"/>
              </a:spcAft>
            </a:pPr>
            <a:r>
              <a:rPr lang="ko-KR" sz="4000" b="1">
                <a:solidFill>
                  <a:srgbClr val="1F2D3D"/>
                </a:solidFill>
                <a:latin typeface="맑은 고딕"/>
                <a:ea typeface="맑은 고딕"/>
                <a:cs typeface="맑은 고딕"/>
              </a:rPr>
              <a:t>작업자 접근 감지 및 안전 알림 시스템</a:t>
            </a:r>
          </a:p>
        </p:txBody>
      </p:sp>
      <p:sp>
        <p:nvSpPr>
          <p:cNvPr id="5" name="TextBox 4"/>
          <p:cNvSpPr txBox="1"/>
          <p:nvPr/>
        </p:nvSpPr>
        <p:spPr>
          <a:xfrm>
            <a:off x="731520" y="4572000"/>
            <a:ext cx="10058400" cy="315468"/>
          </a:xfrm>
          <a:prstGeom prst="rect">
            <a:avLst/>
          </a:prstGeom>
          <a:noFill/>
        </p:spPr>
        <p:txBody>
          <a:bodyPr wrap="square" lIns="0" tIns="0" rIns="0" bIns="0" anchor="t">
            <a:spAutoFit/>
          </a:bodyPr>
          <a:lstStyle/>
          <a:p>
            <a:pPr algn="l">
              <a:lnSpc>
                <a:spcPct val="115000"/>
              </a:lnSpc>
              <a:spcAft>
                <a:spcPts val="0"/>
              </a:spcAft>
            </a:pPr>
            <a:endParaRPr lang="ko-KR" sz="1800" b="0">
              <a:solidFill>
                <a:srgbClr val="6B7480"/>
              </a:solidFill>
              <a:latin typeface="맑은 고딕"/>
              <a:ea typeface="맑은 고딕"/>
              <a:cs typeface="맑은 고딕"/>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1F2D3D"/>
                </a:solidFill>
                <a:latin typeface="맑은 고딕"/>
                <a:ea typeface="맑은 고딕"/>
                <a:cs typeface="맑은 고딕"/>
              </a:rPr>
              <a:t>목차</a:t>
            </a:r>
          </a:p>
        </p:txBody>
      </p:sp>
      <p:sp>
        <p:nvSpPr>
          <p:cNvPr id="3" name="TextBox 2"/>
          <p:cNvSpPr txBox="1"/>
          <p:nvPr/>
        </p:nvSpPr>
        <p:spPr>
          <a:xfrm>
            <a:off x="1005840" y="160020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01</a:t>
            </a:r>
          </a:p>
        </p:txBody>
      </p:sp>
      <p:sp>
        <p:nvSpPr>
          <p:cNvPr id="4" name="TextBox 3"/>
          <p:cNvSpPr txBox="1"/>
          <p:nvPr/>
        </p:nvSpPr>
        <p:spPr>
          <a:xfrm>
            <a:off x="2011680" y="160020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팀 소개</a:t>
            </a:r>
          </a:p>
        </p:txBody>
      </p:sp>
      <p:cxnSp>
        <p:nvCxnSpPr>
          <p:cNvPr id="5" name="Connector 4"/>
          <p:cNvCxnSpPr/>
          <p:nvPr/>
        </p:nvCxnSpPr>
        <p:spPr>
          <a:xfrm>
            <a:off x="1005840" y="2441448"/>
            <a:ext cx="4663439"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269748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02</a:t>
            </a:r>
          </a:p>
        </p:txBody>
      </p:sp>
      <p:sp>
        <p:nvSpPr>
          <p:cNvPr id="7" name="TextBox 6"/>
          <p:cNvSpPr txBox="1"/>
          <p:nvPr/>
        </p:nvSpPr>
        <p:spPr>
          <a:xfrm>
            <a:off x="2011680" y="269748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문제 정의</a:t>
            </a:r>
          </a:p>
        </p:txBody>
      </p:sp>
      <p:cxnSp>
        <p:nvCxnSpPr>
          <p:cNvPr id="8" name="Connector 7"/>
          <p:cNvCxnSpPr/>
          <p:nvPr/>
        </p:nvCxnSpPr>
        <p:spPr>
          <a:xfrm>
            <a:off x="1005840" y="3538728"/>
            <a:ext cx="4663439"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05840" y="379476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03</a:t>
            </a:r>
          </a:p>
        </p:txBody>
      </p:sp>
      <p:sp>
        <p:nvSpPr>
          <p:cNvPr id="10" name="TextBox 9"/>
          <p:cNvSpPr txBox="1"/>
          <p:nvPr/>
        </p:nvSpPr>
        <p:spPr>
          <a:xfrm>
            <a:off x="2011680" y="379476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시스템 구성</a:t>
            </a:r>
          </a:p>
        </p:txBody>
      </p:sp>
      <p:cxnSp>
        <p:nvCxnSpPr>
          <p:cNvPr id="11" name="Connector 10"/>
          <p:cNvCxnSpPr/>
          <p:nvPr/>
        </p:nvCxnSpPr>
        <p:spPr>
          <a:xfrm>
            <a:off x="1005840" y="4636008"/>
            <a:ext cx="4663439"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05840" y="489204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04</a:t>
            </a:r>
          </a:p>
        </p:txBody>
      </p:sp>
      <p:sp>
        <p:nvSpPr>
          <p:cNvPr id="13" name="TextBox 12"/>
          <p:cNvSpPr txBox="1"/>
          <p:nvPr/>
        </p:nvSpPr>
        <p:spPr>
          <a:xfrm>
            <a:off x="2011680" y="489204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모델 선택과 검증</a:t>
            </a:r>
          </a:p>
        </p:txBody>
      </p:sp>
      <p:cxnSp>
        <p:nvCxnSpPr>
          <p:cNvPr id="14" name="Connector 13"/>
          <p:cNvCxnSpPr/>
          <p:nvPr/>
        </p:nvCxnSpPr>
        <p:spPr>
          <a:xfrm>
            <a:off x="1005840" y="5733288"/>
            <a:ext cx="4663439"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92240" y="160020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05</a:t>
            </a:r>
          </a:p>
        </p:txBody>
      </p:sp>
      <p:sp>
        <p:nvSpPr>
          <p:cNvPr id="16" name="TextBox 15"/>
          <p:cNvSpPr txBox="1"/>
          <p:nvPr/>
        </p:nvSpPr>
        <p:spPr>
          <a:xfrm>
            <a:off x="7498079" y="160020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동작 설명</a:t>
            </a:r>
          </a:p>
        </p:txBody>
      </p:sp>
      <p:cxnSp>
        <p:nvCxnSpPr>
          <p:cNvPr id="17" name="Connector 16"/>
          <p:cNvCxnSpPr/>
          <p:nvPr/>
        </p:nvCxnSpPr>
        <p:spPr>
          <a:xfrm>
            <a:off x="6492240" y="2441448"/>
            <a:ext cx="466344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92240" y="269748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06</a:t>
            </a:r>
          </a:p>
        </p:txBody>
      </p:sp>
      <p:sp>
        <p:nvSpPr>
          <p:cNvPr id="19" name="TextBox 18"/>
          <p:cNvSpPr txBox="1"/>
          <p:nvPr/>
        </p:nvSpPr>
        <p:spPr>
          <a:xfrm>
            <a:off x="7498079" y="269748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성능 개선</a:t>
            </a:r>
          </a:p>
        </p:txBody>
      </p:sp>
      <p:cxnSp>
        <p:nvCxnSpPr>
          <p:cNvPr id="20" name="Connector 19"/>
          <p:cNvCxnSpPr/>
          <p:nvPr/>
        </p:nvCxnSpPr>
        <p:spPr>
          <a:xfrm>
            <a:off x="6492240" y="3538728"/>
            <a:ext cx="466344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92240" y="379476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07</a:t>
            </a:r>
          </a:p>
        </p:txBody>
      </p:sp>
      <p:sp>
        <p:nvSpPr>
          <p:cNvPr id="22" name="TextBox 21"/>
          <p:cNvSpPr txBox="1"/>
          <p:nvPr/>
        </p:nvSpPr>
        <p:spPr>
          <a:xfrm>
            <a:off x="7498079" y="379476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개선 방향</a:t>
            </a:r>
          </a:p>
        </p:txBody>
      </p:sp>
      <p:cxnSp>
        <p:nvCxnSpPr>
          <p:cNvPr id="23" name="Connector 22"/>
          <p:cNvCxnSpPr/>
          <p:nvPr/>
        </p:nvCxnSpPr>
        <p:spPr>
          <a:xfrm>
            <a:off x="6492240" y="4636008"/>
            <a:ext cx="466344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92240" y="4892040"/>
            <a:ext cx="914400" cy="640080"/>
          </a:xfrm>
          <a:prstGeom prst="rect">
            <a:avLst/>
          </a:prstGeom>
          <a:noFill/>
        </p:spPr>
        <p:txBody>
          <a:bodyPr wrap="square" lIns="0" tIns="0" rIns="0" bIns="0" anchor="ctr">
            <a:spAutoFit/>
          </a:bodyPr>
          <a:lstStyle/>
          <a:p>
            <a:pPr algn="l">
              <a:lnSpc>
                <a:spcPct val="115000"/>
              </a:lnSpc>
              <a:spcAft>
                <a:spcPts val="0"/>
              </a:spcAft>
            </a:pPr>
            <a:r>
              <a:rPr lang="ko-KR" sz="3000" b="1">
                <a:solidFill>
                  <a:srgbClr val="E8742B"/>
                </a:solidFill>
                <a:latin typeface="맑은 고딕"/>
                <a:ea typeface="맑은 고딕"/>
                <a:cs typeface="맑은 고딕"/>
              </a:rPr>
              <a:t>08</a:t>
            </a:r>
          </a:p>
        </p:txBody>
      </p:sp>
      <p:sp>
        <p:nvSpPr>
          <p:cNvPr id="25" name="TextBox 24"/>
          <p:cNvSpPr txBox="1"/>
          <p:nvPr/>
        </p:nvSpPr>
        <p:spPr>
          <a:xfrm>
            <a:off x="7498079" y="4892040"/>
            <a:ext cx="3840480" cy="640080"/>
          </a:xfrm>
          <a:prstGeom prst="rect">
            <a:avLst/>
          </a:prstGeom>
          <a:noFill/>
        </p:spPr>
        <p:txBody>
          <a:bodyPr wrap="square" lIns="0" tIns="0" rIns="0" bIns="0" anchor="ctr">
            <a:spAutoFit/>
          </a:bodyPr>
          <a:lstStyle/>
          <a:p>
            <a:pPr algn="l">
              <a:lnSpc>
                <a:spcPct val="115000"/>
              </a:lnSpc>
              <a:spcAft>
                <a:spcPts val="0"/>
              </a:spcAft>
            </a:pPr>
            <a:r>
              <a:rPr lang="ko-KR" sz="2200" b="1">
                <a:solidFill>
                  <a:srgbClr val="1F2D3D"/>
                </a:solidFill>
                <a:latin typeface="맑은 고딕"/>
                <a:ea typeface="맑은 고딕"/>
                <a:cs typeface="맑은 고딕"/>
              </a:rPr>
              <a:t>프로젝트 소감</a:t>
            </a:r>
          </a:p>
        </p:txBody>
      </p:sp>
      <p:cxnSp>
        <p:nvCxnSpPr>
          <p:cNvPr id="26" name="Connector 25"/>
          <p:cNvCxnSpPr/>
          <p:nvPr/>
        </p:nvCxnSpPr>
        <p:spPr>
          <a:xfrm>
            <a:off x="6492240" y="5733288"/>
            <a:ext cx="466344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2</a:t>
            </a:r>
          </a:p>
        </p:txBody>
      </p:sp>
      <p:sp>
        <p:nvSpPr>
          <p:cNvPr id="28" name="TextBox 27"/>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par>
                                <p:cTn id="33" presetID="10"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par>
                                <p:cTn id="55" presetID="10" presetClass="entr" presetSubtype="0" fill="hold"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par>
                                <p:cTn id="66" presetID="10" presetClass="entr" presetSubtype="0" fill="hold" nodeType="with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00"/>
                                        <p:tgtEl>
                                          <p:spTgt spid="20"/>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500"/>
                                        <p:tgtEl>
                                          <p:spTgt spid="2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5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500"/>
                                        <p:tgtEl>
                                          <p:spTgt spid="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500"/>
                                        <p:tgtEl>
                                          <p:spTgt spid="2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500"/>
                                        <p:tgtEl>
                                          <p:spTgt spid="25"/>
                                        </p:tgtEl>
                                      </p:cBhvr>
                                    </p:animEffect>
                                  </p:childTnLst>
                                </p:cTn>
                              </p:par>
                              <p:par>
                                <p:cTn id="88" presetID="10" presetClass="entr" presetSubtype="0" fill="hold"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P spid="7" grpId="0"/>
      <p:bldP spid="9" grpId="0"/>
      <p:bldP spid="10" grpId="0"/>
      <p:bldP spid="12" grpId="0"/>
      <p:bldP spid="13" grpId="0"/>
      <p:bldP spid="15" grpId="0"/>
      <p:bldP spid="16" grpId="0"/>
      <p:bldP spid="18" grpId="0"/>
      <p:bldP spid="19" grpId="0"/>
      <p:bldP spid="21" grpId="0"/>
      <p:bldP spid="22" grpId="0"/>
      <p:bldP spid="24" grpId="0"/>
      <p:bldP spid="2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01  </a:t>
            </a:r>
            <a:r>
              <a:rPr lang="ko-KR" sz="3000" b="1">
                <a:solidFill>
                  <a:srgbClr val="1F2D3D"/>
                </a:solidFill>
                <a:latin typeface="맑은 고딕"/>
                <a:ea typeface="맑은 고딕"/>
                <a:cs typeface="맑은 고딕"/>
              </a:rPr>
              <a:t>팀 소개</a:t>
            </a:r>
          </a:p>
        </p:txBody>
      </p:sp>
      <p:sp>
        <p:nvSpPr>
          <p:cNvPr id="3" name="TextBox 2"/>
          <p:cNvSpPr txBox="1"/>
          <p:nvPr/>
        </p:nvSpPr>
        <p:spPr>
          <a:xfrm>
            <a:off x="640080" y="1024128"/>
            <a:ext cx="10058400" cy="365760"/>
          </a:xfrm>
          <a:prstGeom prst="rect">
            <a:avLst/>
          </a:prstGeom>
          <a:noFill/>
        </p:spPr>
        <p:txBody>
          <a:bodyPr wrap="square" lIns="0" tIns="0" rIns="0" bIns="0" anchor="t">
            <a:spAutoFit/>
          </a:bodyPr>
          <a:lstStyle/>
          <a:p>
            <a:pPr algn="l">
              <a:lnSpc>
                <a:spcPct val="115000"/>
              </a:lnSpc>
              <a:spcAft>
                <a:spcPts val="0"/>
              </a:spcAft>
            </a:pPr>
            <a:r>
              <a:rPr lang="ko-KR" sz="1500" b="0">
                <a:solidFill>
                  <a:srgbClr val="6B7480"/>
                </a:solidFill>
                <a:latin typeface="맑은 고딕"/>
                <a:ea typeface="맑은 고딕"/>
                <a:cs typeface="맑은 고딕"/>
              </a:rPr>
              <a:t>팀 Dokkab · 3명</a:t>
            </a:r>
          </a:p>
        </p:txBody>
      </p:sp>
      <p:sp>
        <p:nvSpPr>
          <p:cNvPr id="4" name="TextBox 3"/>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5" name="TextBox 4"/>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3</a:t>
            </a:r>
          </a:p>
        </p:txBody>
      </p:sp>
      <p:sp>
        <p:nvSpPr>
          <p:cNvPr id="6" name="전종현 카드"/>
          <p:cNvSpPr/>
          <p:nvPr/>
        </p:nvSpPr>
        <p:spPr>
          <a:xfrm>
            <a:off x="731520" y="1691640"/>
            <a:ext cx="3337560" cy="434340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Round Same Side Corner Rectangle 53"/>
          <p:cNvSpPr/>
          <p:nvPr/>
        </p:nvSpPr>
        <p:spPr>
          <a:xfrm>
            <a:off x="1943100" y="2743200"/>
            <a:ext cx="914400" cy="457200"/>
          </a:xfrm>
          <a:prstGeom prst="round2SameRect">
            <a:avLst>
              <a:gd name="adj1" fmla="val 50000"/>
              <a:gd name="adj2" fmla="val 0"/>
            </a:avLst>
          </a:prstGeom>
          <a:solidFill>
            <a:srgbClr val="FFFFFF"/>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924812" y="1920240"/>
            <a:ext cx="256032" cy="292608"/>
          </a:xfrm>
          <a:prstGeom prst="ellipse">
            <a:avLst/>
          </a:prstGeom>
          <a:solidFill>
            <a:srgbClr val="BFCBD9"/>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997964" y="1984248"/>
            <a:ext cx="109728" cy="146304"/>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2619756" y="1920240"/>
            <a:ext cx="256032" cy="292608"/>
          </a:xfrm>
          <a:prstGeom prst="ellipse">
            <a:avLst/>
          </a:prstGeom>
          <a:solidFill>
            <a:srgbClr val="BFCBD9"/>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692908" y="1984248"/>
            <a:ext cx="109728" cy="146304"/>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1869948" y="2011680"/>
            <a:ext cx="1060704" cy="868680"/>
          </a:xfrm>
          <a:prstGeom prst="ellipse">
            <a:avLst/>
          </a:prstGeom>
          <a:solidFill>
            <a:srgbClr val="FFFFFF"/>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Chord 59"/>
          <p:cNvSpPr/>
          <p:nvPr/>
        </p:nvSpPr>
        <p:spPr>
          <a:xfrm>
            <a:off x="1869948" y="2011680"/>
            <a:ext cx="1060704" cy="868680"/>
          </a:xfrm>
          <a:prstGeom prst="chord">
            <a:avLst>
              <a:gd name="adj1" fmla="val 11700000"/>
              <a:gd name="adj2" fmla="val 20700000"/>
            </a:avLst>
          </a:prstGeom>
          <a:solidFill>
            <a:srgbClr val="BFCBD9"/>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1970532" y="2615184"/>
            <a:ext cx="128016" cy="73152"/>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702052" y="2615184"/>
            <a:ext cx="128016" cy="73152"/>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2135124" y="2359152"/>
            <a:ext cx="155448" cy="192024"/>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162556" y="238658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2510028" y="2359152"/>
            <a:ext cx="155448" cy="192024"/>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2537460" y="238658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ounded Rectangle 66"/>
          <p:cNvSpPr/>
          <p:nvPr/>
        </p:nvSpPr>
        <p:spPr>
          <a:xfrm>
            <a:off x="2052828" y="2322576"/>
            <a:ext cx="310896" cy="265176"/>
          </a:xfrm>
          <a:prstGeom prst="roundRect">
            <a:avLst>
              <a:gd name="adj" fmla="val 30000"/>
            </a:avLst>
          </a:prstGeom>
          <a:noFill/>
          <a:ln w="381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2436876" y="2322576"/>
            <a:ext cx="310896" cy="265176"/>
          </a:xfrm>
          <a:prstGeom prst="roundRect">
            <a:avLst>
              <a:gd name="adj" fmla="val 30000"/>
            </a:avLst>
          </a:prstGeom>
          <a:noFill/>
          <a:ln w="381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2363724" y="2377440"/>
            <a:ext cx="73152" cy="3657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Arc 69"/>
          <p:cNvSpPr/>
          <p:nvPr/>
        </p:nvSpPr>
        <p:spPr>
          <a:xfrm>
            <a:off x="2345436" y="2596896"/>
            <a:ext cx="109728" cy="82296"/>
          </a:xfrm>
          <a:prstGeom prst="arc">
            <a:avLst>
              <a:gd name="adj1" fmla="val 1800000"/>
              <a:gd name="adj2" fmla="val 9000000"/>
            </a:avLst>
          </a:prstGeom>
          <a:no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3337560"/>
            <a:ext cx="3337560" cy="457200"/>
          </a:xfrm>
          <a:prstGeom prst="rect">
            <a:avLst/>
          </a:prstGeom>
          <a:noFill/>
        </p:spPr>
        <p:txBody>
          <a:bodyPr wrap="square" lIns="0" tIns="0" rIns="0" bIns="0" anchor="t">
            <a:spAutoFit/>
          </a:bodyPr>
          <a:lstStyle/>
          <a:p>
            <a:pPr algn="ctr">
              <a:lnSpc>
                <a:spcPct val="115000"/>
              </a:lnSpc>
              <a:spcAft>
                <a:spcPts val="0"/>
              </a:spcAft>
            </a:pPr>
            <a:r>
              <a:rPr lang="ko-KR" sz="2200" b="1">
                <a:solidFill>
                  <a:srgbClr val="1F2D3D"/>
                </a:solidFill>
                <a:latin typeface="맑은 고딕"/>
                <a:ea typeface="맑은 고딕"/>
                <a:cs typeface="맑은 고딕"/>
              </a:rPr>
              <a:t>전종현</a:t>
            </a:r>
          </a:p>
        </p:txBody>
      </p:sp>
      <p:sp>
        <p:nvSpPr>
          <p:cNvPr id="21" name="TextBox 20"/>
          <p:cNvSpPr txBox="1"/>
          <p:nvPr/>
        </p:nvSpPr>
        <p:spPr>
          <a:xfrm>
            <a:off x="731520" y="3794760"/>
            <a:ext cx="3337560" cy="320040"/>
          </a:xfrm>
          <a:prstGeom prst="rect">
            <a:avLst/>
          </a:prstGeom>
          <a:noFill/>
        </p:spPr>
        <p:txBody>
          <a:bodyPr wrap="square" lIns="0" tIns="0" rIns="0" bIns="0" anchor="t">
            <a:spAutoFit/>
          </a:bodyPr>
          <a:lstStyle/>
          <a:p>
            <a:pPr algn="ctr">
              <a:lnSpc>
                <a:spcPct val="115000"/>
              </a:lnSpc>
              <a:spcAft>
                <a:spcPts val="0"/>
              </a:spcAft>
            </a:pPr>
            <a:r>
              <a:rPr lang="ko-KR" sz="1400" b="1">
                <a:solidFill>
                  <a:srgbClr val="E8742B"/>
                </a:solidFill>
                <a:latin typeface="맑은 고딕"/>
                <a:ea typeface="맑은 고딕"/>
                <a:cs typeface="맑은 고딕"/>
              </a:rPr>
              <a:t>팀장</a:t>
            </a:r>
          </a:p>
        </p:txBody>
      </p:sp>
      <p:sp>
        <p:nvSpPr>
          <p:cNvPr id="22" name="TextBox 21"/>
          <p:cNvSpPr txBox="1"/>
          <p:nvPr/>
        </p:nvSpPr>
        <p:spPr>
          <a:xfrm>
            <a:off x="1005840" y="4343400"/>
            <a:ext cx="2788920" cy="1554480"/>
          </a:xfrm>
          <a:prstGeom prst="rect">
            <a:avLst/>
          </a:prstGeom>
          <a:noFill/>
        </p:spPr>
        <p:txBody>
          <a:bodyPr wrap="square" lIns="0" tIns="0" rIns="0" bIns="0" anchor="t">
            <a:spAutoFit/>
          </a:bodyPr>
          <a:lstStyle/>
          <a:p>
            <a:pPr algn="ctr">
              <a:lnSpc>
                <a:spcPct val="115000"/>
              </a:lnSpc>
              <a:spcAft>
                <a:spcPts val="400"/>
              </a:spcAft>
            </a:pPr>
            <a:r>
              <a:rPr lang="ko-KR" sz="1500" b="0">
                <a:solidFill>
                  <a:srgbClr val="2B333D"/>
                </a:solidFill>
                <a:latin typeface="맑은 고딕"/>
                <a:ea typeface="맑은 고딕"/>
                <a:cs typeface="맑은 고딕"/>
              </a:rPr>
              <a:t>전체 아키텍처 설계</a:t>
            </a:r>
          </a:p>
          <a:p>
            <a:pPr algn="ctr">
              <a:lnSpc>
                <a:spcPct val="115000"/>
              </a:lnSpc>
              <a:spcAft>
                <a:spcPts val="400"/>
              </a:spcAft>
            </a:pPr>
            <a:r>
              <a:rPr lang="ko-KR" sz="1500" b="0">
                <a:solidFill>
                  <a:srgbClr val="2B333D"/>
                </a:solidFill>
                <a:latin typeface="맑은 고딕"/>
                <a:ea typeface="맑은 고딕"/>
                <a:cs typeface="맑은 고딕"/>
              </a:rPr>
              <a:t>상태 판단(FSM)</a:t>
            </a:r>
          </a:p>
          <a:p>
            <a:pPr algn="ctr">
              <a:lnSpc>
                <a:spcPct val="115000"/>
              </a:lnSpc>
              <a:spcAft>
                <a:spcPts val="400"/>
              </a:spcAft>
            </a:pPr>
            <a:r>
              <a:rPr lang="ko-KR" sz="1500" b="0">
                <a:solidFill>
                  <a:srgbClr val="2B333D"/>
                </a:solidFill>
                <a:latin typeface="맑은 고딕"/>
                <a:ea typeface="맑은 고딕"/>
                <a:cs typeface="맑은 고딕"/>
              </a:rPr>
              <a:t>대시보드 · 데이터 기록</a:t>
            </a:r>
          </a:p>
          <a:p>
            <a:pPr algn="ctr">
              <a:lnSpc>
                <a:spcPct val="115000"/>
              </a:lnSpc>
              <a:spcAft>
                <a:spcPts val="400"/>
              </a:spcAft>
            </a:pPr>
            <a:r>
              <a:rPr lang="ko-KR" sz="1500" b="0">
                <a:solidFill>
                  <a:srgbClr val="2B333D"/>
                </a:solidFill>
                <a:latin typeface="맑은 고딕"/>
                <a:ea typeface="맑은 고딕"/>
                <a:cs typeface="맑은 고딕"/>
              </a:rPr>
              <a:t>통합</a:t>
            </a:r>
          </a:p>
        </p:txBody>
      </p:sp>
      <p:sp>
        <p:nvSpPr>
          <p:cNvPr id="23" name="송태원 카드"/>
          <p:cNvSpPr/>
          <p:nvPr/>
        </p:nvSpPr>
        <p:spPr>
          <a:xfrm>
            <a:off x="4389120" y="1691640"/>
            <a:ext cx="3337560" cy="434340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ound Same Side Corner Rectangle 23"/>
          <p:cNvSpPr/>
          <p:nvPr/>
        </p:nvSpPr>
        <p:spPr>
          <a:xfrm>
            <a:off x="5490972" y="2651760"/>
            <a:ext cx="1133856" cy="548640"/>
          </a:xfrm>
          <a:prstGeom prst="round2SameRect">
            <a:avLst>
              <a:gd name="adj1" fmla="val 50000"/>
              <a:gd name="adj2" fmla="val 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Isosceles Triangle 24"/>
          <p:cNvSpPr/>
          <p:nvPr/>
        </p:nvSpPr>
        <p:spPr>
          <a:xfrm rot="10800000">
            <a:off x="5929884" y="2651760"/>
            <a:ext cx="256032" cy="201168"/>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5719572" y="1975104"/>
            <a:ext cx="676656" cy="5029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5710428"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6313932"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5774436" y="2029968"/>
            <a:ext cx="566928" cy="658368"/>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5783580" y="1975104"/>
            <a:ext cx="548640"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rot="1200000">
            <a:off x="5756148" y="2011680"/>
            <a:ext cx="384048"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59115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61401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Arc 33"/>
          <p:cNvSpPr/>
          <p:nvPr/>
        </p:nvSpPr>
        <p:spPr>
          <a:xfrm>
            <a:off x="5975604" y="2395728"/>
            <a:ext cx="164592" cy="128016"/>
          </a:xfrm>
          <a:prstGeom prst="arc">
            <a:avLst>
              <a:gd name="adj1" fmla="val 1800000"/>
              <a:gd name="adj2" fmla="val 9000000"/>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389120" y="3337560"/>
            <a:ext cx="3337560" cy="457200"/>
          </a:xfrm>
          <a:prstGeom prst="rect">
            <a:avLst/>
          </a:prstGeom>
          <a:noFill/>
        </p:spPr>
        <p:txBody>
          <a:bodyPr wrap="square" lIns="0" tIns="0" rIns="0" bIns="0" anchor="t">
            <a:spAutoFit/>
          </a:bodyPr>
          <a:lstStyle/>
          <a:p>
            <a:pPr algn="ctr">
              <a:lnSpc>
                <a:spcPct val="115000"/>
              </a:lnSpc>
              <a:spcAft>
                <a:spcPts val="0"/>
              </a:spcAft>
            </a:pPr>
            <a:r>
              <a:rPr lang="ko-KR" sz="2200" b="1">
                <a:solidFill>
                  <a:srgbClr val="1F2D3D"/>
                </a:solidFill>
                <a:latin typeface="맑은 고딕"/>
                <a:ea typeface="맑은 고딕"/>
                <a:cs typeface="맑은 고딕"/>
              </a:rPr>
              <a:t>송태원</a:t>
            </a:r>
          </a:p>
        </p:txBody>
      </p:sp>
      <p:sp>
        <p:nvSpPr>
          <p:cNvPr id="36" name="TextBox 35"/>
          <p:cNvSpPr txBox="1"/>
          <p:nvPr/>
        </p:nvSpPr>
        <p:spPr>
          <a:xfrm>
            <a:off x="4389120" y="3794760"/>
            <a:ext cx="3337560" cy="320040"/>
          </a:xfrm>
          <a:prstGeom prst="rect">
            <a:avLst/>
          </a:prstGeom>
          <a:noFill/>
        </p:spPr>
        <p:txBody>
          <a:bodyPr wrap="square" lIns="0" tIns="0" rIns="0" bIns="0" anchor="t">
            <a:spAutoFit/>
          </a:bodyPr>
          <a:lstStyle/>
          <a:p>
            <a:pPr algn="ctr">
              <a:lnSpc>
                <a:spcPct val="115000"/>
              </a:lnSpc>
              <a:spcAft>
                <a:spcPts val="0"/>
              </a:spcAft>
            </a:pPr>
            <a:r>
              <a:rPr lang="ko-KR" sz="1400" b="1">
                <a:solidFill>
                  <a:srgbClr val="E8742B"/>
                </a:solidFill>
                <a:latin typeface="맑은 고딕"/>
                <a:ea typeface="맑은 고딕"/>
                <a:cs typeface="맑은 고딕"/>
              </a:rPr>
              <a:t>팀원</a:t>
            </a:r>
          </a:p>
        </p:txBody>
      </p:sp>
      <p:sp>
        <p:nvSpPr>
          <p:cNvPr id="37" name="TextBox 36"/>
          <p:cNvSpPr txBox="1"/>
          <p:nvPr/>
        </p:nvSpPr>
        <p:spPr>
          <a:xfrm>
            <a:off x="4663440" y="4343400"/>
            <a:ext cx="2788920" cy="1554480"/>
          </a:xfrm>
          <a:prstGeom prst="rect">
            <a:avLst/>
          </a:prstGeom>
          <a:noFill/>
        </p:spPr>
        <p:txBody>
          <a:bodyPr wrap="square" lIns="0" tIns="0" rIns="0" bIns="0" anchor="t">
            <a:spAutoFit/>
          </a:bodyPr>
          <a:lstStyle/>
          <a:p>
            <a:pPr algn="ctr">
              <a:lnSpc>
                <a:spcPct val="115000"/>
              </a:lnSpc>
              <a:spcAft>
                <a:spcPts val="400"/>
              </a:spcAft>
            </a:pPr>
            <a:r>
              <a:rPr lang="ko-KR" sz="1500" b="0">
                <a:solidFill>
                  <a:srgbClr val="2B333D"/>
                </a:solidFill>
                <a:latin typeface="맑은 고딕"/>
                <a:ea typeface="맑은 고딕"/>
                <a:cs typeface="맑은 고딕"/>
              </a:rPr>
              <a:t>회로 구성</a:t>
            </a:r>
          </a:p>
          <a:p>
            <a:pPr algn="ctr">
              <a:lnSpc>
                <a:spcPct val="115000"/>
              </a:lnSpc>
              <a:spcAft>
                <a:spcPts val="400"/>
              </a:spcAft>
            </a:pPr>
            <a:r>
              <a:rPr lang="ko-KR" sz="1500" b="0">
                <a:solidFill>
                  <a:srgbClr val="2B333D"/>
                </a:solidFill>
                <a:latin typeface="맑은 고딕"/>
                <a:ea typeface="맑은 고딕"/>
                <a:cs typeface="맑은 고딕"/>
              </a:rPr>
              <a:t>Jetson 보드 연결</a:t>
            </a:r>
          </a:p>
        </p:txBody>
      </p:sp>
      <p:sp>
        <p:nvSpPr>
          <p:cNvPr id="38" name="장호영 카드"/>
          <p:cNvSpPr/>
          <p:nvPr/>
        </p:nvSpPr>
        <p:spPr>
          <a:xfrm>
            <a:off x="8046720" y="1691640"/>
            <a:ext cx="3337560" cy="434340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 Same Side Corner Rectangle 38"/>
          <p:cNvSpPr/>
          <p:nvPr/>
        </p:nvSpPr>
        <p:spPr>
          <a:xfrm>
            <a:off x="9148572" y="2651760"/>
            <a:ext cx="1133856" cy="548640"/>
          </a:xfrm>
          <a:prstGeom prst="round2SameRect">
            <a:avLst>
              <a:gd name="adj1" fmla="val 50000"/>
              <a:gd name="adj2" fmla="val 0"/>
            </a:avLst>
          </a:prstGeom>
          <a:solidFill>
            <a:srgbClr val="5A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Isosceles Triangle 39"/>
          <p:cNvSpPr/>
          <p:nvPr/>
        </p:nvSpPr>
        <p:spPr>
          <a:xfrm rot="10800000">
            <a:off x="9587484" y="2651760"/>
            <a:ext cx="256032" cy="201168"/>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9377172" y="1975104"/>
            <a:ext cx="676656" cy="5029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9368028"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Oval 42"/>
          <p:cNvSpPr/>
          <p:nvPr/>
        </p:nvSpPr>
        <p:spPr>
          <a:xfrm>
            <a:off x="9971532"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9432036" y="2029968"/>
            <a:ext cx="566928" cy="658368"/>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9441180" y="1975104"/>
            <a:ext cx="548640"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95691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97977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Oval 47"/>
          <p:cNvSpPr/>
          <p:nvPr/>
        </p:nvSpPr>
        <p:spPr>
          <a:xfrm>
            <a:off x="9496044" y="2276856"/>
            <a:ext cx="210312" cy="155448"/>
          </a:xfrm>
          <a:prstGeom prst="ellipse">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Oval 48"/>
          <p:cNvSpPr/>
          <p:nvPr/>
        </p:nvSpPr>
        <p:spPr>
          <a:xfrm>
            <a:off x="9724644" y="2276856"/>
            <a:ext cx="210312" cy="155448"/>
          </a:xfrm>
          <a:prstGeom prst="ellipse">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Arc 49"/>
          <p:cNvSpPr/>
          <p:nvPr/>
        </p:nvSpPr>
        <p:spPr>
          <a:xfrm>
            <a:off x="9633204" y="2395728"/>
            <a:ext cx="164592" cy="128016"/>
          </a:xfrm>
          <a:prstGeom prst="arc">
            <a:avLst>
              <a:gd name="adj1" fmla="val 1800000"/>
              <a:gd name="adj2" fmla="val 9000000"/>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8046720" y="3337560"/>
            <a:ext cx="3337560" cy="457200"/>
          </a:xfrm>
          <a:prstGeom prst="rect">
            <a:avLst/>
          </a:prstGeom>
          <a:noFill/>
        </p:spPr>
        <p:txBody>
          <a:bodyPr wrap="square" lIns="0" tIns="0" rIns="0" bIns="0" anchor="t">
            <a:spAutoFit/>
          </a:bodyPr>
          <a:lstStyle/>
          <a:p>
            <a:pPr algn="ctr">
              <a:lnSpc>
                <a:spcPct val="115000"/>
              </a:lnSpc>
              <a:spcAft>
                <a:spcPts val="0"/>
              </a:spcAft>
            </a:pPr>
            <a:r>
              <a:rPr lang="ko-KR" sz="2200" b="1">
                <a:solidFill>
                  <a:srgbClr val="1F2D3D"/>
                </a:solidFill>
                <a:latin typeface="맑은 고딕"/>
                <a:ea typeface="맑은 고딕"/>
                <a:cs typeface="맑은 고딕"/>
              </a:rPr>
              <a:t>장호영</a:t>
            </a:r>
          </a:p>
        </p:txBody>
      </p:sp>
      <p:sp>
        <p:nvSpPr>
          <p:cNvPr id="52" name="TextBox 51"/>
          <p:cNvSpPr txBox="1"/>
          <p:nvPr/>
        </p:nvSpPr>
        <p:spPr>
          <a:xfrm>
            <a:off x="8046720" y="3794760"/>
            <a:ext cx="3337560" cy="320040"/>
          </a:xfrm>
          <a:prstGeom prst="rect">
            <a:avLst/>
          </a:prstGeom>
          <a:noFill/>
        </p:spPr>
        <p:txBody>
          <a:bodyPr wrap="square" lIns="0" tIns="0" rIns="0" bIns="0" anchor="t">
            <a:spAutoFit/>
          </a:bodyPr>
          <a:lstStyle/>
          <a:p>
            <a:pPr algn="ctr">
              <a:lnSpc>
                <a:spcPct val="115000"/>
              </a:lnSpc>
              <a:spcAft>
                <a:spcPts val="0"/>
              </a:spcAft>
            </a:pPr>
            <a:r>
              <a:rPr lang="ko-KR" sz="1400" b="1">
                <a:solidFill>
                  <a:srgbClr val="E8742B"/>
                </a:solidFill>
                <a:latin typeface="맑은 고딕"/>
                <a:ea typeface="맑은 고딕"/>
                <a:cs typeface="맑은 고딕"/>
              </a:rPr>
              <a:t>팀원</a:t>
            </a:r>
          </a:p>
        </p:txBody>
      </p:sp>
      <p:sp>
        <p:nvSpPr>
          <p:cNvPr id="53" name="TextBox 52"/>
          <p:cNvSpPr txBox="1"/>
          <p:nvPr/>
        </p:nvSpPr>
        <p:spPr>
          <a:xfrm>
            <a:off x="8321040" y="4343400"/>
            <a:ext cx="2788920" cy="1554480"/>
          </a:xfrm>
          <a:prstGeom prst="rect">
            <a:avLst/>
          </a:prstGeom>
          <a:noFill/>
        </p:spPr>
        <p:txBody>
          <a:bodyPr wrap="square" lIns="0" tIns="0" rIns="0" bIns="0" anchor="t">
            <a:spAutoFit/>
          </a:bodyPr>
          <a:lstStyle/>
          <a:p>
            <a:pPr algn="ctr">
              <a:lnSpc>
                <a:spcPct val="115000"/>
              </a:lnSpc>
              <a:spcAft>
                <a:spcPts val="400"/>
              </a:spcAft>
            </a:pPr>
            <a:r>
              <a:rPr lang="ko-KR" sz="1500" b="0">
                <a:solidFill>
                  <a:srgbClr val="2B333D"/>
                </a:solidFill>
                <a:latin typeface="맑은 고딕"/>
                <a:ea typeface="맑은 고딕"/>
                <a:cs typeface="맑은 고딕"/>
              </a:rPr>
              <a:t>비전 AI 작업자 검출</a:t>
            </a:r>
          </a:p>
          <a:p>
            <a:pPr algn="ctr">
              <a:lnSpc>
                <a:spcPct val="115000"/>
              </a:lnSpc>
              <a:spcAft>
                <a:spcPts val="400"/>
              </a:spcAft>
            </a:pPr>
            <a:r>
              <a:rPr lang="ko-KR" sz="1500" b="0">
                <a:solidFill>
                  <a:srgbClr val="2B333D"/>
                </a:solidFill>
                <a:latin typeface="맑은 고딕"/>
                <a:ea typeface="맑은 고딕"/>
                <a:cs typeface="맑은 고딕"/>
              </a:rPr>
              <a:t>거리 측정</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animEffect transition="in" filter="fade">
                                      <p:cBhvr>
                                        <p:cTn id="10" dur="500"/>
                                        <p:tgtEl>
                                          <p:spTgt spid="5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5"/>
                                        </p:tgtEl>
                                        <p:attrNameLst>
                                          <p:attrName>style.visibility</p:attrName>
                                        </p:attrNameLst>
                                      </p:cBhvr>
                                      <p:to>
                                        <p:strVal val="visible"/>
                                      </p:to>
                                    </p:set>
                                    <p:animEffect transition="in" filter="fade">
                                      <p:cBhvr>
                                        <p:cTn id="13" dur="500"/>
                                        <p:tgtEl>
                                          <p:spTgt spid="5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6"/>
                                        </p:tgtEl>
                                        <p:attrNameLst>
                                          <p:attrName>style.visibility</p:attrName>
                                        </p:attrNameLst>
                                      </p:cBhvr>
                                      <p:to>
                                        <p:strVal val="visible"/>
                                      </p:to>
                                    </p:set>
                                    <p:animEffect transition="in" filter="fade">
                                      <p:cBhvr>
                                        <p:cTn id="16" dur="500"/>
                                        <p:tgtEl>
                                          <p:spTgt spid="5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57"/>
                                        </p:tgtEl>
                                        <p:attrNameLst>
                                          <p:attrName>style.visibility</p:attrName>
                                        </p:attrNameLst>
                                      </p:cBhvr>
                                      <p:to>
                                        <p:strVal val="visible"/>
                                      </p:to>
                                    </p:set>
                                    <p:animEffect transition="in" filter="fade">
                                      <p:cBhvr>
                                        <p:cTn id="19" dur="500"/>
                                        <p:tgtEl>
                                          <p:spTgt spid="5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500"/>
                                        <p:tgtEl>
                                          <p:spTgt spid="5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9"/>
                                        </p:tgtEl>
                                        <p:attrNameLst>
                                          <p:attrName>style.visibility</p:attrName>
                                        </p:attrNameLst>
                                      </p:cBhvr>
                                      <p:to>
                                        <p:strVal val="visible"/>
                                      </p:to>
                                    </p:set>
                                    <p:animEffect transition="in" filter="fade">
                                      <p:cBhvr>
                                        <p:cTn id="25" dur="500"/>
                                        <p:tgtEl>
                                          <p:spTgt spid="5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0"/>
                                        </p:tgtEl>
                                        <p:attrNameLst>
                                          <p:attrName>style.visibility</p:attrName>
                                        </p:attrNameLst>
                                      </p:cBhvr>
                                      <p:to>
                                        <p:strVal val="visible"/>
                                      </p:to>
                                    </p:set>
                                    <p:animEffect transition="in" filter="fade">
                                      <p:cBhvr>
                                        <p:cTn id="28" dur="500"/>
                                        <p:tgtEl>
                                          <p:spTgt spid="6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61"/>
                                        </p:tgtEl>
                                        <p:attrNameLst>
                                          <p:attrName>style.visibility</p:attrName>
                                        </p:attrNameLst>
                                      </p:cBhvr>
                                      <p:to>
                                        <p:strVal val="visible"/>
                                      </p:to>
                                    </p:set>
                                    <p:animEffect transition="in" filter="fade">
                                      <p:cBhvr>
                                        <p:cTn id="31" dur="500"/>
                                        <p:tgtEl>
                                          <p:spTgt spid="6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2"/>
                                        </p:tgtEl>
                                        <p:attrNameLst>
                                          <p:attrName>style.visibility</p:attrName>
                                        </p:attrNameLst>
                                      </p:cBhvr>
                                      <p:to>
                                        <p:strVal val="visible"/>
                                      </p:to>
                                    </p:set>
                                    <p:animEffect transition="in" filter="fade">
                                      <p:cBhvr>
                                        <p:cTn id="34" dur="500"/>
                                        <p:tgtEl>
                                          <p:spTgt spid="6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63"/>
                                        </p:tgtEl>
                                        <p:attrNameLst>
                                          <p:attrName>style.visibility</p:attrName>
                                        </p:attrNameLst>
                                      </p:cBhvr>
                                      <p:to>
                                        <p:strVal val="visible"/>
                                      </p:to>
                                    </p:set>
                                    <p:animEffect transition="in" filter="fade">
                                      <p:cBhvr>
                                        <p:cTn id="37" dur="500"/>
                                        <p:tgtEl>
                                          <p:spTgt spid="6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fade">
                                      <p:cBhvr>
                                        <p:cTn id="40" dur="500"/>
                                        <p:tgtEl>
                                          <p:spTgt spid="6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animEffect transition="in" filter="fade">
                                      <p:cBhvr>
                                        <p:cTn id="43" dur="500"/>
                                        <p:tgtEl>
                                          <p:spTgt spid="6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6"/>
                                        </p:tgtEl>
                                        <p:attrNameLst>
                                          <p:attrName>style.visibility</p:attrName>
                                        </p:attrNameLst>
                                      </p:cBhvr>
                                      <p:to>
                                        <p:strVal val="visible"/>
                                      </p:to>
                                    </p:set>
                                    <p:animEffect transition="in" filter="fade">
                                      <p:cBhvr>
                                        <p:cTn id="46" dur="500"/>
                                        <p:tgtEl>
                                          <p:spTgt spid="6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67"/>
                                        </p:tgtEl>
                                        <p:attrNameLst>
                                          <p:attrName>style.visibility</p:attrName>
                                        </p:attrNameLst>
                                      </p:cBhvr>
                                      <p:to>
                                        <p:strVal val="visible"/>
                                      </p:to>
                                    </p:set>
                                    <p:animEffect transition="in" filter="fade">
                                      <p:cBhvr>
                                        <p:cTn id="49" dur="500"/>
                                        <p:tgtEl>
                                          <p:spTgt spid="6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68"/>
                                        </p:tgtEl>
                                        <p:attrNameLst>
                                          <p:attrName>style.visibility</p:attrName>
                                        </p:attrNameLst>
                                      </p:cBhvr>
                                      <p:to>
                                        <p:strVal val="visible"/>
                                      </p:to>
                                    </p:set>
                                    <p:animEffect transition="in" filter="fade">
                                      <p:cBhvr>
                                        <p:cTn id="52" dur="500"/>
                                        <p:tgtEl>
                                          <p:spTgt spid="6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69"/>
                                        </p:tgtEl>
                                        <p:attrNameLst>
                                          <p:attrName>style.visibility</p:attrName>
                                        </p:attrNameLst>
                                      </p:cBhvr>
                                      <p:to>
                                        <p:strVal val="visible"/>
                                      </p:to>
                                    </p:set>
                                    <p:animEffect transition="in" filter="fade">
                                      <p:cBhvr>
                                        <p:cTn id="55" dur="500"/>
                                        <p:tgtEl>
                                          <p:spTgt spid="6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70"/>
                                        </p:tgtEl>
                                        <p:attrNameLst>
                                          <p:attrName>style.visibility</p:attrName>
                                        </p:attrNameLst>
                                      </p:cBhvr>
                                      <p:to>
                                        <p:strVal val="visible"/>
                                      </p:to>
                                    </p:set>
                                    <p:animEffect transition="in" filter="fade">
                                      <p:cBhvr>
                                        <p:cTn id="58" dur="500"/>
                                        <p:tgtEl>
                                          <p:spTgt spid="7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9"/>
                                        </p:tgtEl>
                                        <p:attrNameLst>
                                          <p:attrName>style.visibility</p:attrName>
                                        </p:attrNameLst>
                                      </p:cBhvr>
                                      <p:to>
                                        <p:strVal val="visible"/>
                                      </p:to>
                                    </p:set>
                                    <p:animEffect transition="in" filter="fade">
                                      <p:cBhvr>
                                        <p:cTn id="90" dur="500"/>
                                        <p:tgtEl>
                                          <p:spTgt spid="2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1"/>
                                        </p:tgtEl>
                                        <p:attrNameLst>
                                          <p:attrName>style.visibility</p:attrName>
                                        </p:attrNameLst>
                                      </p:cBhvr>
                                      <p:to>
                                        <p:strVal val="visible"/>
                                      </p:to>
                                    </p:set>
                                    <p:animEffect transition="in" filter="fade">
                                      <p:cBhvr>
                                        <p:cTn id="96" dur="500"/>
                                        <p:tgtEl>
                                          <p:spTgt spid="3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2"/>
                                        </p:tgtEl>
                                        <p:attrNameLst>
                                          <p:attrName>style.visibility</p:attrName>
                                        </p:attrNameLst>
                                      </p:cBhvr>
                                      <p:to>
                                        <p:strVal val="visible"/>
                                      </p:to>
                                    </p:set>
                                    <p:animEffect transition="in" filter="fade">
                                      <p:cBhvr>
                                        <p:cTn id="99" dur="500"/>
                                        <p:tgtEl>
                                          <p:spTgt spid="3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3"/>
                                        </p:tgtEl>
                                        <p:attrNameLst>
                                          <p:attrName>style.visibility</p:attrName>
                                        </p:attrNameLst>
                                      </p:cBhvr>
                                      <p:to>
                                        <p:strVal val="visible"/>
                                      </p:to>
                                    </p:set>
                                    <p:animEffect transition="in" filter="fade">
                                      <p:cBhvr>
                                        <p:cTn id="102" dur="500"/>
                                        <p:tgtEl>
                                          <p:spTgt spid="3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4"/>
                                        </p:tgtEl>
                                        <p:attrNameLst>
                                          <p:attrName>style.visibility</p:attrName>
                                        </p:attrNameLst>
                                      </p:cBhvr>
                                      <p:to>
                                        <p:strVal val="visible"/>
                                      </p:to>
                                    </p:set>
                                    <p:animEffect transition="in" filter="fade">
                                      <p:cBhvr>
                                        <p:cTn id="105" dur="500"/>
                                        <p:tgtEl>
                                          <p:spTgt spid="3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5"/>
                                        </p:tgtEl>
                                        <p:attrNameLst>
                                          <p:attrName>style.visibility</p:attrName>
                                        </p:attrNameLst>
                                      </p:cBhvr>
                                      <p:to>
                                        <p:strVal val="visible"/>
                                      </p:to>
                                    </p:set>
                                    <p:animEffect transition="in" filter="fade">
                                      <p:cBhvr>
                                        <p:cTn id="108" dur="500"/>
                                        <p:tgtEl>
                                          <p:spTgt spid="35"/>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6"/>
                                        </p:tgtEl>
                                        <p:attrNameLst>
                                          <p:attrName>style.visibility</p:attrName>
                                        </p:attrNameLst>
                                      </p:cBhvr>
                                      <p:to>
                                        <p:strVal val="visible"/>
                                      </p:to>
                                    </p:set>
                                    <p:animEffect transition="in" filter="fade">
                                      <p:cBhvr>
                                        <p:cTn id="111" dur="500"/>
                                        <p:tgtEl>
                                          <p:spTgt spid="3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7"/>
                                        </p:tgtEl>
                                        <p:attrNameLst>
                                          <p:attrName>style.visibility</p:attrName>
                                        </p:attrNameLst>
                                      </p:cBhvr>
                                      <p:to>
                                        <p:strVal val="visible"/>
                                      </p:to>
                                    </p:set>
                                    <p:animEffect transition="in" filter="fade">
                                      <p:cBhvr>
                                        <p:cTn id="114" dur="500"/>
                                        <p:tgtEl>
                                          <p:spTgt spid="37"/>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fade">
                                      <p:cBhvr>
                                        <p:cTn id="119" dur="500"/>
                                        <p:tgtEl>
                                          <p:spTgt spid="3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fade">
                                      <p:cBhvr>
                                        <p:cTn id="122" dur="500"/>
                                        <p:tgtEl>
                                          <p:spTgt spid="3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fade">
                                      <p:cBhvr>
                                        <p:cTn id="125" dur="500"/>
                                        <p:tgtEl>
                                          <p:spTgt spid="40"/>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1"/>
                                        </p:tgtEl>
                                        <p:attrNameLst>
                                          <p:attrName>style.visibility</p:attrName>
                                        </p:attrNameLst>
                                      </p:cBhvr>
                                      <p:to>
                                        <p:strVal val="visible"/>
                                      </p:to>
                                    </p:set>
                                    <p:animEffect transition="in" filter="fade">
                                      <p:cBhvr>
                                        <p:cTn id="128" dur="500"/>
                                        <p:tgtEl>
                                          <p:spTgt spid="41"/>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2"/>
                                        </p:tgtEl>
                                        <p:attrNameLst>
                                          <p:attrName>style.visibility</p:attrName>
                                        </p:attrNameLst>
                                      </p:cBhvr>
                                      <p:to>
                                        <p:strVal val="visible"/>
                                      </p:to>
                                    </p:set>
                                    <p:animEffect transition="in" filter="fade">
                                      <p:cBhvr>
                                        <p:cTn id="131" dur="500"/>
                                        <p:tgtEl>
                                          <p:spTgt spid="42"/>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3"/>
                                        </p:tgtEl>
                                        <p:attrNameLst>
                                          <p:attrName>style.visibility</p:attrName>
                                        </p:attrNameLst>
                                      </p:cBhvr>
                                      <p:to>
                                        <p:strVal val="visible"/>
                                      </p:to>
                                    </p:set>
                                    <p:animEffect transition="in" filter="fade">
                                      <p:cBhvr>
                                        <p:cTn id="134" dur="500"/>
                                        <p:tgtEl>
                                          <p:spTgt spid="43"/>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4"/>
                                        </p:tgtEl>
                                        <p:attrNameLst>
                                          <p:attrName>style.visibility</p:attrName>
                                        </p:attrNameLst>
                                      </p:cBhvr>
                                      <p:to>
                                        <p:strVal val="visible"/>
                                      </p:to>
                                    </p:set>
                                    <p:animEffect transition="in" filter="fade">
                                      <p:cBhvr>
                                        <p:cTn id="137" dur="500"/>
                                        <p:tgtEl>
                                          <p:spTgt spid="44"/>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45"/>
                                        </p:tgtEl>
                                        <p:attrNameLst>
                                          <p:attrName>style.visibility</p:attrName>
                                        </p:attrNameLst>
                                      </p:cBhvr>
                                      <p:to>
                                        <p:strVal val="visible"/>
                                      </p:to>
                                    </p:set>
                                    <p:animEffect transition="in" filter="fade">
                                      <p:cBhvr>
                                        <p:cTn id="140" dur="500"/>
                                        <p:tgtEl>
                                          <p:spTgt spid="45"/>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fade">
                                      <p:cBhvr>
                                        <p:cTn id="143" dur="500"/>
                                        <p:tgtEl>
                                          <p:spTgt spid="46"/>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500"/>
                                        <p:tgtEl>
                                          <p:spTgt spid="47"/>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48"/>
                                        </p:tgtEl>
                                        <p:attrNameLst>
                                          <p:attrName>style.visibility</p:attrName>
                                        </p:attrNameLst>
                                      </p:cBhvr>
                                      <p:to>
                                        <p:strVal val="visible"/>
                                      </p:to>
                                    </p:set>
                                    <p:animEffect transition="in" filter="fade">
                                      <p:cBhvr>
                                        <p:cTn id="149" dur="500"/>
                                        <p:tgtEl>
                                          <p:spTgt spid="48"/>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49"/>
                                        </p:tgtEl>
                                        <p:attrNameLst>
                                          <p:attrName>style.visibility</p:attrName>
                                        </p:attrNameLst>
                                      </p:cBhvr>
                                      <p:to>
                                        <p:strVal val="visible"/>
                                      </p:to>
                                    </p:set>
                                    <p:animEffect transition="in" filter="fade">
                                      <p:cBhvr>
                                        <p:cTn id="152" dur="500"/>
                                        <p:tgtEl>
                                          <p:spTgt spid="49"/>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5" dur="500"/>
                                        <p:tgtEl>
                                          <p:spTgt spid="50"/>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1"/>
                                        </p:tgtEl>
                                        <p:attrNameLst>
                                          <p:attrName>style.visibility</p:attrName>
                                        </p:attrNameLst>
                                      </p:cBhvr>
                                      <p:to>
                                        <p:strVal val="visible"/>
                                      </p:to>
                                    </p:set>
                                    <p:animEffect transition="in" filter="fade">
                                      <p:cBhvr>
                                        <p:cTn id="158" dur="500"/>
                                        <p:tgtEl>
                                          <p:spTgt spid="51"/>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2"/>
                                        </p:tgtEl>
                                        <p:attrNameLst>
                                          <p:attrName>style.visibility</p:attrName>
                                        </p:attrNameLst>
                                      </p:cBhvr>
                                      <p:to>
                                        <p:strVal val="visible"/>
                                      </p:to>
                                    </p:set>
                                    <p:animEffect transition="in" filter="fade">
                                      <p:cBhvr>
                                        <p:cTn id="161" dur="500"/>
                                        <p:tgtEl>
                                          <p:spTgt spid="52"/>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3"/>
                                        </p:tgtEl>
                                        <p:attrNameLst>
                                          <p:attrName>style.visibility</p:attrName>
                                        </p:attrNameLst>
                                      </p:cBhvr>
                                      <p:to>
                                        <p:strVal val="visible"/>
                                      </p:to>
                                    </p:set>
                                    <p:animEffect transition="in" filter="fade">
                                      <p:cBhvr>
                                        <p:cTn id="164"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20" grpId="0"/>
      <p:bldP spid="21" grpId="0"/>
      <p:bldP spid="22" grpId="0"/>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p:bldP spid="36" grpId="0"/>
      <p:bldP spid="37" grpId="0"/>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p:bldP spid="52" grpId="0"/>
      <p:bldP spid="53"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02  </a:t>
            </a:r>
            <a:r>
              <a:rPr lang="ko-KR" sz="3000" b="1">
                <a:solidFill>
                  <a:srgbClr val="1F2D3D"/>
                </a:solidFill>
                <a:latin typeface="맑은 고딕"/>
                <a:ea typeface="맑은 고딕"/>
                <a:cs typeface="맑은 고딕"/>
              </a:rPr>
              <a:t>문제 정의</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4</a:t>
            </a:r>
          </a:p>
        </p:txBody>
      </p:sp>
      <p:sp>
        <p:nvSpPr>
          <p:cNvPr id="5" name="TextBox 4"/>
          <p:cNvSpPr txBox="1"/>
          <p:nvPr/>
        </p:nvSpPr>
        <p:spPr>
          <a:xfrm>
            <a:off x="731520" y="1463040"/>
            <a:ext cx="512064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현장 문제</a:t>
            </a:r>
          </a:p>
        </p:txBody>
      </p:sp>
      <p:sp>
        <p:nvSpPr>
          <p:cNvPr id="6" name="TextBox 5"/>
          <p:cNvSpPr txBox="1"/>
          <p:nvPr/>
        </p:nvSpPr>
        <p:spPr>
          <a:xfrm>
            <a:off x="731520" y="1920240"/>
            <a:ext cx="5120640" cy="1371600"/>
          </a:xfrm>
          <a:prstGeom prst="rect">
            <a:avLst/>
          </a:prstGeom>
          <a:noFill/>
        </p:spPr>
        <p:txBody>
          <a:bodyPr wrap="square" lIns="0" tIns="0" rIns="0" bIns="0" anchor="t">
            <a:spAutoFit/>
          </a:bodyPr>
          <a:lstStyle/>
          <a:p>
            <a:pPr algn="l">
              <a:lnSpc>
                <a:spcPct val="130000"/>
              </a:lnSpc>
              <a:spcAft>
                <a:spcPts val="0"/>
              </a:spcAft>
            </a:pPr>
            <a:r>
              <a:rPr lang="ko-KR" sz="1500" b="0">
                <a:solidFill>
                  <a:srgbClr val="2B333D"/>
                </a:solidFill>
                <a:latin typeface="맑은 고딕"/>
                <a:ea typeface="맑은 고딕"/>
                <a:cs typeface="맑은 고딕"/>
              </a:rPr>
              <a:t>컨베이어 벨트는 쉬지 않고 움직입니다. 정비나 물품 정리로 가까이 간 작업자는 작업에 집중하다 장비와의 거리를 놓치기 쉽고, 이때 끼임·충돌 사고가 날 수 있습니다.</a:t>
            </a:r>
          </a:p>
        </p:txBody>
      </p:sp>
      <p:sp>
        <p:nvSpPr>
          <p:cNvPr id="7" name="TextBox 6"/>
          <p:cNvSpPr txBox="1"/>
          <p:nvPr/>
        </p:nvSpPr>
        <p:spPr>
          <a:xfrm>
            <a:off x="731520" y="3520440"/>
            <a:ext cx="512064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사용자</a:t>
            </a:r>
          </a:p>
        </p:txBody>
      </p:sp>
      <p:sp>
        <p:nvSpPr>
          <p:cNvPr id="8" name="Rounded Rectangle 7"/>
          <p:cNvSpPr/>
          <p:nvPr/>
        </p:nvSpPr>
        <p:spPr>
          <a:xfrm>
            <a:off x="731520" y="4023360"/>
            <a:ext cx="5120640" cy="566928"/>
          </a:xfrm>
          <a:prstGeom prst="roundRect">
            <a:avLst>
              <a:gd name="adj" fmla="val 2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14400" y="4023360"/>
            <a:ext cx="1737360" cy="566928"/>
          </a:xfrm>
          <a:prstGeom prst="rect">
            <a:avLst/>
          </a:prstGeom>
          <a:noFill/>
        </p:spPr>
        <p:txBody>
          <a:bodyPr wrap="square" lIns="0" tIns="0" rIns="0" bIns="0" anchor="ctr">
            <a:spAutoFit/>
          </a:bodyPr>
          <a:lstStyle/>
          <a:p>
            <a:pPr algn="l">
              <a:lnSpc>
                <a:spcPct val="115000"/>
              </a:lnSpc>
              <a:spcAft>
                <a:spcPts val="0"/>
              </a:spcAft>
            </a:pPr>
            <a:r>
              <a:rPr lang="ko-KR" sz="1400" b="1">
                <a:solidFill>
                  <a:srgbClr val="1F2D3D"/>
                </a:solidFill>
                <a:latin typeface="맑은 고딕"/>
                <a:ea typeface="맑은 고딕"/>
                <a:cs typeface="맑은 고딕"/>
              </a:rPr>
              <a:t>현장 작업자</a:t>
            </a:r>
          </a:p>
        </p:txBody>
      </p:sp>
      <p:sp>
        <p:nvSpPr>
          <p:cNvPr id="10" name="TextBox 9"/>
          <p:cNvSpPr txBox="1"/>
          <p:nvPr/>
        </p:nvSpPr>
        <p:spPr>
          <a:xfrm>
            <a:off x="2651760" y="4023360"/>
            <a:ext cx="3108960" cy="566928"/>
          </a:xfrm>
          <a:prstGeom prst="rect">
            <a:avLst/>
          </a:prstGeom>
          <a:noFill/>
        </p:spPr>
        <p:txBody>
          <a:bodyPr wrap="square" lIns="0" tIns="0" rIns="0" bIns="0" anchor="ctr">
            <a:spAutoFit/>
          </a:bodyPr>
          <a:lstStyle/>
          <a:p>
            <a:pPr algn="l">
              <a:lnSpc>
                <a:spcPct val="115000"/>
              </a:lnSpc>
              <a:spcAft>
                <a:spcPts val="0"/>
              </a:spcAft>
            </a:pPr>
            <a:r>
              <a:rPr lang="ko-KR" sz="1400" b="0">
                <a:solidFill>
                  <a:srgbClr val="2B333D"/>
                </a:solidFill>
                <a:latin typeface="맑은 고딕"/>
                <a:ea typeface="맑은 고딕"/>
                <a:cs typeface="맑은 고딕"/>
              </a:rPr>
              <a:t>바로 알 수 있는 경고, 자동 정지</a:t>
            </a:r>
          </a:p>
        </p:txBody>
      </p:sp>
      <p:sp>
        <p:nvSpPr>
          <p:cNvPr id="11" name="Rounded Rectangle 10"/>
          <p:cNvSpPr/>
          <p:nvPr/>
        </p:nvSpPr>
        <p:spPr>
          <a:xfrm>
            <a:off x="731520" y="4709160"/>
            <a:ext cx="5120640" cy="566928"/>
          </a:xfrm>
          <a:prstGeom prst="roundRect">
            <a:avLst>
              <a:gd name="adj" fmla="val 2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14400" y="4709160"/>
            <a:ext cx="1737360" cy="566928"/>
          </a:xfrm>
          <a:prstGeom prst="rect">
            <a:avLst/>
          </a:prstGeom>
          <a:noFill/>
        </p:spPr>
        <p:txBody>
          <a:bodyPr wrap="square" lIns="0" tIns="0" rIns="0" bIns="0" anchor="ctr">
            <a:spAutoFit/>
          </a:bodyPr>
          <a:lstStyle/>
          <a:p>
            <a:pPr algn="l">
              <a:lnSpc>
                <a:spcPct val="115000"/>
              </a:lnSpc>
              <a:spcAft>
                <a:spcPts val="0"/>
              </a:spcAft>
            </a:pPr>
            <a:r>
              <a:rPr lang="ko-KR" sz="1400" b="1">
                <a:solidFill>
                  <a:srgbClr val="1F2D3D"/>
                </a:solidFill>
                <a:latin typeface="맑은 고딕"/>
                <a:ea typeface="맑은 고딕"/>
                <a:cs typeface="맑은 고딕"/>
              </a:rPr>
              <a:t>현장 관리자</a:t>
            </a:r>
          </a:p>
        </p:txBody>
      </p:sp>
      <p:sp>
        <p:nvSpPr>
          <p:cNvPr id="13" name="TextBox 12"/>
          <p:cNvSpPr txBox="1"/>
          <p:nvPr/>
        </p:nvSpPr>
        <p:spPr>
          <a:xfrm>
            <a:off x="2651760" y="4709160"/>
            <a:ext cx="3108960" cy="566928"/>
          </a:xfrm>
          <a:prstGeom prst="rect">
            <a:avLst/>
          </a:prstGeom>
          <a:noFill/>
        </p:spPr>
        <p:txBody>
          <a:bodyPr wrap="square" lIns="0" tIns="0" rIns="0" bIns="0" anchor="ctr">
            <a:spAutoFit/>
          </a:bodyPr>
          <a:lstStyle/>
          <a:p>
            <a:pPr algn="l">
              <a:lnSpc>
                <a:spcPct val="115000"/>
              </a:lnSpc>
              <a:spcAft>
                <a:spcPts val="0"/>
              </a:spcAft>
            </a:pPr>
            <a:r>
              <a:rPr lang="ko-KR" sz="1400" b="0">
                <a:solidFill>
                  <a:srgbClr val="2B333D"/>
                </a:solidFill>
                <a:latin typeface="맑은 고딕"/>
                <a:ea typeface="맑은 고딕"/>
                <a:cs typeface="맑은 고딕"/>
              </a:rPr>
              <a:t>실시간 화면과 경고·정지 기록</a:t>
            </a:r>
          </a:p>
        </p:txBody>
      </p:sp>
      <p:sp>
        <p:nvSpPr>
          <p:cNvPr id="14" name="Rounded Rectangle 13"/>
          <p:cNvSpPr/>
          <p:nvPr/>
        </p:nvSpPr>
        <p:spPr>
          <a:xfrm>
            <a:off x="731520" y="5394960"/>
            <a:ext cx="5120640" cy="566928"/>
          </a:xfrm>
          <a:prstGeom prst="roundRect">
            <a:avLst>
              <a:gd name="adj" fmla="val 2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14400" y="5394960"/>
            <a:ext cx="1737360" cy="566928"/>
          </a:xfrm>
          <a:prstGeom prst="rect">
            <a:avLst/>
          </a:prstGeom>
          <a:noFill/>
        </p:spPr>
        <p:txBody>
          <a:bodyPr wrap="square" lIns="0" tIns="0" rIns="0" bIns="0" anchor="ctr">
            <a:spAutoFit/>
          </a:bodyPr>
          <a:lstStyle/>
          <a:p>
            <a:pPr algn="l">
              <a:lnSpc>
                <a:spcPct val="115000"/>
              </a:lnSpc>
              <a:spcAft>
                <a:spcPts val="0"/>
              </a:spcAft>
            </a:pPr>
            <a:r>
              <a:rPr lang="ko-KR" sz="1400" b="1">
                <a:solidFill>
                  <a:srgbClr val="1F2D3D"/>
                </a:solidFill>
                <a:latin typeface="맑은 고딕"/>
                <a:ea typeface="맑은 고딕"/>
                <a:cs typeface="맑은 고딕"/>
              </a:rPr>
              <a:t>유지보수 담당자</a:t>
            </a:r>
          </a:p>
        </p:txBody>
      </p:sp>
      <p:sp>
        <p:nvSpPr>
          <p:cNvPr id="16" name="TextBox 15"/>
          <p:cNvSpPr txBox="1"/>
          <p:nvPr/>
        </p:nvSpPr>
        <p:spPr>
          <a:xfrm>
            <a:off x="2651760" y="5394960"/>
            <a:ext cx="3108960" cy="566928"/>
          </a:xfrm>
          <a:prstGeom prst="rect">
            <a:avLst/>
          </a:prstGeom>
          <a:noFill/>
        </p:spPr>
        <p:txBody>
          <a:bodyPr wrap="square" lIns="0" tIns="0" rIns="0" bIns="0" anchor="ctr">
            <a:spAutoFit/>
          </a:bodyPr>
          <a:lstStyle/>
          <a:p>
            <a:pPr algn="l">
              <a:lnSpc>
                <a:spcPct val="115000"/>
              </a:lnSpc>
              <a:spcAft>
                <a:spcPts val="0"/>
              </a:spcAft>
            </a:pPr>
            <a:r>
              <a:rPr lang="ko-KR" sz="1400" b="0">
                <a:solidFill>
                  <a:srgbClr val="2B333D"/>
                </a:solidFill>
                <a:latin typeface="맑은 고딕"/>
                <a:ea typeface="맑은 고딕"/>
                <a:cs typeface="맑은 고딕"/>
              </a:rPr>
              <a:t>오류가 난 시각과 원인</a:t>
            </a:r>
          </a:p>
        </p:txBody>
      </p:sp>
      <p:sp>
        <p:nvSpPr>
          <p:cNvPr id="17" name="TextBox 16"/>
          <p:cNvSpPr txBox="1"/>
          <p:nvPr/>
        </p:nvSpPr>
        <p:spPr>
          <a:xfrm>
            <a:off x="6492240" y="1463040"/>
            <a:ext cx="493776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그래서 필요한 것</a:t>
            </a:r>
          </a:p>
        </p:txBody>
      </p:sp>
      <p:sp>
        <p:nvSpPr>
          <p:cNvPr id="18" name="Rounded Rectangle 17"/>
          <p:cNvSpPr/>
          <p:nvPr/>
        </p:nvSpPr>
        <p:spPr>
          <a:xfrm>
            <a:off x="6492240" y="1920240"/>
            <a:ext cx="4937760" cy="11887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720840" y="2240280"/>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1</a:t>
            </a:r>
          </a:p>
        </p:txBody>
      </p:sp>
      <p:sp>
        <p:nvSpPr>
          <p:cNvPr id="20" name="TextBox 19"/>
          <p:cNvSpPr txBox="1"/>
          <p:nvPr/>
        </p:nvSpPr>
        <p:spPr>
          <a:xfrm>
            <a:off x="7498079" y="2103120"/>
            <a:ext cx="3749039"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자동 감지</a:t>
            </a:r>
          </a:p>
        </p:txBody>
      </p:sp>
      <p:sp>
        <p:nvSpPr>
          <p:cNvPr id="21" name="TextBox 20"/>
          <p:cNvSpPr txBox="1"/>
          <p:nvPr/>
        </p:nvSpPr>
        <p:spPr>
          <a:xfrm>
            <a:off x="7498079" y="2487168"/>
            <a:ext cx="3749039" cy="54864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작업자가 다가오는 것을 카메라로 알아챈다</a:t>
            </a:r>
          </a:p>
        </p:txBody>
      </p:sp>
      <p:sp>
        <p:nvSpPr>
          <p:cNvPr id="22" name="Rounded Rectangle 21"/>
          <p:cNvSpPr/>
          <p:nvPr/>
        </p:nvSpPr>
        <p:spPr>
          <a:xfrm>
            <a:off x="6492240" y="3291840"/>
            <a:ext cx="4937760" cy="11887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6720840" y="3611880"/>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2</a:t>
            </a:r>
          </a:p>
        </p:txBody>
      </p:sp>
      <p:sp>
        <p:nvSpPr>
          <p:cNvPr id="24" name="TextBox 23"/>
          <p:cNvSpPr txBox="1"/>
          <p:nvPr/>
        </p:nvSpPr>
        <p:spPr>
          <a:xfrm>
            <a:off x="7498079" y="3474720"/>
            <a:ext cx="3749039"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단계별 대응</a:t>
            </a:r>
          </a:p>
        </p:txBody>
      </p:sp>
      <p:sp>
        <p:nvSpPr>
          <p:cNvPr id="25" name="TextBox 24"/>
          <p:cNvSpPr txBox="1"/>
          <p:nvPr/>
        </p:nvSpPr>
        <p:spPr>
          <a:xfrm>
            <a:off x="7498079" y="3858768"/>
            <a:ext cx="3749039" cy="54864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가까워지면 먼저 경고하고, 위험 거리에서는 벨트를 멈춘다</a:t>
            </a:r>
          </a:p>
        </p:txBody>
      </p:sp>
      <p:sp>
        <p:nvSpPr>
          <p:cNvPr id="26" name="Rounded Rectangle 25"/>
          <p:cNvSpPr/>
          <p:nvPr/>
        </p:nvSpPr>
        <p:spPr>
          <a:xfrm>
            <a:off x="6492240" y="4663440"/>
            <a:ext cx="4937760" cy="11887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6720840" y="4983479"/>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3</a:t>
            </a:r>
          </a:p>
        </p:txBody>
      </p:sp>
      <p:sp>
        <p:nvSpPr>
          <p:cNvPr id="28" name="TextBox 27"/>
          <p:cNvSpPr txBox="1"/>
          <p:nvPr/>
        </p:nvSpPr>
        <p:spPr>
          <a:xfrm>
            <a:off x="7498079" y="4846320"/>
            <a:ext cx="3749039"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기록</a:t>
            </a:r>
          </a:p>
        </p:txBody>
      </p:sp>
      <p:sp>
        <p:nvSpPr>
          <p:cNvPr id="29" name="TextBox 28"/>
          <p:cNvSpPr txBox="1"/>
          <p:nvPr/>
        </p:nvSpPr>
        <p:spPr>
          <a:xfrm>
            <a:off x="7498079" y="5230368"/>
            <a:ext cx="3749039" cy="54864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언제, 왜 경고하고 멈췄는지 남겨 나중에 확인한다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animBg="1"/>
      <p:bldP spid="9" grpId="0"/>
      <p:bldP spid="10" grpId="0"/>
      <p:bldP spid="11" grpId="0" animBg="1"/>
      <p:bldP spid="12" grpId="0"/>
      <p:bldP spid="13" grpId="0"/>
      <p:bldP spid="14" grpId="0" animBg="1"/>
      <p:bldP spid="15" grpId="0"/>
      <p:bldP spid="16" grpId="0"/>
      <p:bldP spid="17" grpId="0"/>
      <p:bldP spid="18" grpId="0" animBg="1"/>
      <p:bldP spid="19" grpId="0" animBg="1"/>
      <p:bldP spid="20" grpId="0"/>
      <p:bldP spid="21" grpId="0"/>
      <p:bldP spid="22" grpId="0" animBg="1"/>
      <p:bldP spid="23" grpId="0" animBg="1"/>
      <p:bldP spid="24" grpId="0"/>
      <p:bldP spid="25" grpId="0"/>
      <p:bldP spid="26" grpId="0" animBg="1"/>
      <p:bldP spid="27" grpId="0" animBg="1"/>
      <p:bldP spid="28" grpId="0"/>
      <p:bldP spid="2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03  </a:t>
            </a:r>
            <a:r>
              <a:rPr lang="ko-KR" sz="3000" b="1">
                <a:solidFill>
                  <a:srgbClr val="1F2D3D"/>
                </a:solidFill>
                <a:latin typeface="맑은 고딕"/>
                <a:ea typeface="맑은 고딕"/>
                <a:cs typeface="맑은 고딕"/>
              </a:rPr>
              <a:t>시스템 구성</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5</a:t>
            </a:r>
          </a:p>
        </p:txBody>
      </p:sp>
      <p:sp>
        <p:nvSpPr>
          <p:cNvPr id="5" name="카메라 시야"/>
          <p:cNvSpPr/>
          <p:nvPr/>
        </p:nvSpPr>
        <p:spPr>
          <a:xfrm>
            <a:off x="6035040" y="1417320"/>
            <a:ext cx="5486400" cy="4251960"/>
          </a:xfrm>
          <a:custGeom>
            <a:avLst/>
            <a:gdLst/>
            <a:ahLst/>
            <a:cxnLst/>
            <a:rect l="l" t="t" r="r" b="b"/>
            <a:pathLst>
              <a:path w="5486400" h="4251960">
                <a:moveTo>
                  <a:pt x="146304" y="713232"/>
                </a:moveTo>
                <a:lnTo>
                  <a:pt x="5486400" y="0"/>
                </a:lnTo>
                <a:lnTo>
                  <a:pt x="5486400" y="4251960"/>
                </a:lnTo>
                <a:lnTo>
                  <a:pt x="0" y="4251960"/>
                </a:lnTo>
                <a:lnTo>
                  <a:pt x="146304" y="859536"/>
                </a:lnTo>
                <a:close/>
              </a:path>
            </a:pathLst>
          </a:custGeom>
          <a:solidFill>
            <a:srgbClr val="E8742B">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640080" y="5669280"/>
            <a:ext cx="5394960" cy="0"/>
          </a:xfrm>
          <a:prstGeom prst="line">
            <a:avLst/>
          </a:prstGeom>
          <a:ln w="19050">
            <a:solidFill>
              <a:srgbClr val="D5DAE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035040" y="5669280"/>
            <a:ext cx="1234440" cy="182880"/>
          </a:xfrm>
          <a:prstGeom prst="rect">
            <a:avLst/>
          </a:prstGeom>
          <a:solidFill>
            <a:srgbClr val="D64541">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035040" y="5943600"/>
            <a:ext cx="1234440" cy="274320"/>
          </a:xfrm>
          <a:prstGeom prst="rect">
            <a:avLst/>
          </a:prstGeom>
          <a:noFill/>
        </p:spPr>
        <p:txBody>
          <a:bodyPr wrap="square" lIns="0" tIns="0" rIns="0" bIns="0" anchor="t">
            <a:spAutoFit/>
          </a:bodyPr>
          <a:lstStyle/>
          <a:p>
            <a:pPr algn="ctr">
              <a:lnSpc>
                <a:spcPct val="115000"/>
              </a:lnSpc>
              <a:spcAft>
                <a:spcPts val="0"/>
              </a:spcAft>
            </a:pPr>
            <a:r>
              <a:rPr lang="ko-KR" sz="1200" b="1">
                <a:solidFill>
                  <a:srgbClr val="D64541"/>
                </a:solidFill>
                <a:latin typeface="맑은 고딕"/>
                <a:ea typeface="맑은 고딕"/>
                <a:cs typeface="맑은 고딕"/>
              </a:rPr>
              <a:t>위험 · 50cm 이하</a:t>
            </a:r>
          </a:p>
        </p:txBody>
      </p:sp>
      <p:sp>
        <p:nvSpPr>
          <p:cNvPr id="9" name="Rectangle 8"/>
          <p:cNvSpPr/>
          <p:nvPr/>
        </p:nvSpPr>
        <p:spPr>
          <a:xfrm>
            <a:off x="7269480" y="5669280"/>
            <a:ext cx="2103120" cy="182880"/>
          </a:xfrm>
          <a:prstGeom prst="rect">
            <a:avLst/>
          </a:prstGeom>
          <a:solidFill>
            <a:srgbClr val="F2B705">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269480" y="5943600"/>
            <a:ext cx="2103120" cy="274320"/>
          </a:xfrm>
          <a:prstGeom prst="rect">
            <a:avLst/>
          </a:prstGeom>
          <a:noFill/>
        </p:spPr>
        <p:txBody>
          <a:bodyPr wrap="square" lIns="0" tIns="0" rIns="0" bIns="0" anchor="t">
            <a:spAutoFit/>
          </a:bodyPr>
          <a:lstStyle/>
          <a:p>
            <a:pPr algn="ctr">
              <a:lnSpc>
                <a:spcPct val="115000"/>
              </a:lnSpc>
              <a:spcAft>
                <a:spcPts val="0"/>
              </a:spcAft>
            </a:pPr>
            <a:r>
              <a:rPr lang="ko-KR" sz="1200" b="1">
                <a:solidFill>
                  <a:srgbClr val="B08200"/>
                </a:solidFill>
                <a:latin typeface="맑은 고딕"/>
                <a:ea typeface="맑은 고딕"/>
                <a:cs typeface="맑은 고딕"/>
              </a:rPr>
              <a:t>경고 · 200cm 이하</a:t>
            </a:r>
          </a:p>
        </p:txBody>
      </p:sp>
      <p:sp>
        <p:nvSpPr>
          <p:cNvPr id="11" name="Rectangle 10"/>
          <p:cNvSpPr/>
          <p:nvPr/>
        </p:nvSpPr>
        <p:spPr>
          <a:xfrm>
            <a:off x="9372600" y="5669280"/>
            <a:ext cx="2148839" cy="182880"/>
          </a:xfrm>
          <a:prstGeom prst="rect">
            <a:avLst/>
          </a:prstGeom>
          <a:solidFill>
            <a:srgbClr val="2E9E5B">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372600" y="5943600"/>
            <a:ext cx="2148839" cy="274320"/>
          </a:xfrm>
          <a:prstGeom prst="rect">
            <a:avLst/>
          </a:prstGeom>
          <a:noFill/>
        </p:spPr>
        <p:txBody>
          <a:bodyPr wrap="square" lIns="0" tIns="0" rIns="0" bIns="0" anchor="t">
            <a:spAutoFit/>
          </a:bodyPr>
          <a:lstStyle/>
          <a:p>
            <a:pPr algn="ctr">
              <a:lnSpc>
                <a:spcPct val="115000"/>
              </a:lnSpc>
              <a:spcAft>
                <a:spcPts val="0"/>
              </a:spcAft>
            </a:pPr>
            <a:r>
              <a:rPr lang="ko-KR" sz="1200" b="1">
                <a:solidFill>
                  <a:srgbClr val="2E9E5B"/>
                </a:solidFill>
                <a:latin typeface="맑은 고딕"/>
                <a:ea typeface="맑은 고딕"/>
                <a:cs typeface="맑은 고딕"/>
              </a:rPr>
              <a:t>정상</a:t>
            </a:r>
          </a:p>
        </p:txBody>
      </p:sp>
      <p:sp>
        <p:nvSpPr>
          <p:cNvPr id="13" name="Oval 12"/>
          <p:cNvSpPr/>
          <p:nvPr/>
        </p:nvSpPr>
        <p:spPr>
          <a:xfrm>
            <a:off x="594360" y="1371600"/>
            <a:ext cx="914400" cy="868680"/>
          </a:xfrm>
          <a:prstGeom prst="ellipse">
            <a:avLst/>
          </a:prstGeom>
          <a:solidFill>
            <a:srgbClr val="D6454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1005840" y="2788920"/>
            <a:ext cx="91440" cy="2880360"/>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777240" y="5532120"/>
            <a:ext cx="548640" cy="137160"/>
          </a:xfrm>
          <a:prstGeom prst="roundRect">
            <a:avLst>
              <a:gd name="adj" fmla="val 30000"/>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758952" y="1554480"/>
            <a:ext cx="585216" cy="1261872"/>
          </a:xfrm>
          <a:prstGeom prst="roundRect">
            <a:avLst>
              <a:gd name="adj" fmla="val 2000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877824" y="1627632"/>
            <a:ext cx="347472" cy="347472"/>
          </a:xfrm>
          <a:prstGeom prst="ellipse">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877824" y="2011680"/>
            <a:ext cx="347472" cy="347472"/>
          </a:xfrm>
          <a:prstGeom prst="ellipse">
            <a:avLst/>
          </a:prstGeom>
          <a:solidFill>
            <a:srgbClr val="F5E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877824" y="2395728"/>
            <a:ext cx="347472" cy="347472"/>
          </a:xfrm>
          <a:prstGeom prst="ellipse">
            <a:avLst/>
          </a:prstGeom>
          <a:solidFill>
            <a:srgbClr val="BFE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11480" y="3291840"/>
            <a:ext cx="548640" cy="274320"/>
          </a:xfrm>
          <a:prstGeom prst="rect">
            <a:avLst/>
          </a:prstGeom>
          <a:noFill/>
        </p:spPr>
        <p:txBody>
          <a:bodyPr wrap="square" lIns="0" tIns="0" rIns="0" bIns="0" anchor="t">
            <a:spAutoFit/>
          </a:bodyPr>
          <a:lstStyle/>
          <a:p>
            <a:pPr algn="r">
              <a:lnSpc>
                <a:spcPct val="115000"/>
              </a:lnSpc>
              <a:spcAft>
                <a:spcPts val="0"/>
              </a:spcAft>
            </a:pPr>
            <a:r>
              <a:rPr lang="ko-KR" sz="1100" b="0">
                <a:solidFill>
                  <a:srgbClr val="6B7480"/>
                </a:solidFill>
                <a:latin typeface="맑은 고딕"/>
                <a:ea typeface="맑은 고딕"/>
                <a:cs typeface="맑은 고딕"/>
              </a:rPr>
              <a:t>경고등</a:t>
            </a:r>
          </a:p>
        </p:txBody>
      </p:sp>
      <p:sp>
        <p:nvSpPr>
          <p:cNvPr id="21" name="Rounded Rectangle 20"/>
          <p:cNvSpPr/>
          <p:nvPr/>
        </p:nvSpPr>
        <p:spPr>
          <a:xfrm>
            <a:off x="2011680" y="1508760"/>
            <a:ext cx="1371600" cy="914400"/>
          </a:xfrm>
          <a:prstGeom prst="roundRect">
            <a:avLst>
              <a:gd name="adj" fmla="val 800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2084831" y="1581912"/>
            <a:ext cx="122529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2176272" y="1682496"/>
            <a:ext cx="182880" cy="182880"/>
          </a:xfrm>
          <a:prstGeom prst="ellipse">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2414016" y="1645920"/>
            <a:ext cx="868680" cy="256032"/>
          </a:xfrm>
          <a:prstGeom prst="rect">
            <a:avLst/>
          </a:prstGeom>
          <a:noFill/>
        </p:spPr>
        <p:txBody>
          <a:bodyPr wrap="square" lIns="0" tIns="0" rIns="0" bIns="0" anchor="t">
            <a:spAutoFit/>
          </a:bodyPr>
          <a:lstStyle/>
          <a:p>
            <a:pPr algn="l">
              <a:lnSpc>
                <a:spcPct val="115000"/>
              </a:lnSpc>
              <a:spcAft>
                <a:spcPts val="0"/>
              </a:spcAft>
            </a:pPr>
            <a:r>
              <a:rPr lang="ko-KR" sz="1000" b="1">
                <a:solidFill>
                  <a:srgbClr val="D64541"/>
                </a:solidFill>
                <a:latin typeface="맑은 고딕"/>
                <a:ea typeface="맑은 고딕"/>
                <a:cs typeface="맑은 고딕"/>
              </a:rPr>
              <a:t>위험 · 정지</a:t>
            </a:r>
          </a:p>
        </p:txBody>
      </p:sp>
      <p:sp>
        <p:nvSpPr>
          <p:cNvPr id="25" name="Rectangle 24"/>
          <p:cNvSpPr/>
          <p:nvPr/>
        </p:nvSpPr>
        <p:spPr>
          <a:xfrm>
            <a:off x="2176272" y="2011680"/>
            <a:ext cx="1024128" cy="54864"/>
          </a:xfrm>
          <a:prstGeom prst="rect">
            <a:avLst/>
          </a:prstGeom>
          <a:solidFill>
            <a:srgbClr val="D5D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2176272" y="2148840"/>
            <a:ext cx="1024128" cy="54864"/>
          </a:xfrm>
          <a:prstGeom prst="rect">
            <a:avLst/>
          </a:prstGeom>
          <a:solidFill>
            <a:srgbClr val="D5D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2606040" y="2423160"/>
            <a:ext cx="182880" cy="137160"/>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2423160" y="2560320"/>
            <a:ext cx="548640" cy="54864"/>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737360" y="2697480"/>
            <a:ext cx="1920240" cy="274320"/>
          </a:xfrm>
          <a:prstGeom prst="rect">
            <a:avLst/>
          </a:prstGeom>
          <a:noFill/>
        </p:spPr>
        <p:txBody>
          <a:bodyPr wrap="square" lIns="0" tIns="0" rIns="0" bIns="0" anchor="t">
            <a:spAutoFit/>
          </a:bodyPr>
          <a:lstStyle/>
          <a:p>
            <a:pPr algn="ctr">
              <a:lnSpc>
                <a:spcPct val="115000"/>
              </a:lnSpc>
              <a:spcAft>
                <a:spcPts val="0"/>
              </a:spcAft>
            </a:pPr>
            <a:r>
              <a:rPr lang="ko-KR" sz="1100" b="0">
                <a:solidFill>
                  <a:srgbClr val="6B7480"/>
                </a:solidFill>
                <a:latin typeface="맑은 고딕"/>
                <a:ea typeface="맑은 고딕"/>
                <a:cs typeface="맑은 고딕"/>
              </a:rPr>
              <a:t>대시보드 · DB 기록</a:t>
            </a:r>
          </a:p>
        </p:txBody>
      </p:sp>
      <p:sp>
        <p:nvSpPr>
          <p:cNvPr id="30" name="Rounded Rectangle 29"/>
          <p:cNvSpPr/>
          <p:nvPr/>
        </p:nvSpPr>
        <p:spPr>
          <a:xfrm>
            <a:off x="3657600" y="1600200"/>
            <a:ext cx="1417320" cy="685800"/>
          </a:xfrm>
          <a:prstGeom prst="roundRect">
            <a:avLst>
              <a:gd name="adj" fmla="val 1200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00000"/>
              </a:lnSpc>
            </a:pPr>
            <a:r>
              <a:rPr lang="ko-KR" sz="1300" b="1">
                <a:solidFill>
                  <a:srgbClr val="FFFFFF"/>
                </a:solidFill>
                <a:latin typeface="맑은 고딕"/>
                <a:ea typeface="맑은 고딕"/>
                <a:cs typeface="맑은 고딕"/>
              </a:rPr>
              <a:t>Jetson</a:t>
            </a:r>
          </a:p>
          <a:p>
            <a:pPr algn="ctr">
              <a:lnSpc>
                <a:spcPct val="100000"/>
              </a:lnSpc>
            </a:pPr>
            <a:r>
              <a:rPr lang="ko-KR" sz="1000" b="0">
                <a:solidFill>
                  <a:srgbClr val="C9D1DB"/>
                </a:solidFill>
                <a:latin typeface="맑은 고딕"/>
                <a:ea typeface="맑은 고딕"/>
                <a:cs typeface="맑은 고딕"/>
              </a:rPr>
              <a:t>Orin Nano</a:t>
            </a:r>
          </a:p>
        </p:txBody>
      </p:sp>
      <p:sp>
        <p:nvSpPr>
          <p:cNvPr id="31" name="Rectangle 30"/>
          <p:cNvSpPr/>
          <p:nvPr/>
        </p:nvSpPr>
        <p:spPr>
          <a:xfrm>
            <a:off x="2011680" y="4187952"/>
            <a:ext cx="109728" cy="1481328"/>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5394960" y="4187952"/>
            <a:ext cx="109728" cy="1481328"/>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ounded Rectangle 32"/>
          <p:cNvSpPr/>
          <p:nvPr/>
        </p:nvSpPr>
        <p:spPr>
          <a:xfrm>
            <a:off x="1645920" y="3840480"/>
            <a:ext cx="4206240" cy="347472"/>
          </a:xfrm>
          <a:prstGeom prst="roundRect">
            <a:avLst>
              <a:gd name="adj" fmla="val 50000"/>
            </a:avLst>
          </a:prstGeom>
          <a:solidFill>
            <a:srgbClr val="4A5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700784"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2487168"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3273552"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4059936"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4846320"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5632704" y="3895344"/>
            <a:ext cx="237744" cy="23774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2103120" y="3273552"/>
            <a:ext cx="566928" cy="566928"/>
          </a:xfrm>
          <a:prstGeom prst="ellipse">
            <a:avLst/>
          </a:prstGeom>
          <a:solidFill>
            <a:srgbClr val="B8C0C9"/>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2176272" y="3346704"/>
            <a:ext cx="420624" cy="420624"/>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2240279" y="3410712"/>
            <a:ext cx="292608" cy="292608"/>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Oval 42"/>
          <p:cNvSpPr/>
          <p:nvPr/>
        </p:nvSpPr>
        <p:spPr>
          <a:xfrm>
            <a:off x="2304288" y="3474720"/>
            <a:ext cx="164592" cy="164592"/>
          </a:xfrm>
          <a:prstGeom prst="ellipse">
            <a:avLst/>
          </a:prstGeom>
          <a:solidFill>
            <a:srgbClr val="FFFFFF"/>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3108960" y="3273552"/>
            <a:ext cx="566928" cy="566928"/>
          </a:xfrm>
          <a:prstGeom prst="ellipse">
            <a:avLst/>
          </a:prstGeom>
          <a:solidFill>
            <a:srgbClr val="B8C0C9"/>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3182112" y="3346704"/>
            <a:ext cx="420624" cy="420624"/>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3246120" y="3410712"/>
            <a:ext cx="292608" cy="292608"/>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3310128" y="3474720"/>
            <a:ext cx="164592" cy="164592"/>
          </a:xfrm>
          <a:prstGeom prst="ellipse">
            <a:avLst/>
          </a:prstGeom>
          <a:solidFill>
            <a:srgbClr val="FFFFFF"/>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Oval 47"/>
          <p:cNvSpPr/>
          <p:nvPr/>
        </p:nvSpPr>
        <p:spPr>
          <a:xfrm>
            <a:off x="4846320" y="3273552"/>
            <a:ext cx="566928" cy="566928"/>
          </a:xfrm>
          <a:prstGeom prst="ellipse">
            <a:avLst/>
          </a:prstGeom>
          <a:solidFill>
            <a:srgbClr val="B8C0C9"/>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Oval 48"/>
          <p:cNvSpPr/>
          <p:nvPr/>
        </p:nvSpPr>
        <p:spPr>
          <a:xfrm>
            <a:off x="4919472" y="3346704"/>
            <a:ext cx="420624" cy="420624"/>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Oval 49"/>
          <p:cNvSpPr/>
          <p:nvPr/>
        </p:nvSpPr>
        <p:spPr>
          <a:xfrm>
            <a:off x="4983480" y="3410712"/>
            <a:ext cx="292608" cy="292608"/>
          </a:xfrm>
          <a:prstGeom prst="ellipse">
            <a:avLst/>
          </a:prstGeom>
          <a:no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Oval 50"/>
          <p:cNvSpPr/>
          <p:nvPr/>
        </p:nvSpPr>
        <p:spPr>
          <a:xfrm>
            <a:off x="5047488" y="3474720"/>
            <a:ext cx="164592" cy="164592"/>
          </a:xfrm>
          <a:prstGeom prst="ellipse">
            <a:avLst/>
          </a:prstGeom>
          <a:solidFill>
            <a:srgbClr val="FFFFFF"/>
          </a:solidFill>
          <a:ln w="15875">
            <a:solidFill>
              <a:srgbClr val="7D87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ounded Rectangle 51"/>
          <p:cNvSpPr/>
          <p:nvPr/>
        </p:nvSpPr>
        <p:spPr>
          <a:xfrm>
            <a:off x="3017520" y="4434840"/>
            <a:ext cx="1463040" cy="411480"/>
          </a:xfrm>
          <a:prstGeom prst="roundRect">
            <a:avLst>
              <a:gd name="adj" fmla="val 30000"/>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10000"/>
              </a:lnSpc>
            </a:pPr>
            <a:r>
              <a:rPr lang="ko-KR" sz="1400" b="1">
                <a:solidFill>
                  <a:srgbClr val="FFFFFF"/>
                </a:solidFill>
                <a:latin typeface="맑은 고딕"/>
                <a:ea typeface="맑은 고딕"/>
                <a:cs typeface="맑은 고딕"/>
              </a:rPr>
              <a:t>벨트 정지</a:t>
            </a:r>
          </a:p>
        </p:txBody>
      </p:sp>
      <p:sp>
        <p:nvSpPr>
          <p:cNvPr id="53" name="TextBox 52"/>
          <p:cNvSpPr txBox="1"/>
          <p:nvPr/>
        </p:nvSpPr>
        <p:spPr>
          <a:xfrm>
            <a:off x="2194560" y="4983480"/>
            <a:ext cx="3108960" cy="274320"/>
          </a:xfrm>
          <a:prstGeom prst="rect">
            <a:avLst/>
          </a:prstGeom>
          <a:noFill/>
        </p:spPr>
        <p:txBody>
          <a:bodyPr wrap="square" lIns="0" tIns="0" rIns="0" bIns="0" anchor="t">
            <a:spAutoFit/>
          </a:bodyPr>
          <a:lstStyle/>
          <a:p>
            <a:pPr algn="ctr">
              <a:lnSpc>
                <a:spcPct val="115000"/>
              </a:lnSpc>
              <a:spcAft>
                <a:spcPts val="0"/>
              </a:spcAft>
            </a:pPr>
            <a:r>
              <a:rPr lang="ko-KR" sz="1100" b="0">
                <a:solidFill>
                  <a:srgbClr val="6B7480"/>
                </a:solidFill>
                <a:latin typeface="맑은 고딕"/>
                <a:ea typeface="맑은 고딕"/>
                <a:cs typeface="맑은 고딕"/>
              </a:rPr>
              <a:t>컨베이어 벨트 (L9110S · DC 모터)</a:t>
            </a:r>
          </a:p>
        </p:txBody>
      </p:sp>
      <p:sp>
        <p:nvSpPr>
          <p:cNvPr id="54" name="Rectangle 53"/>
          <p:cNvSpPr/>
          <p:nvPr/>
        </p:nvSpPr>
        <p:spPr>
          <a:xfrm>
            <a:off x="5623560" y="2395728"/>
            <a:ext cx="91440" cy="1444752"/>
          </a:xfrm>
          <a:prstGeom prst="rect">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Rounded Rectangle 54"/>
          <p:cNvSpPr/>
          <p:nvPr/>
        </p:nvSpPr>
        <p:spPr>
          <a:xfrm>
            <a:off x="5349240" y="2011680"/>
            <a:ext cx="658368" cy="384048"/>
          </a:xfrm>
          <a:prstGeom prst="roundRect">
            <a:avLst>
              <a:gd name="adj" fmla="val 2000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Oval 55"/>
          <p:cNvSpPr/>
          <p:nvPr/>
        </p:nvSpPr>
        <p:spPr>
          <a:xfrm>
            <a:off x="5870448" y="2048256"/>
            <a:ext cx="310896" cy="310896"/>
          </a:xfrm>
          <a:prstGeom prst="ellipse">
            <a:avLst/>
          </a:prstGeom>
          <a:solidFill>
            <a:srgbClr val="2B333D"/>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Oval 56"/>
          <p:cNvSpPr/>
          <p:nvPr/>
        </p:nvSpPr>
        <p:spPr>
          <a:xfrm>
            <a:off x="5971032" y="2103120"/>
            <a:ext cx="82296" cy="822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5120640" y="1645920"/>
            <a:ext cx="1188720" cy="274320"/>
          </a:xfrm>
          <a:prstGeom prst="rect">
            <a:avLst/>
          </a:prstGeom>
          <a:noFill/>
        </p:spPr>
        <p:txBody>
          <a:bodyPr wrap="square" lIns="0" tIns="0" rIns="0" bIns="0" anchor="t">
            <a:spAutoFit/>
          </a:bodyPr>
          <a:lstStyle/>
          <a:p>
            <a:pPr algn="ctr">
              <a:lnSpc>
                <a:spcPct val="115000"/>
              </a:lnSpc>
              <a:spcAft>
                <a:spcPts val="0"/>
              </a:spcAft>
            </a:pPr>
            <a:r>
              <a:rPr lang="ko-KR" sz="1100" b="0">
                <a:solidFill>
                  <a:srgbClr val="6B7480"/>
                </a:solidFill>
                <a:latin typeface="맑은 고딕"/>
                <a:ea typeface="맑은 고딕"/>
                <a:cs typeface="맑은 고딕"/>
              </a:rPr>
              <a:t>USB 웹캠</a:t>
            </a:r>
          </a:p>
        </p:txBody>
      </p:sp>
      <p:cxnSp>
        <p:nvCxnSpPr>
          <p:cNvPr id="59" name="Connector 58"/>
          <p:cNvCxnSpPr/>
          <p:nvPr/>
        </p:nvCxnSpPr>
        <p:spPr>
          <a:xfrm>
            <a:off x="5074920" y="2103120"/>
            <a:ext cx="274320" cy="0"/>
          </a:xfrm>
          <a:prstGeom prst="line">
            <a:avLst/>
          </a:prstGeom>
          <a:ln w="19050">
            <a:solidFill>
              <a:srgbClr val="8A939E"/>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383280" y="1938528"/>
            <a:ext cx="274320" cy="0"/>
          </a:xfrm>
          <a:prstGeom prst="line">
            <a:avLst/>
          </a:prstGeom>
          <a:ln w="19050">
            <a:solidFill>
              <a:srgbClr val="8A939E"/>
            </a:solidFill>
            <a:prstDash val="dash"/>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4297680" y="2286000"/>
            <a:ext cx="0" cy="1554480"/>
          </a:xfrm>
          <a:prstGeom prst="line">
            <a:avLst/>
          </a:prstGeom>
          <a:ln w="19050">
            <a:solidFill>
              <a:srgbClr val="8A939E"/>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97280" y="3017520"/>
            <a:ext cx="3200400" cy="0"/>
          </a:xfrm>
          <a:prstGeom prst="line">
            <a:avLst/>
          </a:prstGeom>
          <a:ln w="19050">
            <a:solidFill>
              <a:srgbClr val="8A939E"/>
            </a:solidFill>
            <a:prstDash val="dash"/>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10184130" y="4640580"/>
            <a:ext cx="205740" cy="937259"/>
          </a:xfrm>
          <a:prstGeom prst="roundRect">
            <a:avLst>
              <a:gd name="adj" fmla="val 40000"/>
            </a:avLst>
          </a:prstGeom>
          <a:solidFill>
            <a:srgbClr val="CC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Rounded Rectangle 63"/>
          <p:cNvSpPr/>
          <p:nvPr/>
        </p:nvSpPr>
        <p:spPr>
          <a:xfrm>
            <a:off x="10458450" y="4640580"/>
            <a:ext cx="205740" cy="937259"/>
          </a:xfrm>
          <a:prstGeom prst="roundRect">
            <a:avLst>
              <a:gd name="adj" fmla="val 40000"/>
            </a:avLst>
          </a:prstGeom>
          <a:solidFill>
            <a:srgbClr val="CC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Oval 64"/>
          <p:cNvSpPr/>
          <p:nvPr/>
        </p:nvSpPr>
        <p:spPr>
          <a:xfrm>
            <a:off x="10126980" y="5554980"/>
            <a:ext cx="285750" cy="114300"/>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Oval 65"/>
          <p:cNvSpPr/>
          <p:nvPr/>
        </p:nvSpPr>
        <p:spPr>
          <a:xfrm>
            <a:off x="10435590" y="5554980"/>
            <a:ext cx="285750" cy="114300"/>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Rounded Rectangle 66"/>
          <p:cNvSpPr/>
          <p:nvPr/>
        </p:nvSpPr>
        <p:spPr>
          <a:xfrm>
            <a:off x="10001250" y="3943350"/>
            <a:ext cx="160020" cy="754380"/>
          </a:xfrm>
          <a:prstGeom prst="roundRect">
            <a:avLst>
              <a:gd name="adj" fmla="val 50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Rounded Rectangle 67"/>
          <p:cNvSpPr/>
          <p:nvPr/>
        </p:nvSpPr>
        <p:spPr>
          <a:xfrm>
            <a:off x="10687050" y="3943350"/>
            <a:ext cx="160020" cy="754380"/>
          </a:xfrm>
          <a:prstGeom prst="roundRect">
            <a:avLst>
              <a:gd name="adj" fmla="val 50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Rounded Rectangle 68"/>
          <p:cNvSpPr/>
          <p:nvPr/>
        </p:nvSpPr>
        <p:spPr>
          <a:xfrm>
            <a:off x="10126980" y="3886200"/>
            <a:ext cx="594360" cy="845820"/>
          </a:xfrm>
          <a:prstGeom prst="roundRect">
            <a:avLst>
              <a:gd name="adj" fmla="val 25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Oval 69"/>
          <p:cNvSpPr/>
          <p:nvPr/>
        </p:nvSpPr>
        <p:spPr>
          <a:xfrm>
            <a:off x="10195560" y="3383280"/>
            <a:ext cx="457200" cy="297180"/>
          </a:xfrm>
          <a:prstGeom prst="ellipse">
            <a:avLst/>
          </a:prstGeom>
          <a:solidFill>
            <a:srgbClr val="F6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Oval 70"/>
          <p:cNvSpPr/>
          <p:nvPr/>
        </p:nvSpPr>
        <p:spPr>
          <a:xfrm>
            <a:off x="10229850" y="3486150"/>
            <a:ext cx="388620" cy="400050"/>
          </a:xfrm>
          <a:prstGeom prst="ellipse">
            <a:avLst/>
          </a:prstGeom>
          <a:solidFill>
            <a:srgbClr val="F7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Rounded Rectangle 71"/>
          <p:cNvSpPr/>
          <p:nvPr/>
        </p:nvSpPr>
        <p:spPr>
          <a:xfrm>
            <a:off x="10149840" y="3497580"/>
            <a:ext cx="548640" cy="57150"/>
          </a:xfrm>
          <a:prstGeom prst="roundRect">
            <a:avLst>
              <a:gd name="adj" fmla="val 50000"/>
            </a:avLst>
          </a:prstGeom>
          <a:solidFill>
            <a:srgbClr val="F6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Oval 72"/>
          <p:cNvSpPr/>
          <p:nvPr/>
        </p:nvSpPr>
        <p:spPr>
          <a:xfrm>
            <a:off x="10309860" y="3657600"/>
            <a:ext cx="50292" cy="50292"/>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Oval 73"/>
          <p:cNvSpPr/>
          <p:nvPr/>
        </p:nvSpPr>
        <p:spPr>
          <a:xfrm>
            <a:off x="10488168" y="3657600"/>
            <a:ext cx="50292" cy="50292"/>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Rounded Rectangle 74"/>
          <p:cNvSpPr/>
          <p:nvPr/>
        </p:nvSpPr>
        <p:spPr>
          <a:xfrm>
            <a:off x="8081010" y="4640580"/>
            <a:ext cx="205740" cy="937259"/>
          </a:xfrm>
          <a:prstGeom prst="roundRect">
            <a:avLst>
              <a:gd name="adj" fmla="val 40000"/>
            </a:avLst>
          </a:prstGeom>
          <a:solidFill>
            <a:srgbClr val="CC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Rounded Rectangle 75"/>
          <p:cNvSpPr/>
          <p:nvPr/>
        </p:nvSpPr>
        <p:spPr>
          <a:xfrm>
            <a:off x="8355329" y="4640580"/>
            <a:ext cx="205740" cy="937259"/>
          </a:xfrm>
          <a:prstGeom prst="roundRect">
            <a:avLst>
              <a:gd name="adj" fmla="val 40000"/>
            </a:avLst>
          </a:prstGeom>
          <a:solidFill>
            <a:srgbClr val="CC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Oval 76"/>
          <p:cNvSpPr/>
          <p:nvPr/>
        </p:nvSpPr>
        <p:spPr>
          <a:xfrm>
            <a:off x="8023860" y="5554980"/>
            <a:ext cx="285750" cy="114300"/>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Oval 77"/>
          <p:cNvSpPr/>
          <p:nvPr/>
        </p:nvSpPr>
        <p:spPr>
          <a:xfrm>
            <a:off x="8332469" y="5554980"/>
            <a:ext cx="285750" cy="114300"/>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Rounded Rectangle 78"/>
          <p:cNvSpPr/>
          <p:nvPr/>
        </p:nvSpPr>
        <p:spPr>
          <a:xfrm>
            <a:off x="7898129" y="3943350"/>
            <a:ext cx="160020" cy="754380"/>
          </a:xfrm>
          <a:prstGeom prst="roundRect">
            <a:avLst>
              <a:gd name="adj" fmla="val 50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Rounded Rectangle 79"/>
          <p:cNvSpPr/>
          <p:nvPr/>
        </p:nvSpPr>
        <p:spPr>
          <a:xfrm>
            <a:off x="8583930" y="3943350"/>
            <a:ext cx="160020" cy="754380"/>
          </a:xfrm>
          <a:prstGeom prst="roundRect">
            <a:avLst>
              <a:gd name="adj" fmla="val 50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Rounded Rectangle 80"/>
          <p:cNvSpPr/>
          <p:nvPr/>
        </p:nvSpPr>
        <p:spPr>
          <a:xfrm>
            <a:off x="8023860" y="3886200"/>
            <a:ext cx="594360" cy="845820"/>
          </a:xfrm>
          <a:prstGeom prst="roundRect">
            <a:avLst>
              <a:gd name="adj" fmla="val 25000"/>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Oval 81"/>
          <p:cNvSpPr/>
          <p:nvPr/>
        </p:nvSpPr>
        <p:spPr>
          <a:xfrm>
            <a:off x="8092440" y="3383280"/>
            <a:ext cx="457200" cy="297180"/>
          </a:xfrm>
          <a:prstGeom prst="ellipse">
            <a:avLst/>
          </a:prstGeom>
          <a:solidFill>
            <a:srgbClr val="F6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Oval 82"/>
          <p:cNvSpPr/>
          <p:nvPr/>
        </p:nvSpPr>
        <p:spPr>
          <a:xfrm>
            <a:off x="8126729" y="3486150"/>
            <a:ext cx="388620" cy="400050"/>
          </a:xfrm>
          <a:prstGeom prst="ellipse">
            <a:avLst/>
          </a:prstGeom>
          <a:solidFill>
            <a:srgbClr val="F7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Rounded Rectangle 83"/>
          <p:cNvSpPr/>
          <p:nvPr/>
        </p:nvSpPr>
        <p:spPr>
          <a:xfrm>
            <a:off x="8046719" y="3497580"/>
            <a:ext cx="548640" cy="57150"/>
          </a:xfrm>
          <a:prstGeom prst="roundRect">
            <a:avLst>
              <a:gd name="adj" fmla="val 50000"/>
            </a:avLst>
          </a:prstGeom>
          <a:solidFill>
            <a:srgbClr val="F6D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Oval 84"/>
          <p:cNvSpPr/>
          <p:nvPr/>
        </p:nvSpPr>
        <p:spPr>
          <a:xfrm>
            <a:off x="8206740" y="3657600"/>
            <a:ext cx="50292" cy="50292"/>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Oval 85"/>
          <p:cNvSpPr/>
          <p:nvPr/>
        </p:nvSpPr>
        <p:spPr>
          <a:xfrm>
            <a:off x="8385048" y="3657600"/>
            <a:ext cx="50292" cy="50292"/>
          </a:xfrm>
          <a:prstGeom prst="ellipse">
            <a:avLst/>
          </a:prstGeom>
          <a:solidFill>
            <a:srgbClr val="B8B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87" name="Connector 86"/>
          <p:cNvCxnSpPr/>
          <p:nvPr/>
        </p:nvCxnSpPr>
        <p:spPr>
          <a:xfrm flipH="1">
            <a:off x="7863840" y="2926080"/>
            <a:ext cx="2194560" cy="0"/>
          </a:xfrm>
          <a:prstGeom prst="line">
            <a:avLst/>
          </a:prstGeom>
          <a:ln w="2222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8412480" y="2578608"/>
            <a:ext cx="1097280" cy="274320"/>
          </a:xfrm>
          <a:prstGeom prst="rect">
            <a:avLst/>
          </a:prstGeom>
          <a:noFill/>
        </p:spPr>
        <p:txBody>
          <a:bodyPr wrap="square" lIns="0" tIns="0" rIns="0" bIns="0" anchor="t">
            <a:spAutoFit/>
          </a:bodyPr>
          <a:lstStyle/>
          <a:p>
            <a:pPr algn="ctr">
              <a:lnSpc>
                <a:spcPct val="115000"/>
              </a:lnSpc>
              <a:spcAft>
                <a:spcPts val="0"/>
              </a:spcAft>
            </a:pPr>
            <a:r>
              <a:rPr lang="ko-KR" sz="1200" b="0">
                <a:solidFill>
                  <a:srgbClr val="6B7480"/>
                </a:solidFill>
                <a:latin typeface="맑은 고딕"/>
                <a:ea typeface="맑은 고딕"/>
                <a:cs typeface="맑은 고딕"/>
              </a:rPr>
              <a:t>다가옴</a:t>
            </a:r>
          </a:p>
        </p:txBody>
      </p:sp>
      <p:sp>
        <p:nvSpPr>
          <p:cNvPr id="89" name="Rounded Rectangle 88"/>
          <p:cNvSpPr/>
          <p:nvPr/>
        </p:nvSpPr>
        <p:spPr>
          <a:xfrm>
            <a:off x="6435090" y="4640580"/>
            <a:ext cx="205740" cy="937259"/>
          </a:xfrm>
          <a:prstGeom prst="roundRect">
            <a:avLst>
              <a:gd name="adj" fmla="val 40000"/>
            </a:avLst>
          </a:prstGeom>
          <a:solidFill>
            <a:srgbClr val="3B4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Rounded Rectangle 89"/>
          <p:cNvSpPr/>
          <p:nvPr/>
        </p:nvSpPr>
        <p:spPr>
          <a:xfrm>
            <a:off x="6709409" y="4640580"/>
            <a:ext cx="205740" cy="937259"/>
          </a:xfrm>
          <a:prstGeom prst="roundRect">
            <a:avLst>
              <a:gd name="adj" fmla="val 40000"/>
            </a:avLst>
          </a:prstGeom>
          <a:solidFill>
            <a:srgbClr val="3B4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Oval 90"/>
          <p:cNvSpPr/>
          <p:nvPr/>
        </p:nvSpPr>
        <p:spPr>
          <a:xfrm>
            <a:off x="6377940" y="5554980"/>
            <a:ext cx="285750" cy="11430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Oval 91"/>
          <p:cNvSpPr/>
          <p:nvPr/>
        </p:nvSpPr>
        <p:spPr>
          <a:xfrm>
            <a:off x="6686550" y="5554980"/>
            <a:ext cx="285750" cy="11430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Rounded Rectangle 92"/>
          <p:cNvSpPr/>
          <p:nvPr/>
        </p:nvSpPr>
        <p:spPr>
          <a:xfrm>
            <a:off x="6252209" y="3943350"/>
            <a:ext cx="160020" cy="754380"/>
          </a:xfrm>
          <a:prstGeom prst="roundRect">
            <a:avLst>
              <a:gd name="adj" fmla="val 50000"/>
            </a:avLst>
          </a:prstGeom>
          <a:solidFill>
            <a:srgbClr val="5A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Rounded Rectangle 93"/>
          <p:cNvSpPr/>
          <p:nvPr/>
        </p:nvSpPr>
        <p:spPr>
          <a:xfrm>
            <a:off x="6938009" y="3943350"/>
            <a:ext cx="160020" cy="754380"/>
          </a:xfrm>
          <a:prstGeom prst="roundRect">
            <a:avLst>
              <a:gd name="adj" fmla="val 50000"/>
            </a:avLst>
          </a:prstGeom>
          <a:solidFill>
            <a:srgbClr val="5A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Rounded Rectangle 94"/>
          <p:cNvSpPr/>
          <p:nvPr/>
        </p:nvSpPr>
        <p:spPr>
          <a:xfrm>
            <a:off x="6377940" y="3886200"/>
            <a:ext cx="594360" cy="845820"/>
          </a:xfrm>
          <a:prstGeom prst="roundRect">
            <a:avLst>
              <a:gd name="adj" fmla="val 25000"/>
            </a:avLst>
          </a:prstGeom>
          <a:solidFill>
            <a:srgbClr val="5A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Oval 95"/>
          <p:cNvSpPr/>
          <p:nvPr/>
        </p:nvSpPr>
        <p:spPr>
          <a:xfrm>
            <a:off x="6446520" y="3383280"/>
            <a:ext cx="457200" cy="29718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Oval 96"/>
          <p:cNvSpPr/>
          <p:nvPr/>
        </p:nvSpPr>
        <p:spPr>
          <a:xfrm>
            <a:off x="6480809" y="3486150"/>
            <a:ext cx="388620" cy="400050"/>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Rounded Rectangle 97"/>
          <p:cNvSpPr/>
          <p:nvPr/>
        </p:nvSpPr>
        <p:spPr>
          <a:xfrm>
            <a:off x="6400800" y="3497580"/>
            <a:ext cx="548640" cy="57150"/>
          </a:xfrm>
          <a:prstGeom prst="roundRect">
            <a:avLst>
              <a:gd name="adj" fmla="val 50000"/>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Oval 98"/>
          <p:cNvSpPr/>
          <p:nvPr/>
        </p:nvSpPr>
        <p:spPr>
          <a:xfrm>
            <a:off x="6560820" y="3657600"/>
            <a:ext cx="50292" cy="50292"/>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Oval 99"/>
          <p:cNvSpPr/>
          <p:nvPr/>
        </p:nvSpPr>
        <p:spPr>
          <a:xfrm>
            <a:off x="6739128" y="3657600"/>
            <a:ext cx="50292" cy="50292"/>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Rectangle 100"/>
          <p:cNvSpPr/>
          <p:nvPr/>
        </p:nvSpPr>
        <p:spPr>
          <a:xfrm>
            <a:off x="6423659" y="3463290"/>
            <a:ext cx="502920" cy="457200"/>
          </a:xfrm>
          <a:prstGeom prst="rect">
            <a:avLst/>
          </a:prstGeom>
          <a:noFill/>
          <a:ln w="25400">
            <a:solidFill>
              <a:srgbClr val="E874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Rectangle 101"/>
          <p:cNvSpPr/>
          <p:nvPr/>
        </p:nvSpPr>
        <p:spPr>
          <a:xfrm>
            <a:off x="6423659" y="3154680"/>
            <a:ext cx="960120" cy="237744"/>
          </a:xfrm>
          <a:prstGeom prst="rect">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000" b="1">
                <a:solidFill>
                  <a:srgbClr val="FFFFFF"/>
                </a:solidFill>
                <a:latin typeface="맑은 고딕"/>
                <a:ea typeface="맑은 고딕"/>
                <a:cs typeface="맑은 고딕"/>
              </a:rPr>
              <a:t>얼굴 검출</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fade">
                                      <p:cBhvr>
                                        <p:cTn id="21" dur="500"/>
                                        <p:tgtEl>
                                          <p:spTgt spid="5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500"/>
                                        <p:tgtEl>
                                          <p:spTgt spid="2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23" grpId="0" animBg="1"/>
      <p:bldP spid="24" grpId="0"/>
      <p:bldP spid="52" grpId="0" animBg="1"/>
      <p:bldP spid="101" grpId="0" animBg="1"/>
      <p:bldP spid="10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04  </a:t>
            </a:r>
            <a:r>
              <a:rPr lang="ko-KR" sz="3000" b="1">
                <a:solidFill>
                  <a:srgbClr val="1F2D3D"/>
                </a:solidFill>
                <a:latin typeface="맑은 고딕"/>
                <a:ea typeface="맑은 고딕"/>
                <a:cs typeface="맑은 고딕"/>
              </a:rPr>
              <a:t>모델 선택과 검증</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6</a:t>
            </a:r>
          </a:p>
        </p:txBody>
      </p:sp>
      <p:sp>
        <p:nvSpPr>
          <p:cNvPr id="5" name="TextBox 4"/>
          <p:cNvSpPr txBox="1"/>
          <p:nvPr/>
        </p:nvSpPr>
        <p:spPr>
          <a:xfrm>
            <a:off x="731520" y="1463040"/>
            <a:ext cx="566928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YuNet을 고른 이유</a:t>
            </a:r>
          </a:p>
        </p:txBody>
      </p:sp>
      <p:sp>
        <p:nvSpPr>
          <p:cNvPr id="6" name="Oval 5"/>
          <p:cNvSpPr/>
          <p:nvPr/>
        </p:nvSpPr>
        <p:spPr>
          <a:xfrm>
            <a:off x="731520" y="2057400"/>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1</a:t>
            </a:r>
          </a:p>
        </p:txBody>
      </p:sp>
      <p:sp>
        <p:nvSpPr>
          <p:cNvPr id="7" name="TextBox 6"/>
          <p:cNvSpPr txBox="1"/>
          <p:nvPr/>
        </p:nvSpPr>
        <p:spPr>
          <a:xfrm>
            <a:off x="1508760" y="2011680"/>
            <a:ext cx="475488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가볍다</a:t>
            </a:r>
          </a:p>
        </p:txBody>
      </p:sp>
      <p:sp>
        <p:nvSpPr>
          <p:cNvPr id="8" name="TextBox 7"/>
          <p:cNvSpPr txBox="1"/>
          <p:nvPr/>
        </p:nvSpPr>
        <p:spPr>
          <a:xfrm>
            <a:off x="1508760" y="2395728"/>
            <a:ext cx="4754880" cy="73152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모델 파일이 약 227KB, Jetson CPU에서도 실시간으로 돈다</a:t>
            </a:r>
          </a:p>
        </p:txBody>
      </p:sp>
      <p:sp>
        <p:nvSpPr>
          <p:cNvPr id="9" name="Oval 8"/>
          <p:cNvSpPr/>
          <p:nvPr/>
        </p:nvSpPr>
        <p:spPr>
          <a:xfrm>
            <a:off x="731520" y="3383280"/>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2</a:t>
            </a:r>
          </a:p>
        </p:txBody>
      </p:sp>
      <p:sp>
        <p:nvSpPr>
          <p:cNvPr id="10" name="TextBox 9"/>
          <p:cNvSpPr txBox="1"/>
          <p:nvPr/>
        </p:nvSpPr>
        <p:spPr>
          <a:xfrm>
            <a:off x="1508760" y="3337560"/>
            <a:ext cx="475488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바로 쓸 수 있다</a:t>
            </a:r>
          </a:p>
        </p:txBody>
      </p:sp>
      <p:sp>
        <p:nvSpPr>
          <p:cNvPr id="11" name="TextBox 10"/>
          <p:cNvSpPr txBox="1"/>
          <p:nvPr/>
        </p:nvSpPr>
        <p:spPr>
          <a:xfrm>
            <a:off x="1508760" y="3721608"/>
            <a:ext cx="4754880" cy="73152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OpenCV에 들어 있는 사전학습 모델이라 학습 데이터 없이 시작할 수 있다</a:t>
            </a:r>
          </a:p>
        </p:txBody>
      </p:sp>
      <p:sp>
        <p:nvSpPr>
          <p:cNvPr id="12" name="Oval 11"/>
          <p:cNvSpPr/>
          <p:nvPr/>
        </p:nvSpPr>
        <p:spPr>
          <a:xfrm>
            <a:off x="731520" y="4709159"/>
            <a:ext cx="548640" cy="548640"/>
          </a:xfrm>
          <a:prstGeom prst="ellipse">
            <a:avLst/>
          </a:prstGeom>
          <a:solidFill>
            <a:srgbClr val="E8742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800" b="1">
                <a:solidFill>
                  <a:srgbClr val="FFFFFF"/>
                </a:solidFill>
                <a:latin typeface="맑은 고딕"/>
                <a:ea typeface="맑은 고딕"/>
                <a:cs typeface="맑은 고딕"/>
              </a:rPr>
              <a:t>3</a:t>
            </a:r>
          </a:p>
        </p:txBody>
      </p:sp>
      <p:sp>
        <p:nvSpPr>
          <p:cNvPr id="13" name="TextBox 12"/>
          <p:cNvSpPr txBox="1"/>
          <p:nvPr/>
        </p:nvSpPr>
        <p:spPr>
          <a:xfrm>
            <a:off x="1508760" y="4663440"/>
            <a:ext cx="475488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거리 추정에 맞다</a:t>
            </a:r>
          </a:p>
        </p:txBody>
      </p:sp>
      <p:sp>
        <p:nvSpPr>
          <p:cNvPr id="14" name="TextBox 13"/>
          <p:cNvSpPr txBox="1"/>
          <p:nvPr/>
        </p:nvSpPr>
        <p:spPr>
          <a:xfrm>
            <a:off x="1508760" y="5047488"/>
            <a:ext cx="4754880" cy="731520"/>
          </a:xfrm>
          <a:prstGeom prst="rect">
            <a:avLst/>
          </a:prstGeom>
          <a:noFill/>
        </p:spPr>
        <p:txBody>
          <a:bodyPr wrap="square" lIns="0" tIns="0" rIns="0" bIns="0" anchor="t">
            <a:spAutoFit/>
          </a:bodyPr>
          <a:lstStyle/>
          <a:p>
            <a:pPr algn="l">
              <a:lnSpc>
                <a:spcPct val="115000"/>
              </a:lnSpc>
              <a:spcAft>
                <a:spcPts val="0"/>
              </a:spcAft>
            </a:pPr>
            <a:r>
              <a:rPr lang="ko-KR" sz="1400" b="0">
                <a:solidFill>
                  <a:srgbClr val="2B333D"/>
                </a:solidFill>
                <a:latin typeface="맑은 고딕"/>
                <a:ea typeface="맑은 고딕"/>
                <a:cs typeface="맑은 고딕"/>
              </a:rPr>
              <a:t>얼굴 상자 크기로 거리를 바로 계산할 수 있다</a:t>
            </a:r>
          </a:p>
        </p:txBody>
      </p:sp>
      <p:sp>
        <p:nvSpPr>
          <p:cNvPr id="15" name="TextBox 14"/>
          <p:cNvSpPr txBox="1"/>
          <p:nvPr/>
        </p:nvSpPr>
        <p:spPr>
          <a:xfrm>
            <a:off x="6949440" y="1463040"/>
            <a:ext cx="457200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검증</a:t>
            </a:r>
          </a:p>
        </p:txBody>
      </p:sp>
      <p:sp>
        <p:nvSpPr>
          <p:cNvPr id="16" name="Rounded Rectangle 15"/>
          <p:cNvSpPr/>
          <p:nvPr/>
        </p:nvSpPr>
        <p:spPr>
          <a:xfrm>
            <a:off x="6949440" y="1920240"/>
            <a:ext cx="4526280" cy="109728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178040" y="1920240"/>
            <a:ext cx="2194560" cy="1097280"/>
          </a:xfrm>
          <a:prstGeom prst="rect">
            <a:avLst/>
          </a:prstGeom>
          <a:noFill/>
        </p:spPr>
        <p:txBody>
          <a:bodyPr wrap="square" lIns="0" tIns="0" rIns="0" bIns="0" anchor="ctr">
            <a:spAutoFit/>
          </a:bodyPr>
          <a:lstStyle/>
          <a:p>
            <a:pPr algn="l">
              <a:lnSpc>
                <a:spcPct val="115000"/>
              </a:lnSpc>
              <a:spcAft>
                <a:spcPts val="0"/>
              </a:spcAft>
            </a:pPr>
            <a:r>
              <a:rPr lang="ko-KR" sz="2800" b="1">
                <a:solidFill>
                  <a:srgbClr val="E8742B"/>
                </a:solidFill>
                <a:latin typeface="맑은 고딕"/>
                <a:ea typeface="맑은 고딕"/>
                <a:cs typeface="맑은 고딕"/>
              </a:rPr>
              <a:t>0.834</a:t>
            </a:r>
          </a:p>
        </p:txBody>
      </p:sp>
      <p:sp>
        <p:nvSpPr>
          <p:cNvPr id="18" name="TextBox 17"/>
          <p:cNvSpPr txBox="1"/>
          <p:nvPr/>
        </p:nvSpPr>
        <p:spPr>
          <a:xfrm>
            <a:off x="9326880" y="1920240"/>
            <a:ext cx="2057400" cy="1097280"/>
          </a:xfrm>
          <a:prstGeom prst="rect">
            <a:avLst/>
          </a:prstGeom>
          <a:noFill/>
        </p:spPr>
        <p:txBody>
          <a:bodyPr wrap="square" lIns="0" tIns="0" rIns="0" bIns="0" anchor="ctr">
            <a:spAutoFit/>
          </a:bodyPr>
          <a:lstStyle/>
          <a:p>
            <a:pPr algn="l">
              <a:lnSpc>
                <a:spcPct val="115000"/>
              </a:lnSpc>
              <a:spcAft>
                <a:spcPts val="0"/>
              </a:spcAft>
            </a:pPr>
            <a:r>
              <a:rPr lang="ko-KR" sz="1300" b="0">
                <a:solidFill>
                  <a:srgbClr val="2B333D"/>
                </a:solidFill>
                <a:latin typeface="맑은 고딕"/>
                <a:ea typeface="맑은 고딕"/>
                <a:cs typeface="맑은 고딕"/>
              </a:rPr>
              <a:t>공개 검증 AP (WIDER Face, easy)</a:t>
            </a:r>
          </a:p>
        </p:txBody>
      </p:sp>
      <p:sp>
        <p:nvSpPr>
          <p:cNvPr id="19" name="Rounded Rectangle 18"/>
          <p:cNvSpPr/>
          <p:nvPr/>
        </p:nvSpPr>
        <p:spPr>
          <a:xfrm>
            <a:off x="6949440" y="3200400"/>
            <a:ext cx="4526280" cy="109728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178040" y="3200400"/>
            <a:ext cx="2194560" cy="1097280"/>
          </a:xfrm>
          <a:prstGeom prst="rect">
            <a:avLst/>
          </a:prstGeom>
          <a:noFill/>
        </p:spPr>
        <p:txBody>
          <a:bodyPr wrap="square" lIns="0" tIns="0" rIns="0" bIns="0" anchor="ctr">
            <a:spAutoFit/>
          </a:bodyPr>
          <a:lstStyle/>
          <a:p>
            <a:pPr algn="l">
              <a:lnSpc>
                <a:spcPct val="115000"/>
              </a:lnSpc>
              <a:spcAft>
                <a:spcPts val="0"/>
              </a:spcAft>
            </a:pPr>
            <a:r>
              <a:rPr lang="ko-KR" sz="2800" b="1">
                <a:solidFill>
                  <a:srgbClr val="E8742B"/>
                </a:solidFill>
                <a:latin typeface="맑은 고딕"/>
                <a:ea typeface="맑은 고딕"/>
                <a:cs typeface="맑은 고딕"/>
              </a:rPr>
              <a:t>36~37 FPS</a:t>
            </a:r>
          </a:p>
        </p:txBody>
      </p:sp>
      <p:sp>
        <p:nvSpPr>
          <p:cNvPr id="21" name="TextBox 20"/>
          <p:cNvSpPr txBox="1"/>
          <p:nvPr/>
        </p:nvSpPr>
        <p:spPr>
          <a:xfrm>
            <a:off x="9326880" y="3200400"/>
            <a:ext cx="2057400" cy="1097280"/>
          </a:xfrm>
          <a:prstGeom prst="rect">
            <a:avLst/>
          </a:prstGeom>
          <a:noFill/>
        </p:spPr>
        <p:txBody>
          <a:bodyPr wrap="square" lIns="0" tIns="0" rIns="0" bIns="0" anchor="ctr">
            <a:spAutoFit/>
          </a:bodyPr>
          <a:lstStyle/>
          <a:p>
            <a:pPr algn="l">
              <a:lnSpc>
                <a:spcPct val="115000"/>
              </a:lnSpc>
              <a:spcAft>
                <a:spcPts val="0"/>
              </a:spcAft>
            </a:pPr>
            <a:r>
              <a:rPr lang="ko-KR" sz="1300" b="0">
                <a:solidFill>
                  <a:srgbClr val="2B333D"/>
                </a:solidFill>
                <a:latin typeface="맑은 고딕"/>
                <a:ea typeface="맑은 고딕"/>
                <a:cs typeface="맑은 고딕"/>
              </a:rPr>
              <a:t>Jetson에서 모델만 실행</a:t>
            </a:r>
          </a:p>
        </p:txBody>
      </p:sp>
      <p:sp>
        <p:nvSpPr>
          <p:cNvPr id="22" name="Rounded Rectangle 21"/>
          <p:cNvSpPr/>
          <p:nvPr/>
        </p:nvSpPr>
        <p:spPr>
          <a:xfrm>
            <a:off x="6949440" y="4480560"/>
            <a:ext cx="4526280" cy="109728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178040" y="4480560"/>
            <a:ext cx="2194560" cy="1097280"/>
          </a:xfrm>
          <a:prstGeom prst="rect">
            <a:avLst/>
          </a:prstGeom>
          <a:noFill/>
        </p:spPr>
        <p:txBody>
          <a:bodyPr wrap="square" lIns="0" tIns="0" rIns="0" bIns="0" anchor="ctr">
            <a:spAutoFit/>
          </a:bodyPr>
          <a:lstStyle/>
          <a:p>
            <a:pPr algn="l">
              <a:lnSpc>
                <a:spcPct val="115000"/>
              </a:lnSpc>
              <a:spcAft>
                <a:spcPts val="0"/>
              </a:spcAft>
            </a:pPr>
            <a:r>
              <a:rPr lang="ko-KR" sz="2800" b="1">
                <a:solidFill>
                  <a:srgbClr val="E8742B"/>
                </a:solidFill>
                <a:latin typeface="맑은 고딕"/>
                <a:ea typeface="맑은 고딕"/>
                <a:cs typeface="맑은 고딕"/>
              </a:rPr>
              <a:t>22.1 FPS</a:t>
            </a:r>
          </a:p>
        </p:txBody>
      </p:sp>
      <p:sp>
        <p:nvSpPr>
          <p:cNvPr id="24" name="TextBox 23"/>
          <p:cNvSpPr txBox="1"/>
          <p:nvPr/>
        </p:nvSpPr>
        <p:spPr>
          <a:xfrm>
            <a:off x="9326880" y="4480560"/>
            <a:ext cx="2057400" cy="1097280"/>
          </a:xfrm>
          <a:prstGeom prst="rect">
            <a:avLst/>
          </a:prstGeom>
          <a:noFill/>
        </p:spPr>
        <p:txBody>
          <a:bodyPr wrap="square" lIns="0" tIns="0" rIns="0" bIns="0" anchor="ctr">
            <a:spAutoFit/>
          </a:bodyPr>
          <a:lstStyle/>
          <a:p>
            <a:pPr algn="l">
              <a:lnSpc>
                <a:spcPct val="115000"/>
              </a:lnSpc>
              <a:spcAft>
                <a:spcPts val="0"/>
              </a:spcAft>
            </a:pPr>
            <a:r>
              <a:rPr lang="ko-KR" sz="1300" b="0">
                <a:solidFill>
                  <a:srgbClr val="2B333D"/>
                </a:solidFill>
                <a:latin typeface="맑은 고딕"/>
                <a:ea typeface="맑은 고딕"/>
                <a:cs typeface="맑은 고딕"/>
              </a:rPr>
              <a:t>카메라까지 포함한 실시간 처리</a:t>
            </a:r>
          </a:p>
        </p:txBody>
      </p:sp>
      <p:sp>
        <p:nvSpPr>
          <p:cNvPr id="25" name="TextBox 24"/>
          <p:cNvSpPr txBox="1"/>
          <p:nvPr/>
        </p:nvSpPr>
        <p:spPr>
          <a:xfrm>
            <a:off x="6949440" y="5806440"/>
            <a:ext cx="4526280" cy="457200"/>
          </a:xfrm>
          <a:prstGeom prst="rect">
            <a:avLst/>
          </a:prstGeom>
          <a:noFill/>
        </p:spPr>
        <p:txBody>
          <a:bodyPr wrap="square" lIns="0" tIns="0" rIns="0" bIns="0" anchor="t">
            <a:spAutoFit/>
          </a:bodyPr>
          <a:lstStyle/>
          <a:p>
            <a:pPr algn="l">
              <a:lnSpc>
                <a:spcPct val="115000"/>
              </a:lnSpc>
              <a:spcAft>
                <a:spcPts val="0"/>
              </a:spcAft>
            </a:pPr>
            <a:r>
              <a:rPr lang="ko-KR" sz="1200" b="0">
                <a:solidFill>
                  <a:srgbClr val="6B7480"/>
                </a:solidFill>
                <a:latin typeface="맑은 고딕"/>
                <a:ea typeface="맑은 고딕"/>
                <a:cs typeface="맑은 고딕"/>
              </a:rPr>
              <a:t>현장 줄자 시험에서는 거리가 실제보다 짧게 추정되어 보정이 필요합니다 (07 개선 방향)</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50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8" grpId="0"/>
      <p:bldP spid="9" grpId="0" animBg="1"/>
      <p:bldP spid="10" grpId="0"/>
      <p:bldP spid="11" grpId="0"/>
      <p:bldP spid="12" grpId="0" animBg="1"/>
      <p:bldP spid="13" grpId="0"/>
      <p:bldP spid="14" grpId="0"/>
      <p:bldP spid="15" grpId="0"/>
      <p:bldP spid="16" grpId="0" animBg="1"/>
      <p:bldP spid="17" grpId="0"/>
      <p:bldP spid="18" grpId="0"/>
      <p:bldP spid="19" grpId="0" animBg="1"/>
      <p:bldP spid="20" grpId="0"/>
      <p:bldP spid="21" grpId="0"/>
      <p:bldP spid="22" grpId="0" animBg="1"/>
      <p:bldP spid="23" grpId="0"/>
      <p:bldP spid="24" grpId="0"/>
      <p:bldP spid="2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05  </a:t>
            </a:r>
            <a:r>
              <a:rPr lang="ko-KR" sz="3000" b="1">
                <a:solidFill>
                  <a:srgbClr val="1F2D3D"/>
                </a:solidFill>
                <a:latin typeface="맑은 고딕"/>
                <a:ea typeface="맑은 고딕"/>
                <a:cs typeface="맑은 고딕"/>
              </a:rPr>
              <a:t>동작 설명</a:t>
            </a:r>
          </a:p>
        </p:txBody>
      </p:sp>
      <p:sp>
        <p:nvSpPr>
          <p:cNvPr id="3" name="TextBox 2"/>
          <p:cNvSpPr txBox="1"/>
          <p:nvPr/>
        </p:nvSpPr>
        <p:spPr>
          <a:xfrm>
            <a:off x="640080" y="1024128"/>
            <a:ext cx="10058400" cy="365760"/>
          </a:xfrm>
          <a:prstGeom prst="rect">
            <a:avLst/>
          </a:prstGeom>
          <a:noFill/>
        </p:spPr>
        <p:txBody>
          <a:bodyPr wrap="square" lIns="0" tIns="0" rIns="0" bIns="0" anchor="t">
            <a:spAutoFit/>
          </a:bodyPr>
          <a:lstStyle/>
          <a:p>
            <a:pPr algn="l">
              <a:lnSpc>
                <a:spcPct val="115000"/>
              </a:lnSpc>
              <a:spcAft>
                <a:spcPts val="0"/>
              </a:spcAft>
            </a:pPr>
            <a:r>
              <a:rPr lang="ko-KR" sz="1500" b="0">
                <a:solidFill>
                  <a:srgbClr val="6B7480"/>
                </a:solidFill>
                <a:latin typeface="맑은 고딕"/>
                <a:ea typeface="맑은 고딕"/>
                <a:cs typeface="맑은 고딕"/>
              </a:rPr>
              <a:t>상태별 동작</a:t>
            </a:r>
          </a:p>
        </p:txBody>
      </p:sp>
      <p:sp>
        <p:nvSpPr>
          <p:cNvPr id="4" name="TextBox 3"/>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5" name="TextBox 4"/>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7</a:t>
            </a:r>
          </a:p>
        </p:txBody>
      </p:sp>
      <p:sp>
        <p:nvSpPr>
          <p:cNvPr id="6" name="정상 카드"/>
          <p:cNvSpPr/>
          <p:nvPr/>
        </p:nvSpPr>
        <p:spPr>
          <a:xfrm>
            <a:off x="731520" y="1600200"/>
            <a:ext cx="3337560" cy="402336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1005840" y="1874519"/>
            <a:ext cx="731520" cy="73152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920240" y="1874519"/>
            <a:ext cx="2011680" cy="731520"/>
          </a:xfrm>
          <a:prstGeom prst="rect">
            <a:avLst/>
          </a:prstGeom>
          <a:noFill/>
        </p:spPr>
        <p:txBody>
          <a:bodyPr wrap="square" lIns="0" tIns="0" rIns="0" bIns="0" anchor="ctr">
            <a:spAutoFit/>
          </a:bodyPr>
          <a:lstStyle/>
          <a:p>
            <a:pPr algn="l">
              <a:lnSpc>
                <a:spcPct val="115000"/>
              </a:lnSpc>
              <a:spcAft>
                <a:spcPts val="0"/>
              </a:spcAft>
            </a:pPr>
            <a:r>
              <a:rPr lang="ko-KR" sz="2600" b="1">
                <a:solidFill>
                  <a:srgbClr val="1F2D3D"/>
                </a:solidFill>
                <a:latin typeface="맑은 고딕"/>
                <a:ea typeface="맑은 고딕"/>
                <a:cs typeface="맑은 고딕"/>
              </a:rPr>
              <a:t>정상</a:t>
            </a:r>
          </a:p>
        </p:txBody>
      </p:sp>
      <p:sp>
        <p:nvSpPr>
          <p:cNvPr id="9" name="TextBox 8"/>
          <p:cNvSpPr txBox="1"/>
          <p:nvPr/>
        </p:nvSpPr>
        <p:spPr>
          <a:xfrm>
            <a:off x="1005840" y="2788920"/>
            <a:ext cx="2834640" cy="365760"/>
          </a:xfrm>
          <a:prstGeom prst="rect">
            <a:avLst/>
          </a:prstGeom>
          <a:noFill/>
        </p:spPr>
        <p:txBody>
          <a:bodyPr wrap="square" lIns="0" tIns="0" rIns="0" bIns="0" anchor="t">
            <a:spAutoFit/>
          </a:bodyPr>
          <a:lstStyle/>
          <a:p>
            <a:pPr algn="l">
              <a:lnSpc>
                <a:spcPct val="115000"/>
              </a:lnSpc>
              <a:spcAft>
                <a:spcPts val="0"/>
              </a:spcAft>
            </a:pPr>
            <a:r>
              <a:rPr lang="ko-KR" sz="1400" b="0">
                <a:solidFill>
                  <a:srgbClr val="6B7480"/>
                </a:solidFill>
                <a:latin typeface="맑은 고딕"/>
                <a:ea typeface="맑은 고딕"/>
                <a:cs typeface="맑은 고딕"/>
              </a:rPr>
              <a:t>얼굴 없음 또는 200cm 초과</a:t>
            </a:r>
          </a:p>
        </p:txBody>
      </p:sp>
      <p:cxnSp>
        <p:nvCxnSpPr>
          <p:cNvPr id="10" name="Connector 9"/>
          <p:cNvCxnSpPr/>
          <p:nvPr/>
        </p:nvCxnSpPr>
        <p:spPr>
          <a:xfrm>
            <a:off x="1005840" y="32644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33375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LED</a:t>
            </a:r>
          </a:p>
        </p:txBody>
      </p:sp>
      <p:sp>
        <p:nvSpPr>
          <p:cNvPr id="12" name="TextBox 11"/>
          <p:cNvSpPr txBox="1"/>
          <p:nvPr/>
        </p:nvSpPr>
        <p:spPr>
          <a:xfrm>
            <a:off x="2011680" y="33375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꺼짐</a:t>
            </a:r>
          </a:p>
        </p:txBody>
      </p:sp>
      <p:cxnSp>
        <p:nvCxnSpPr>
          <p:cNvPr id="13" name="Connector 12"/>
          <p:cNvCxnSpPr/>
          <p:nvPr/>
        </p:nvCxnSpPr>
        <p:spPr>
          <a:xfrm>
            <a:off x="1005840" y="39502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05840" y="40233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벨트</a:t>
            </a:r>
          </a:p>
        </p:txBody>
      </p:sp>
      <p:sp>
        <p:nvSpPr>
          <p:cNvPr id="15" name="TextBox 14"/>
          <p:cNvSpPr txBox="1"/>
          <p:nvPr/>
        </p:nvSpPr>
        <p:spPr>
          <a:xfrm>
            <a:off x="2011680" y="40233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작동</a:t>
            </a:r>
          </a:p>
        </p:txBody>
      </p:sp>
      <p:cxnSp>
        <p:nvCxnSpPr>
          <p:cNvPr id="16" name="Connector 15"/>
          <p:cNvCxnSpPr/>
          <p:nvPr/>
        </p:nvCxnSpPr>
        <p:spPr>
          <a:xfrm>
            <a:off x="1005840" y="46360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05840" y="47091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DB 기록</a:t>
            </a:r>
          </a:p>
        </p:txBody>
      </p:sp>
      <p:sp>
        <p:nvSpPr>
          <p:cNvPr id="18" name="TextBox 17"/>
          <p:cNvSpPr txBox="1"/>
          <p:nvPr/>
        </p:nvSpPr>
        <p:spPr>
          <a:xfrm>
            <a:off x="2011680" y="47091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상태가 바뀔 때</a:t>
            </a:r>
          </a:p>
        </p:txBody>
      </p:sp>
      <p:sp>
        <p:nvSpPr>
          <p:cNvPr id="19" name="경고 카드"/>
          <p:cNvSpPr/>
          <p:nvPr/>
        </p:nvSpPr>
        <p:spPr>
          <a:xfrm>
            <a:off x="4389120" y="1600200"/>
            <a:ext cx="3337560" cy="402336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4663440" y="1874519"/>
            <a:ext cx="731520" cy="7315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577840" y="1874519"/>
            <a:ext cx="2011680" cy="731520"/>
          </a:xfrm>
          <a:prstGeom prst="rect">
            <a:avLst/>
          </a:prstGeom>
          <a:noFill/>
        </p:spPr>
        <p:txBody>
          <a:bodyPr wrap="square" lIns="0" tIns="0" rIns="0" bIns="0" anchor="ctr">
            <a:spAutoFit/>
          </a:bodyPr>
          <a:lstStyle/>
          <a:p>
            <a:pPr algn="l">
              <a:lnSpc>
                <a:spcPct val="115000"/>
              </a:lnSpc>
              <a:spcAft>
                <a:spcPts val="0"/>
              </a:spcAft>
            </a:pPr>
            <a:r>
              <a:rPr lang="ko-KR" sz="2600" b="1">
                <a:solidFill>
                  <a:srgbClr val="1F2D3D"/>
                </a:solidFill>
                <a:latin typeface="맑은 고딕"/>
                <a:ea typeface="맑은 고딕"/>
                <a:cs typeface="맑은 고딕"/>
              </a:rPr>
              <a:t>경고</a:t>
            </a:r>
          </a:p>
        </p:txBody>
      </p:sp>
      <p:sp>
        <p:nvSpPr>
          <p:cNvPr id="22" name="TextBox 21"/>
          <p:cNvSpPr txBox="1"/>
          <p:nvPr/>
        </p:nvSpPr>
        <p:spPr>
          <a:xfrm>
            <a:off x="4663440" y="2788920"/>
            <a:ext cx="2834640" cy="365760"/>
          </a:xfrm>
          <a:prstGeom prst="rect">
            <a:avLst/>
          </a:prstGeom>
          <a:noFill/>
        </p:spPr>
        <p:txBody>
          <a:bodyPr wrap="square" lIns="0" tIns="0" rIns="0" bIns="0" anchor="t">
            <a:spAutoFit/>
          </a:bodyPr>
          <a:lstStyle/>
          <a:p>
            <a:pPr algn="l">
              <a:lnSpc>
                <a:spcPct val="115000"/>
              </a:lnSpc>
              <a:spcAft>
                <a:spcPts val="0"/>
              </a:spcAft>
            </a:pPr>
            <a:r>
              <a:rPr lang="ko-KR" sz="1400" b="0">
                <a:solidFill>
                  <a:srgbClr val="6B7480"/>
                </a:solidFill>
                <a:latin typeface="맑은 고딕"/>
                <a:ea typeface="맑은 고딕"/>
                <a:cs typeface="맑은 고딕"/>
              </a:rPr>
              <a:t>50cm 초과 ~ 200cm 이하</a:t>
            </a:r>
          </a:p>
        </p:txBody>
      </p:sp>
      <p:cxnSp>
        <p:nvCxnSpPr>
          <p:cNvPr id="23" name="Connector 22"/>
          <p:cNvCxnSpPr/>
          <p:nvPr/>
        </p:nvCxnSpPr>
        <p:spPr>
          <a:xfrm>
            <a:off x="4663440" y="32644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663440" y="33375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LED</a:t>
            </a:r>
          </a:p>
        </p:txBody>
      </p:sp>
      <p:sp>
        <p:nvSpPr>
          <p:cNvPr id="25" name="TextBox 24"/>
          <p:cNvSpPr txBox="1"/>
          <p:nvPr/>
        </p:nvSpPr>
        <p:spPr>
          <a:xfrm>
            <a:off x="5669279" y="33375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노랑</a:t>
            </a:r>
          </a:p>
        </p:txBody>
      </p:sp>
      <p:cxnSp>
        <p:nvCxnSpPr>
          <p:cNvPr id="26" name="Connector 25"/>
          <p:cNvCxnSpPr/>
          <p:nvPr/>
        </p:nvCxnSpPr>
        <p:spPr>
          <a:xfrm>
            <a:off x="4663440" y="39502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663440" y="40233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벨트</a:t>
            </a:r>
          </a:p>
        </p:txBody>
      </p:sp>
      <p:sp>
        <p:nvSpPr>
          <p:cNvPr id="28" name="TextBox 27"/>
          <p:cNvSpPr txBox="1"/>
          <p:nvPr/>
        </p:nvSpPr>
        <p:spPr>
          <a:xfrm>
            <a:off x="5669279" y="40233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계속 작동</a:t>
            </a:r>
          </a:p>
        </p:txBody>
      </p:sp>
      <p:cxnSp>
        <p:nvCxnSpPr>
          <p:cNvPr id="29" name="Connector 28"/>
          <p:cNvCxnSpPr/>
          <p:nvPr/>
        </p:nvCxnSpPr>
        <p:spPr>
          <a:xfrm>
            <a:off x="4663440" y="46360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663440" y="47091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DB 기록</a:t>
            </a:r>
          </a:p>
        </p:txBody>
      </p:sp>
      <p:sp>
        <p:nvSpPr>
          <p:cNvPr id="31" name="TextBox 30"/>
          <p:cNvSpPr txBox="1"/>
          <p:nvPr/>
        </p:nvSpPr>
        <p:spPr>
          <a:xfrm>
            <a:off x="5669279" y="47091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상태가 바뀔 때</a:t>
            </a:r>
          </a:p>
        </p:txBody>
      </p:sp>
      <p:sp>
        <p:nvSpPr>
          <p:cNvPr id="32" name="위험 카드"/>
          <p:cNvSpPr/>
          <p:nvPr/>
        </p:nvSpPr>
        <p:spPr>
          <a:xfrm>
            <a:off x="8046720" y="1600200"/>
            <a:ext cx="3337560" cy="402336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8321040" y="1874519"/>
            <a:ext cx="731520" cy="731520"/>
          </a:xfrm>
          <a:prstGeom prst="ellipse">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9235440" y="1874519"/>
            <a:ext cx="2011680" cy="731520"/>
          </a:xfrm>
          <a:prstGeom prst="rect">
            <a:avLst/>
          </a:prstGeom>
          <a:noFill/>
        </p:spPr>
        <p:txBody>
          <a:bodyPr wrap="square" lIns="0" tIns="0" rIns="0" bIns="0" anchor="ctr">
            <a:spAutoFit/>
          </a:bodyPr>
          <a:lstStyle/>
          <a:p>
            <a:pPr algn="l">
              <a:lnSpc>
                <a:spcPct val="115000"/>
              </a:lnSpc>
              <a:spcAft>
                <a:spcPts val="0"/>
              </a:spcAft>
            </a:pPr>
            <a:r>
              <a:rPr lang="ko-KR" sz="2600" b="1">
                <a:solidFill>
                  <a:srgbClr val="1F2D3D"/>
                </a:solidFill>
                <a:latin typeface="맑은 고딕"/>
                <a:ea typeface="맑은 고딕"/>
                <a:cs typeface="맑은 고딕"/>
              </a:rPr>
              <a:t>위험</a:t>
            </a:r>
          </a:p>
        </p:txBody>
      </p:sp>
      <p:sp>
        <p:nvSpPr>
          <p:cNvPr id="35" name="TextBox 34"/>
          <p:cNvSpPr txBox="1"/>
          <p:nvPr/>
        </p:nvSpPr>
        <p:spPr>
          <a:xfrm>
            <a:off x="8321040" y="2788920"/>
            <a:ext cx="2834640" cy="365760"/>
          </a:xfrm>
          <a:prstGeom prst="rect">
            <a:avLst/>
          </a:prstGeom>
          <a:noFill/>
        </p:spPr>
        <p:txBody>
          <a:bodyPr wrap="square" lIns="0" tIns="0" rIns="0" bIns="0" anchor="t">
            <a:spAutoFit/>
          </a:bodyPr>
          <a:lstStyle/>
          <a:p>
            <a:pPr algn="l">
              <a:lnSpc>
                <a:spcPct val="115000"/>
              </a:lnSpc>
              <a:spcAft>
                <a:spcPts val="0"/>
              </a:spcAft>
            </a:pPr>
            <a:r>
              <a:rPr lang="ko-KR" sz="1400" b="0">
                <a:solidFill>
                  <a:srgbClr val="6B7480"/>
                </a:solidFill>
                <a:latin typeface="맑은 고딕"/>
                <a:ea typeface="맑은 고딕"/>
                <a:cs typeface="맑은 고딕"/>
              </a:rPr>
              <a:t>50cm 이하</a:t>
            </a:r>
          </a:p>
        </p:txBody>
      </p:sp>
      <p:cxnSp>
        <p:nvCxnSpPr>
          <p:cNvPr id="36" name="Connector 35"/>
          <p:cNvCxnSpPr/>
          <p:nvPr/>
        </p:nvCxnSpPr>
        <p:spPr>
          <a:xfrm>
            <a:off x="8321040" y="32644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321040" y="33375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LED</a:t>
            </a:r>
          </a:p>
        </p:txBody>
      </p:sp>
      <p:sp>
        <p:nvSpPr>
          <p:cNvPr id="38" name="TextBox 37"/>
          <p:cNvSpPr txBox="1"/>
          <p:nvPr/>
        </p:nvSpPr>
        <p:spPr>
          <a:xfrm>
            <a:off x="9326880" y="33375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빨강</a:t>
            </a:r>
          </a:p>
        </p:txBody>
      </p:sp>
      <p:cxnSp>
        <p:nvCxnSpPr>
          <p:cNvPr id="39" name="Connector 38"/>
          <p:cNvCxnSpPr/>
          <p:nvPr/>
        </p:nvCxnSpPr>
        <p:spPr>
          <a:xfrm>
            <a:off x="8321040" y="39502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321040" y="40233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벨트</a:t>
            </a:r>
          </a:p>
        </p:txBody>
      </p:sp>
      <p:sp>
        <p:nvSpPr>
          <p:cNvPr id="41" name="TextBox 40"/>
          <p:cNvSpPr txBox="1"/>
          <p:nvPr/>
        </p:nvSpPr>
        <p:spPr>
          <a:xfrm>
            <a:off x="9326880" y="40233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D64541"/>
                </a:solidFill>
                <a:latin typeface="맑은 고딕"/>
                <a:ea typeface="맑은 고딕"/>
                <a:cs typeface="맑은 고딕"/>
              </a:rPr>
              <a:t>정지</a:t>
            </a:r>
          </a:p>
        </p:txBody>
      </p:sp>
      <p:cxnSp>
        <p:nvCxnSpPr>
          <p:cNvPr id="42" name="Connector 41"/>
          <p:cNvCxnSpPr/>
          <p:nvPr/>
        </p:nvCxnSpPr>
        <p:spPr>
          <a:xfrm>
            <a:off x="8321040" y="4636008"/>
            <a:ext cx="2788920" cy="0"/>
          </a:xfrm>
          <a:prstGeom prst="line">
            <a:avLst/>
          </a:prstGeom>
          <a:ln w="12700">
            <a:solidFill>
              <a:srgbClr val="D5DAE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321040" y="4709160"/>
            <a:ext cx="1097280" cy="457200"/>
          </a:xfrm>
          <a:prstGeom prst="rect">
            <a:avLst/>
          </a:prstGeom>
          <a:noFill/>
        </p:spPr>
        <p:txBody>
          <a:bodyPr wrap="square" lIns="0" tIns="0" rIns="0" bIns="0" anchor="ctr">
            <a:spAutoFit/>
          </a:bodyPr>
          <a:lstStyle/>
          <a:p>
            <a:pPr algn="l">
              <a:lnSpc>
                <a:spcPct val="115000"/>
              </a:lnSpc>
              <a:spcAft>
                <a:spcPts val="0"/>
              </a:spcAft>
            </a:pPr>
            <a:r>
              <a:rPr lang="ko-KR" sz="1400" b="0">
                <a:solidFill>
                  <a:srgbClr val="6B7480"/>
                </a:solidFill>
                <a:latin typeface="맑은 고딕"/>
                <a:ea typeface="맑은 고딕"/>
                <a:cs typeface="맑은 고딕"/>
              </a:rPr>
              <a:t>DB 기록</a:t>
            </a:r>
          </a:p>
        </p:txBody>
      </p:sp>
      <p:sp>
        <p:nvSpPr>
          <p:cNvPr id="44" name="TextBox 43"/>
          <p:cNvSpPr txBox="1"/>
          <p:nvPr/>
        </p:nvSpPr>
        <p:spPr>
          <a:xfrm>
            <a:off x="9326880" y="4709160"/>
            <a:ext cx="1783080" cy="457200"/>
          </a:xfrm>
          <a:prstGeom prst="rect">
            <a:avLst/>
          </a:prstGeom>
          <a:noFill/>
        </p:spPr>
        <p:txBody>
          <a:bodyPr wrap="square" lIns="0" tIns="0" rIns="0" bIns="0" anchor="ctr">
            <a:spAutoFit/>
          </a:bodyPr>
          <a:lstStyle/>
          <a:p>
            <a:pPr algn="r">
              <a:lnSpc>
                <a:spcPct val="115000"/>
              </a:lnSpc>
              <a:spcAft>
                <a:spcPts val="0"/>
              </a:spcAft>
            </a:pPr>
            <a:r>
              <a:rPr lang="ko-KR" sz="1600" b="1">
                <a:solidFill>
                  <a:srgbClr val="2B333D"/>
                </a:solidFill>
                <a:latin typeface="맑은 고딕"/>
                <a:ea typeface="맑은 고딕"/>
                <a:cs typeface="맑은 고딕"/>
              </a:rPr>
              <a:t>정지 시각 · 사유</a:t>
            </a:r>
          </a:p>
        </p:txBody>
      </p:sp>
      <p:sp>
        <p:nvSpPr>
          <p:cNvPr id="45" name="TextBox 44"/>
          <p:cNvSpPr txBox="1"/>
          <p:nvPr/>
        </p:nvSpPr>
        <p:spPr>
          <a:xfrm>
            <a:off x="731520" y="5806440"/>
            <a:ext cx="10789920" cy="45720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얼굴 검출이 잠깐 끊겨도 상태가 깜빡이지 않도록, 위험해질 때는 바로, 안전해질 때는 1초 유지된 뒤 바뀝니다. 대시보드 신호등도 같은 색으로 바뀝니다.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8" presetID="10" presetClass="entr" presetSubtype="0" fill="hold" nodeType="with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500"/>
                                        <p:tgtEl>
                                          <p:spTgt spid="2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500"/>
                                        <p:tgtEl>
                                          <p:spTgt spid="28"/>
                                        </p:tgtEl>
                                      </p:cBhvr>
                                    </p:animEffect>
                                  </p:childTnLst>
                                </p:cTn>
                              </p:par>
                              <p:par>
                                <p:cTn id="76" presetID="10" presetClass="entr" presetSubtype="0" fill="hold" nodeType="withEffect">
                                  <p:stCondLst>
                                    <p:cond delay="0"/>
                                  </p:stCondLst>
                                  <p:childTnLst>
                                    <p:set>
                                      <p:cBhvr>
                                        <p:cTn id="77" dur="1" fill="hold">
                                          <p:stCondLst>
                                            <p:cond delay="0"/>
                                          </p:stCondLst>
                                        </p:cTn>
                                        <p:tgtEl>
                                          <p:spTgt spid="29"/>
                                        </p:tgtEl>
                                        <p:attrNameLst>
                                          <p:attrName>style.visibility</p:attrName>
                                        </p:attrNameLst>
                                      </p:cBhvr>
                                      <p:to>
                                        <p:strVal val="visible"/>
                                      </p:to>
                                    </p:set>
                                    <p:animEffect transition="in" filter="fade">
                                      <p:cBhvr>
                                        <p:cTn id="78" dur="500"/>
                                        <p:tgtEl>
                                          <p:spTgt spid="2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500"/>
                                        <p:tgtEl>
                                          <p:spTgt spid="3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500"/>
                                        <p:tgtEl>
                                          <p:spTgt spid="31"/>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500"/>
                                        <p:tgtEl>
                                          <p:spTgt spid="32"/>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500"/>
                                        <p:tgtEl>
                                          <p:spTgt spid="3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500"/>
                                        <p:tgtEl>
                                          <p:spTgt spid="3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5"/>
                                        </p:tgtEl>
                                        <p:attrNameLst>
                                          <p:attrName>style.visibility</p:attrName>
                                        </p:attrNameLst>
                                      </p:cBhvr>
                                      <p:to>
                                        <p:strVal val="visible"/>
                                      </p:to>
                                    </p:set>
                                    <p:animEffect transition="in" filter="fade">
                                      <p:cBhvr>
                                        <p:cTn id="98" dur="500"/>
                                        <p:tgtEl>
                                          <p:spTgt spid="35"/>
                                        </p:tgtEl>
                                      </p:cBhvr>
                                    </p:animEffect>
                                  </p:childTnLst>
                                </p:cTn>
                              </p:par>
                              <p:par>
                                <p:cTn id="99" presetID="10" presetClass="entr" presetSubtype="0" fill="hold" nodeType="withEffect">
                                  <p:stCondLst>
                                    <p:cond delay="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1" dur="500"/>
                                        <p:tgtEl>
                                          <p:spTgt spid="3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7"/>
                                        </p:tgtEl>
                                        <p:attrNameLst>
                                          <p:attrName>style.visibility</p:attrName>
                                        </p:attrNameLst>
                                      </p:cBhvr>
                                      <p:to>
                                        <p:strVal val="visible"/>
                                      </p:to>
                                    </p:set>
                                    <p:animEffect transition="in" filter="fade">
                                      <p:cBhvr>
                                        <p:cTn id="104" dur="500"/>
                                        <p:tgtEl>
                                          <p:spTgt spid="3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500"/>
                                        <p:tgtEl>
                                          <p:spTgt spid="38"/>
                                        </p:tgtEl>
                                      </p:cBhvr>
                                    </p:animEffect>
                                  </p:childTnLst>
                                </p:cTn>
                              </p:par>
                              <p:par>
                                <p:cTn id="108" presetID="10" presetClass="entr" presetSubtype="0" fill="hold" nodeType="withEffect">
                                  <p:stCondLst>
                                    <p:cond delay="0"/>
                                  </p:stCondLst>
                                  <p:childTnLst>
                                    <p:set>
                                      <p:cBhvr>
                                        <p:cTn id="109" dur="1" fill="hold">
                                          <p:stCondLst>
                                            <p:cond delay="0"/>
                                          </p:stCondLst>
                                        </p:cTn>
                                        <p:tgtEl>
                                          <p:spTgt spid="39"/>
                                        </p:tgtEl>
                                        <p:attrNameLst>
                                          <p:attrName>style.visibility</p:attrName>
                                        </p:attrNameLst>
                                      </p:cBhvr>
                                      <p:to>
                                        <p:strVal val="visible"/>
                                      </p:to>
                                    </p:set>
                                    <p:animEffect transition="in" filter="fade">
                                      <p:cBhvr>
                                        <p:cTn id="110" dur="500"/>
                                        <p:tgtEl>
                                          <p:spTgt spid="3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0"/>
                                        </p:tgtEl>
                                        <p:attrNameLst>
                                          <p:attrName>style.visibility</p:attrName>
                                        </p:attrNameLst>
                                      </p:cBhvr>
                                      <p:to>
                                        <p:strVal val="visible"/>
                                      </p:to>
                                    </p:set>
                                    <p:animEffect transition="in" filter="fade">
                                      <p:cBhvr>
                                        <p:cTn id="113" dur="500"/>
                                        <p:tgtEl>
                                          <p:spTgt spid="4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1"/>
                                        </p:tgtEl>
                                        <p:attrNameLst>
                                          <p:attrName>style.visibility</p:attrName>
                                        </p:attrNameLst>
                                      </p:cBhvr>
                                      <p:to>
                                        <p:strVal val="visible"/>
                                      </p:to>
                                    </p:set>
                                    <p:animEffect transition="in" filter="fade">
                                      <p:cBhvr>
                                        <p:cTn id="116" dur="500"/>
                                        <p:tgtEl>
                                          <p:spTgt spid="41"/>
                                        </p:tgtEl>
                                      </p:cBhvr>
                                    </p:animEffect>
                                  </p:childTnLst>
                                </p:cTn>
                              </p:par>
                              <p:par>
                                <p:cTn id="117" presetID="10" presetClass="entr" presetSubtype="0" fill="hold" nodeType="withEffect">
                                  <p:stCondLst>
                                    <p:cond delay="0"/>
                                  </p:stCondLst>
                                  <p:childTnLst>
                                    <p:set>
                                      <p:cBhvr>
                                        <p:cTn id="118" dur="1" fill="hold">
                                          <p:stCondLst>
                                            <p:cond delay="0"/>
                                          </p:stCondLst>
                                        </p:cTn>
                                        <p:tgtEl>
                                          <p:spTgt spid="42"/>
                                        </p:tgtEl>
                                        <p:attrNameLst>
                                          <p:attrName>style.visibility</p:attrName>
                                        </p:attrNameLst>
                                      </p:cBhvr>
                                      <p:to>
                                        <p:strVal val="visible"/>
                                      </p:to>
                                    </p:set>
                                    <p:animEffect transition="in" filter="fade">
                                      <p:cBhvr>
                                        <p:cTn id="119" dur="500"/>
                                        <p:tgtEl>
                                          <p:spTgt spid="42"/>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3"/>
                                        </p:tgtEl>
                                        <p:attrNameLst>
                                          <p:attrName>style.visibility</p:attrName>
                                        </p:attrNameLst>
                                      </p:cBhvr>
                                      <p:to>
                                        <p:strVal val="visible"/>
                                      </p:to>
                                    </p:set>
                                    <p:animEffect transition="in" filter="fade">
                                      <p:cBhvr>
                                        <p:cTn id="122" dur="500"/>
                                        <p:tgtEl>
                                          <p:spTgt spid="43"/>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4"/>
                                        </p:tgtEl>
                                        <p:attrNameLst>
                                          <p:attrName>style.visibility</p:attrName>
                                        </p:attrNameLst>
                                      </p:cBhvr>
                                      <p:to>
                                        <p:strVal val="visible"/>
                                      </p:to>
                                    </p:set>
                                    <p:animEffect transition="in" filter="fade">
                                      <p:cBhvr>
                                        <p:cTn id="125" dur="500"/>
                                        <p:tgtEl>
                                          <p:spTgt spid="44"/>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5"/>
                                        </p:tgtEl>
                                        <p:attrNameLst>
                                          <p:attrName>style.visibility</p:attrName>
                                        </p:attrNameLst>
                                      </p:cBhvr>
                                      <p:to>
                                        <p:strVal val="visible"/>
                                      </p:to>
                                    </p:set>
                                    <p:animEffect transition="in" filter="fade">
                                      <p:cBhvr>
                                        <p:cTn id="128"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1" grpId="0"/>
      <p:bldP spid="12" grpId="0"/>
      <p:bldP spid="14" grpId="0"/>
      <p:bldP spid="15" grpId="0"/>
      <p:bldP spid="17" grpId="0"/>
      <p:bldP spid="18" grpId="0"/>
      <p:bldP spid="19" grpId="0" animBg="1"/>
      <p:bldP spid="20" grpId="0" animBg="1"/>
      <p:bldP spid="21" grpId="0"/>
      <p:bldP spid="22" grpId="0"/>
      <p:bldP spid="24" grpId="0"/>
      <p:bldP spid="25" grpId="0"/>
      <p:bldP spid="27" grpId="0"/>
      <p:bldP spid="28" grpId="0"/>
      <p:bldP spid="30" grpId="0"/>
      <p:bldP spid="31" grpId="0"/>
      <p:bldP spid="32" grpId="0" animBg="1"/>
      <p:bldP spid="33" grpId="0" animBg="1"/>
      <p:bldP spid="34" grpId="0"/>
      <p:bldP spid="35" grpId="0"/>
      <p:bldP spid="37" grpId="0"/>
      <p:bldP spid="38" grpId="0"/>
      <p:bldP spid="40" grpId="0"/>
      <p:bldP spid="41" grpId="0"/>
      <p:bldP spid="43" grpId="0"/>
      <p:bldP spid="44" grpId="0"/>
      <p:bldP spid="45"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05  </a:t>
            </a:r>
            <a:r>
              <a:rPr lang="ko-KR" sz="3000" b="1">
                <a:solidFill>
                  <a:srgbClr val="1F2D3D"/>
                </a:solidFill>
                <a:latin typeface="맑은 고딕"/>
                <a:ea typeface="맑은 고딕"/>
                <a:cs typeface="맑은 고딕"/>
              </a:rPr>
              <a:t>동작 설명</a:t>
            </a:r>
          </a:p>
        </p:txBody>
      </p:sp>
      <p:sp>
        <p:nvSpPr>
          <p:cNvPr id="3" name="TextBox 2"/>
          <p:cNvSpPr txBox="1"/>
          <p:nvPr/>
        </p:nvSpPr>
        <p:spPr>
          <a:xfrm>
            <a:off x="640080" y="1024128"/>
            <a:ext cx="10058400" cy="365760"/>
          </a:xfrm>
          <a:prstGeom prst="rect">
            <a:avLst/>
          </a:prstGeom>
          <a:noFill/>
        </p:spPr>
        <p:txBody>
          <a:bodyPr wrap="square" lIns="0" tIns="0" rIns="0" bIns="0" anchor="t">
            <a:spAutoFit/>
          </a:bodyPr>
          <a:lstStyle/>
          <a:p>
            <a:pPr algn="l">
              <a:lnSpc>
                <a:spcPct val="115000"/>
              </a:lnSpc>
              <a:spcAft>
                <a:spcPts val="0"/>
              </a:spcAft>
            </a:pPr>
            <a:r>
              <a:rPr lang="ko-KR" sz="1500" b="0">
                <a:solidFill>
                  <a:srgbClr val="6B7480"/>
                </a:solidFill>
                <a:latin typeface="맑은 고딕"/>
                <a:ea typeface="맑은 고딕"/>
                <a:cs typeface="맑은 고딕"/>
              </a:rPr>
              <a:t>시연 영상 (31초)</a:t>
            </a:r>
          </a:p>
        </p:txBody>
      </p:sp>
      <p:sp>
        <p:nvSpPr>
          <p:cNvPr id="4" name="TextBox 3"/>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5" name="TextBox 4"/>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8</a:t>
            </a:r>
          </a:p>
        </p:txBody>
      </p:sp>
      <p:pic>
        <p:nvPicPr>
          <p:cNvPr id="6" name="conveyor_demo.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rotWithShape="1">
          <a:blip r:embed="rId5"/>
          <a:stretch>
            <a:fillRect/>
          </a:stretch>
        </p:blipFill>
        <p:spPr>
          <a:xfrm>
            <a:off x="640080" y="1508760"/>
            <a:ext cx="7863840" cy="4423409"/>
          </a:xfrm>
          <a:prstGeom prst="rect">
            <a:avLst/>
          </a:prstGeom>
        </p:spPr>
      </p:pic>
      <p:sp>
        <p:nvSpPr>
          <p:cNvPr id="7" name="Oval 6"/>
          <p:cNvSpPr/>
          <p:nvPr/>
        </p:nvSpPr>
        <p:spPr>
          <a:xfrm>
            <a:off x="8915400" y="1645920"/>
            <a:ext cx="292608" cy="292608"/>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372600" y="1554480"/>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정상</a:t>
            </a:r>
            <a:r>
              <a:rPr lang="ko-KR" sz="1200" b="0">
                <a:solidFill>
                  <a:srgbClr val="6B7480"/>
                </a:solidFill>
                <a:latin typeface="맑은 고딕"/>
                <a:ea typeface="맑은 고딕"/>
                <a:cs typeface="맑은 고딕"/>
              </a:rPr>
              <a:t>  0:00</a:t>
            </a:r>
          </a:p>
        </p:txBody>
      </p:sp>
      <p:sp>
        <p:nvSpPr>
          <p:cNvPr id="9" name="TextBox 8"/>
          <p:cNvSpPr txBox="1"/>
          <p:nvPr/>
        </p:nvSpPr>
        <p:spPr>
          <a:xfrm>
            <a:off x="9372600" y="1901952"/>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벨트 작동</a:t>
            </a:r>
          </a:p>
        </p:txBody>
      </p:sp>
      <p:sp>
        <p:nvSpPr>
          <p:cNvPr id="10" name="Oval 9"/>
          <p:cNvSpPr/>
          <p:nvPr/>
        </p:nvSpPr>
        <p:spPr>
          <a:xfrm>
            <a:off x="8915400" y="2532888"/>
            <a:ext cx="292608" cy="292608"/>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372600" y="2441448"/>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경고</a:t>
            </a:r>
            <a:r>
              <a:rPr lang="ko-KR" sz="1200" b="0">
                <a:solidFill>
                  <a:srgbClr val="6B7480"/>
                </a:solidFill>
                <a:latin typeface="맑은 고딕"/>
                <a:ea typeface="맑은 고딕"/>
                <a:cs typeface="맑은 고딕"/>
              </a:rPr>
              <a:t>  0:07</a:t>
            </a:r>
          </a:p>
        </p:txBody>
      </p:sp>
      <p:sp>
        <p:nvSpPr>
          <p:cNvPr id="12" name="TextBox 11"/>
          <p:cNvSpPr txBox="1"/>
          <p:nvPr/>
        </p:nvSpPr>
        <p:spPr>
          <a:xfrm>
            <a:off x="9372600" y="2788920"/>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노랑 LED, 벨트는 계속</a:t>
            </a:r>
          </a:p>
        </p:txBody>
      </p:sp>
      <p:sp>
        <p:nvSpPr>
          <p:cNvPr id="13" name="Oval 12"/>
          <p:cNvSpPr/>
          <p:nvPr/>
        </p:nvSpPr>
        <p:spPr>
          <a:xfrm>
            <a:off x="8915400" y="3419856"/>
            <a:ext cx="292608" cy="292608"/>
          </a:xfrm>
          <a:prstGeom prst="ellipse">
            <a:avLst/>
          </a:prstGeom>
          <a:solidFill>
            <a:srgbClr val="D64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372600" y="3328415"/>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위험</a:t>
            </a:r>
            <a:r>
              <a:rPr lang="ko-KR" sz="1200" b="0">
                <a:solidFill>
                  <a:srgbClr val="6B7480"/>
                </a:solidFill>
                <a:latin typeface="맑은 고딕"/>
                <a:ea typeface="맑은 고딕"/>
                <a:cs typeface="맑은 고딕"/>
              </a:rPr>
              <a:t>  0:17</a:t>
            </a:r>
          </a:p>
        </p:txBody>
      </p:sp>
      <p:sp>
        <p:nvSpPr>
          <p:cNvPr id="15" name="TextBox 14"/>
          <p:cNvSpPr txBox="1"/>
          <p:nvPr/>
        </p:nvSpPr>
        <p:spPr>
          <a:xfrm>
            <a:off x="9372600" y="3675887"/>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빨강 LED, 벨트 정지, DB 기록</a:t>
            </a:r>
          </a:p>
        </p:txBody>
      </p:sp>
      <p:sp>
        <p:nvSpPr>
          <p:cNvPr id="16" name="Oval 15"/>
          <p:cNvSpPr/>
          <p:nvPr/>
        </p:nvSpPr>
        <p:spPr>
          <a:xfrm>
            <a:off x="8915400" y="4306824"/>
            <a:ext cx="292608" cy="292608"/>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372600" y="4215384"/>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경고</a:t>
            </a:r>
            <a:r>
              <a:rPr lang="ko-KR" sz="1200" b="0">
                <a:solidFill>
                  <a:srgbClr val="6B7480"/>
                </a:solidFill>
                <a:latin typeface="맑은 고딕"/>
                <a:ea typeface="맑은 고딕"/>
                <a:cs typeface="맑은 고딕"/>
              </a:rPr>
              <a:t>  0:23</a:t>
            </a:r>
          </a:p>
        </p:txBody>
      </p:sp>
      <p:sp>
        <p:nvSpPr>
          <p:cNvPr id="18" name="TextBox 17"/>
          <p:cNvSpPr txBox="1"/>
          <p:nvPr/>
        </p:nvSpPr>
        <p:spPr>
          <a:xfrm>
            <a:off x="9372600" y="4562856"/>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물러나면 다시 작동</a:t>
            </a:r>
          </a:p>
        </p:txBody>
      </p:sp>
      <p:sp>
        <p:nvSpPr>
          <p:cNvPr id="19" name="Oval 18"/>
          <p:cNvSpPr/>
          <p:nvPr/>
        </p:nvSpPr>
        <p:spPr>
          <a:xfrm>
            <a:off x="8915400" y="5193792"/>
            <a:ext cx="292608" cy="292608"/>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372600" y="5102352"/>
            <a:ext cx="2286000" cy="365760"/>
          </a:xfrm>
          <a:prstGeom prst="rect">
            <a:avLst/>
          </a:prstGeom>
          <a:noFill/>
        </p:spPr>
        <p:txBody>
          <a:bodyPr wrap="square" lIns="0" tIns="0" rIns="0" bIns="0" anchor="t">
            <a:spAutoFit/>
          </a:bodyPr>
          <a:lstStyle/>
          <a:p>
            <a:pPr algn="l">
              <a:lnSpc>
                <a:spcPct val="115000"/>
              </a:lnSpc>
              <a:spcAft>
                <a:spcPts val="0"/>
              </a:spcAft>
            </a:pPr>
            <a:r>
              <a:rPr lang="ko-KR" sz="1600" b="1">
                <a:solidFill>
                  <a:srgbClr val="1F2D3D"/>
                </a:solidFill>
                <a:latin typeface="맑은 고딕"/>
                <a:ea typeface="맑은 고딕"/>
                <a:cs typeface="맑은 고딕"/>
              </a:rPr>
              <a:t>정상</a:t>
            </a:r>
            <a:r>
              <a:rPr lang="ko-KR" sz="1200" b="0">
                <a:solidFill>
                  <a:srgbClr val="6B7480"/>
                </a:solidFill>
                <a:latin typeface="맑은 고딕"/>
                <a:ea typeface="맑은 고딕"/>
                <a:cs typeface="맑은 고딕"/>
              </a:rPr>
              <a:t>  0:30</a:t>
            </a:r>
          </a:p>
        </p:txBody>
      </p:sp>
      <p:sp>
        <p:nvSpPr>
          <p:cNvPr id="21" name="TextBox 20"/>
          <p:cNvSpPr txBox="1"/>
          <p:nvPr/>
        </p:nvSpPr>
        <p:spPr>
          <a:xfrm>
            <a:off x="9372600" y="5449824"/>
            <a:ext cx="2377440" cy="411480"/>
          </a:xfrm>
          <a:prstGeom prst="rect">
            <a:avLst/>
          </a:prstGeom>
          <a:noFill/>
        </p:spPr>
        <p:txBody>
          <a:bodyPr wrap="square" lIns="0" tIns="0" rIns="0" bIns="0" anchor="t">
            <a:spAutoFit/>
          </a:bodyPr>
          <a:lstStyle/>
          <a:p>
            <a:pPr algn="l">
              <a:lnSpc>
                <a:spcPct val="115000"/>
              </a:lnSpc>
              <a:spcAft>
                <a:spcPts val="0"/>
              </a:spcAft>
            </a:pPr>
            <a:r>
              <a:rPr lang="ko-KR" sz="1300" b="0">
                <a:solidFill>
                  <a:srgbClr val="2B333D"/>
                </a:solidFill>
                <a:latin typeface="맑은 고딕"/>
                <a:ea typeface="맑은 고딕"/>
                <a:cs typeface="맑은 고딕"/>
              </a:rPr>
              <a:t>자리를 떠나면 LED 꺼짐</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06  </a:t>
            </a:r>
            <a:r>
              <a:rPr lang="ko-KR" sz="3000" b="1">
                <a:solidFill>
                  <a:srgbClr val="1F2D3D"/>
                </a:solidFill>
                <a:latin typeface="맑은 고딕"/>
                <a:ea typeface="맑은 고딕"/>
                <a:cs typeface="맑은 고딕"/>
              </a:rPr>
              <a:t>성능 개선</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9</a:t>
            </a:r>
          </a:p>
        </p:txBody>
      </p:sp>
      <p:sp>
        <p:nvSpPr>
          <p:cNvPr id="5" name="Rounded Rectangle 4"/>
          <p:cNvSpPr/>
          <p:nvPr/>
        </p:nvSpPr>
        <p:spPr>
          <a:xfrm>
            <a:off x="731520" y="1463040"/>
            <a:ext cx="5120640" cy="4754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051560" y="1645920"/>
            <a:ext cx="457200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상태 깜빡임</a:t>
            </a:r>
            <a:r>
              <a:rPr lang="ko-KR" sz="1200" b="0">
                <a:solidFill>
                  <a:srgbClr val="6B7480"/>
                </a:solidFill>
                <a:latin typeface="맑은 고딕"/>
                <a:ea typeface="맑은 고딕"/>
                <a:cs typeface="맑은 고딕"/>
              </a:rPr>
              <a:t>   1초 안에 다시 뒤집힌 상태 전환 비율</a:t>
            </a:r>
          </a:p>
        </p:txBody>
      </p:sp>
      <p:graphicFrame>
        <p:nvGraphicFramePr>
          <p:cNvPr id="7" name="Chart 6"/>
          <p:cNvGraphicFramePr>
            <a:graphicFrameLocks noGrp="1"/>
          </p:cNvGraphicFramePr>
          <p:nvPr/>
        </p:nvGraphicFramePr>
        <p:xfrm>
          <a:off x="1051560" y="2148840"/>
          <a:ext cx="448056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1051560" y="5303520"/>
            <a:ext cx="4572000" cy="731520"/>
          </a:xfrm>
          <a:prstGeom prst="rect">
            <a:avLst/>
          </a:prstGeom>
          <a:noFill/>
        </p:spPr>
        <p:txBody>
          <a:bodyPr wrap="square" lIns="0" tIns="0" rIns="0" bIns="0" anchor="t">
            <a:spAutoFit/>
          </a:bodyPr>
          <a:lstStyle/>
          <a:p>
            <a:pPr algn="l">
              <a:lnSpc>
                <a:spcPct val="120000"/>
              </a:lnSpc>
              <a:spcAft>
                <a:spcPts val="0"/>
              </a:spcAft>
            </a:pPr>
            <a:r>
              <a:rPr lang="ko-KR" sz="1200" b="0">
                <a:solidFill>
                  <a:srgbClr val="6B7480"/>
                </a:solidFill>
                <a:latin typeface="맑은 고딕"/>
                <a:ea typeface="맑은 고딕"/>
                <a:cs typeface="맑은 고딕"/>
              </a:rPr>
              <a:t>깜빡임 필터 적용 (위험 쪽 즉시, 안전 쪽 1초 유지)</a:t>
            </a:r>
          </a:p>
          <a:p>
            <a:pPr algn="l">
              <a:lnSpc>
                <a:spcPct val="120000"/>
              </a:lnSpc>
              <a:spcAft>
                <a:spcPts val="0"/>
              </a:spcAft>
            </a:pPr>
            <a:r>
              <a:rPr lang="ko-KR" sz="1200" b="0">
                <a:solidFill>
                  <a:srgbClr val="6B7480"/>
                </a:solidFill>
                <a:latin typeface="맑은 고딕"/>
                <a:ea typeface="맑은 고딕"/>
                <a:cs typeface="맑은 고딕"/>
              </a:rPr>
              <a:t>DB 로그 1,716건 / 507건으로 계산</a:t>
            </a:r>
          </a:p>
        </p:txBody>
      </p:sp>
      <p:sp>
        <p:nvSpPr>
          <p:cNvPr id="9" name="Rounded Rectangle 8"/>
          <p:cNvSpPr/>
          <p:nvPr/>
        </p:nvSpPr>
        <p:spPr>
          <a:xfrm>
            <a:off x="6355080" y="1463040"/>
            <a:ext cx="5120640" cy="4754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75120" y="1645920"/>
            <a:ext cx="4572000" cy="365760"/>
          </a:xfrm>
          <a:prstGeom prst="rect">
            <a:avLst/>
          </a:prstGeom>
          <a:noFill/>
        </p:spPr>
        <p:txBody>
          <a:bodyPr wrap="square" lIns="0" tIns="0" rIns="0" bIns="0" anchor="t">
            <a:spAutoFit/>
          </a:bodyPr>
          <a:lstStyle/>
          <a:p>
            <a:pPr algn="l">
              <a:lnSpc>
                <a:spcPct val="115000"/>
              </a:lnSpc>
              <a:spcAft>
                <a:spcPts val="0"/>
              </a:spcAft>
            </a:pPr>
            <a:r>
              <a:rPr lang="ko-KR" sz="1900" b="1">
                <a:solidFill>
                  <a:srgbClr val="1F2D3D"/>
                </a:solidFill>
                <a:latin typeface="맑은 고딕"/>
                <a:ea typeface="맑은 고딕"/>
                <a:cs typeface="맑은 고딕"/>
              </a:rPr>
              <a:t>CPU 사용률</a:t>
            </a:r>
            <a:r>
              <a:rPr lang="ko-KR" sz="1200" b="0">
                <a:solidFill>
                  <a:srgbClr val="6B7480"/>
                </a:solidFill>
                <a:latin typeface="맑은 고딕"/>
                <a:ea typeface="맑은 고딕"/>
                <a:cs typeface="맑은 고딕"/>
              </a:rPr>
              <a:t>   코어 1개 = 100%</a:t>
            </a:r>
          </a:p>
        </p:txBody>
      </p:sp>
      <p:graphicFrame>
        <p:nvGraphicFramePr>
          <p:cNvPr id="11" name="Chart 10"/>
          <p:cNvGraphicFramePr>
            <a:graphicFrameLocks noGrp="1"/>
          </p:cNvGraphicFramePr>
          <p:nvPr/>
        </p:nvGraphicFramePr>
        <p:xfrm>
          <a:off x="6675120" y="2148840"/>
          <a:ext cx="448056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6675120" y="5303520"/>
            <a:ext cx="4572000" cy="731520"/>
          </a:xfrm>
          <a:prstGeom prst="rect">
            <a:avLst/>
          </a:prstGeom>
          <a:noFill/>
        </p:spPr>
        <p:txBody>
          <a:bodyPr wrap="square" lIns="0" tIns="0" rIns="0" bIns="0" anchor="t">
            <a:spAutoFit/>
          </a:bodyPr>
          <a:lstStyle/>
          <a:p>
            <a:pPr algn="l">
              <a:lnSpc>
                <a:spcPct val="120000"/>
              </a:lnSpc>
              <a:spcAft>
                <a:spcPts val="0"/>
              </a:spcAft>
            </a:pPr>
            <a:r>
              <a:rPr lang="ko-KR" sz="1200" b="0">
                <a:solidFill>
                  <a:srgbClr val="6B7480"/>
                </a:solidFill>
                <a:latin typeface="맑은 고딕"/>
                <a:ea typeface="맑은 고딕"/>
                <a:cs typeface="맑은 고딕"/>
              </a:rPr>
              <a:t>검출 시간도 14.03ms → 11.38ms (1.23배 빠름)</a:t>
            </a:r>
          </a:p>
          <a:p>
            <a:pPr algn="l">
              <a:lnSpc>
                <a:spcPct val="120000"/>
              </a:lnSpc>
              <a:spcAft>
                <a:spcPts val="0"/>
              </a:spcAft>
            </a:pPr>
            <a:r>
              <a:rPr lang="ko-KR" sz="1200" b="0">
                <a:solidFill>
                  <a:srgbClr val="6B7480"/>
                </a:solidFill>
                <a:latin typeface="맑은 고딕"/>
                <a:ea typeface="맑은 고딕"/>
                <a:cs typeface="맑은 고딕"/>
              </a:rPr>
              <a:t>TensorRT는 따로 측정했고, 메인 프로그램 적용은 다음 단계</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Graphic spid="7" grpId="0">
        <p:bldAsOne/>
      </p:bldGraphic>
      <p:bldP spid="8" grpId="0"/>
      <p:bldP spid="9" grpId="0" animBg="1"/>
      <p:bldP spid="10" grpId="0"/>
      <p:bldGraphic spid="11" grpId="0">
        <p:bldAsOne/>
      </p:bldGraphic>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p:cNvSpPr txBox="1"/>
          <p:nvPr/>
        </p:nvSpPr>
        <p:spPr>
          <a:xfrm>
            <a:off x="640080" y="41148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07  </a:t>
            </a:r>
            <a:r>
              <a:rPr lang="ko-KR" sz="3000" b="1">
                <a:solidFill>
                  <a:srgbClr val="1F2D3D"/>
                </a:solidFill>
                <a:latin typeface="맑은 고딕"/>
                <a:ea typeface="맑은 고딕"/>
                <a:cs typeface="맑은 고딕"/>
              </a:rPr>
              <a:t>개선 방향</a:t>
            </a:r>
          </a:p>
        </p:txBody>
      </p:sp>
      <p:sp>
        <p:nvSpPr>
          <p:cNvPr id="3" name="TextBox 2"/>
          <p:cNvSpPr txBox="1"/>
          <p:nvPr/>
        </p:nvSpPr>
        <p:spPr>
          <a:xfrm>
            <a:off x="640080" y="6400800"/>
            <a:ext cx="2743200" cy="274320"/>
          </a:xfrm>
          <a:prstGeom prst="rect">
            <a:avLst/>
          </a:prstGeom>
          <a:noFill/>
        </p:spPr>
        <p:txBody>
          <a:bodyPr wrap="square" lIns="0" tIns="0" rIns="0" bIns="0" anchor="t">
            <a:spAutoFit/>
          </a:bodyPr>
          <a:lstStyle/>
          <a:p>
            <a:pPr algn="l">
              <a:lnSpc>
                <a:spcPct val="115000"/>
              </a:lnSpc>
              <a:spcAft>
                <a:spcPts val="0"/>
              </a:spcAft>
            </a:pPr>
            <a:r>
              <a:rPr lang="ko-KR" sz="1000" b="0">
                <a:solidFill>
                  <a:srgbClr val="6B7480"/>
                </a:solidFill>
                <a:latin typeface="맑은 고딕"/>
                <a:ea typeface="맑은 고딕"/>
                <a:cs typeface="맑은 고딕"/>
              </a:rPr>
              <a:t>Dokkab</a:t>
            </a:r>
          </a:p>
        </p:txBody>
      </p:sp>
      <p:sp>
        <p:nvSpPr>
          <p:cNvPr id="4" name="TextBox 3"/>
          <p:cNvSpPr txBox="1"/>
          <p:nvPr/>
        </p:nvSpPr>
        <p:spPr>
          <a:xfrm>
            <a:off x="10607040" y="6400800"/>
            <a:ext cx="914400" cy="274320"/>
          </a:xfrm>
          <a:prstGeom prst="rect">
            <a:avLst/>
          </a:prstGeom>
          <a:noFill/>
        </p:spPr>
        <p:txBody>
          <a:bodyPr wrap="square" lIns="0" tIns="0" rIns="0" bIns="0" anchor="t">
            <a:spAutoFit/>
          </a:bodyPr>
          <a:lstStyle/>
          <a:p>
            <a:pPr algn="r">
              <a:lnSpc>
                <a:spcPct val="115000"/>
              </a:lnSpc>
              <a:spcAft>
                <a:spcPts val="0"/>
              </a:spcAft>
            </a:pPr>
            <a:r>
              <a:rPr lang="ko-KR" sz="1000" b="0">
                <a:solidFill>
                  <a:srgbClr val="6B7480"/>
                </a:solidFill>
                <a:latin typeface="맑은 고딕"/>
                <a:ea typeface="맑은 고딕"/>
                <a:cs typeface="맑은 고딕"/>
              </a:rPr>
              <a:t>10</a:t>
            </a:r>
          </a:p>
        </p:txBody>
      </p:sp>
      <p:sp>
        <p:nvSpPr>
          <p:cNvPr id="5" name="Rounded Rectangle 4"/>
          <p:cNvSpPr/>
          <p:nvPr/>
        </p:nvSpPr>
        <p:spPr>
          <a:xfrm>
            <a:off x="731520" y="1463040"/>
            <a:ext cx="5166360" cy="2103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005840" y="1737360"/>
            <a:ext cx="502920" cy="502920"/>
          </a:xfrm>
          <a:prstGeom prst="ellipse">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600" b="1">
                <a:solidFill>
                  <a:srgbClr val="FFFFFF"/>
                </a:solidFill>
                <a:latin typeface="맑은 고딕"/>
                <a:ea typeface="맑은 고딕"/>
                <a:cs typeface="맑은 고딕"/>
              </a:rPr>
              <a:t>1</a:t>
            </a:r>
          </a:p>
        </p:txBody>
      </p:sp>
      <p:sp>
        <p:nvSpPr>
          <p:cNvPr id="7" name="TextBox 6"/>
          <p:cNvSpPr txBox="1"/>
          <p:nvPr/>
        </p:nvSpPr>
        <p:spPr>
          <a:xfrm>
            <a:off x="1691640" y="1709928"/>
            <a:ext cx="402336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얼굴이 안 보이면 놓친다</a:t>
            </a:r>
          </a:p>
        </p:txBody>
      </p:sp>
      <p:sp>
        <p:nvSpPr>
          <p:cNvPr id="8" name="TextBox 7"/>
          <p:cNvSpPr txBox="1"/>
          <p:nvPr/>
        </p:nvSpPr>
        <p:spPr>
          <a:xfrm>
            <a:off x="1691640" y="2084832"/>
            <a:ext cx="4023360" cy="32004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뒤돌아선 작업자</a:t>
            </a:r>
          </a:p>
        </p:txBody>
      </p:sp>
      <p:sp>
        <p:nvSpPr>
          <p:cNvPr id="9" name="TextBox 8"/>
          <p:cNvSpPr txBox="1"/>
          <p:nvPr/>
        </p:nvSpPr>
        <p:spPr>
          <a:xfrm>
            <a:off x="1691640" y="2560320"/>
            <a:ext cx="4023360" cy="822960"/>
          </a:xfrm>
          <a:prstGeom prst="rect">
            <a:avLst/>
          </a:prstGeom>
          <a:noFill/>
        </p:spPr>
        <p:txBody>
          <a:bodyPr wrap="square" lIns="0" tIns="0" rIns="0" bIns="0" anchor="t">
            <a:spAutoFit/>
          </a:bodyPr>
          <a:lstStyle/>
          <a:p>
            <a:pPr algn="l">
              <a:lnSpc>
                <a:spcPct val="120000"/>
              </a:lnSpc>
              <a:spcAft>
                <a:spcPts val="0"/>
              </a:spcAft>
            </a:pPr>
            <a:r>
              <a:rPr lang="ko-KR" sz="1500" b="1">
                <a:solidFill>
                  <a:srgbClr val="E8742B"/>
                </a:solidFill>
                <a:latin typeface="맑은 고딕"/>
                <a:ea typeface="맑은 고딕"/>
                <a:cs typeface="맑은 고딕"/>
              </a:rPr>
              <a:t>→ </a:t>
            </a:r>
            <a:r>
              <a:rPr lang="ko-KR" sz="1500" b="0">
                <a:solidFill>
                  <a:srgbClr val="2B333D"/>
                </a:solidFill>
                <a:latin typeface="맑은 고딕"/>
                <a:ea typeface="맑은 고딕"/>
                <a:cs typeface="맑은 고딕"/>
              </a:rPr>
              <a:t>사람 전체 검출 모델(YOLO person 등)을 함께 사용</a:t>
            </a:r>
          </a:p>
        </p:txBody>
      </p:sp>
      <p:sp>
        <p:nvSpPr>
          <p:cNvPr id="10" name="Rounded Rectangle 9"/>
          <p:cNvSpPr/>
          <p:nvPr/>
        </p:nvSpPr>
        <p:spPr>
          <a:xfrm>
            <a:off x="6217920" y="1463040"/>
            <a:ext cx="5166360" cy="2103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6492240" y="1737360"/>
            <a:ext cx="502920" cy="502920"/>
          </a:xfrm>
          <a:prstGeom prst="ellipse">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600" b="1">
                <a:solidFill>
                  <a:srgbClr val="FFFFFF"/>
                </a:solidFill>
                <a:latin typeface="맑은 고딕"/>
                <a:ea typeface="맑은 고딕"/>
                <a:cs typeface="맑은 고딕"/>
              </a:rPr>
              <a:t>2</a:t>
            </a:r>
          </a:p>
        </p:txBody>
      </p:sp>
      <p:sp>
        <p:nvSpPr>
          <p:cNvPr id="12" name="TextBox 11"/>
          <p:cNvSpPr txBox="1"/>
          <p:nvPr/>
        </p:nvSpPr>
        <p:spPr>
          <a:xfrm>
            <a:off x="7178040" y="1709928"/>
            <a:ext cx="402336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거리가 짧게 추정된다</a:t>
            </a:r>
          </a:p>
        </p:txBody>
      </p:sp>
      <p:sp>
        <p:nvSpPr>
          <p:cNvPr id="13" name="TextBox 12"/>
          <p:cNvSpPr txBox="1"/>
          <p:nvPr/>
        </p:nvSpPr>
        <p:spPr>
          <a:xfrm>
            <a:off x="7178040" y="2084832"/>
            <a:ext cx="4023360" cy="32004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실제 150cm → 약 81cm</a:t>
            </a:r>
          </a:p>
        </p:txBody>
      </p:sp>
      <p:sp>
        <p:nvSpPr>
          <p:cNvPr id="14" name="TextBox 13"/>
          <p:cNvSpPr txBox="1"/>
          <p:nvPr/>
        </p:nvSpPr>
        <p:spPr>
          <a:xfrm>
            <a:off x="7178040" y="2560320"/>
            <a:ext cx="4023360" cy="822960"/>
          </a:xfrm>
          <a:prstGeom prst="rect">
            <a:avLst/>
          </a:prstGeom>
          <a:noFill/>
        </p:spPr>
        <p:txBody>
          <a:bodyPr wrap="square" lIns="0" tIns="0" rIns="0" bIns="0" anchor="t">
            <a:spAutoFit/>
          </a:bodyPr>
          <a:lstStyle/>
          <a:p>
            <a:pPr algn="l">
              <a:lnSpc>
                <a:spcPct val="120000"/>
              </a:lnSpc>
              <a:spcAft>
                <a:spcPts val="0"/>
              </a:spcAft>
            </a:pPr>
            <a:r>
              <a:rPr lang="ko-KR" sz="1500" b="1">
                <a:solidFill>
                  <a:srgbClr val="E8742B"/>
                </a:solidFill>
                <a:latin typeface="맑은 고딕"/>
                <a:ea typeface="맑은 고딕"/>
                <a:cs typeface="맑은 고딕"/>
              </a:rPr>
              <a:t>→ </a:t>
            </a:r>
            <a:r>
              <a:rPr lang="ko-KR" sz="1500" b="0">
                <a:solidFill>
                  <a:srgbClr val="2B333D"/>
                </a:solidFill>
                <a:latin typeface="맑은 고딕"/>
                <a:ea typeface="맑은 고딕"/>
                <a:cs typeface="맑은 고딕"/>
              </a:rPr>
              <a:t>줄자 위치로 거리식을 다시 맞추고, 70·40·30cm까지 다시 측정</a:t>
            </a:r>
          </a:p>
        </p:txBody>
      </p:sp>
      <p:sp>
        <p:nvSpPr>
          <p:cNvPr id="15" name="Rounded Rectangle 14"/>
          <p:cNvSpPr/>
          <p:nvPr/>
        </p:nvSpPr>
        <p:spPr>
          <a:xfrm>
            <a:off x="731520" y="3840480"/>
            <a:ext cx="5166360" cy="2103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1005840" y="4114800"/>
            <a:ext cx="502920" cy="502920"/>
          </a:xfrm>
          <a:prstGeom prst="ellipse">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600" b="1">
                <a:solidFill>
                  <a:srgbClr val="FFFFFF"/>
                </a:solidFill>
                <a:latin typeface="맑은 고딕"/>
                <a:ea typeface="맑은 고딕"/>
                <a:cs typeface="맑은 고딕"/>
              </a:rPr>
              <a:t>3</a:t>
            </a:r>
          </a:p>
        </p:txBody>
      </p:sp>
      <p:sp>
        <p:nvSpPr>
          <p:cNvPr id="17" name="TextBox 16"/>
          <p:cNvSpPr txBox="1"/>
          <p:nvPr/>
        </p:nvSpPr>
        <p:spPr>
          <a:xfrm>
            <a:off x="1691640" y="4087368"/>
            <a:ext cx="402336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TensorRT가 아직 메인에 없다</a:t>
            </a:r>
          </a:p>
        </p:txBody>
      </p:sp>
      <p:sp>
        <p:nvSpPr>
          <p:cNvPr id="18" name="TextBox 17"/>
          <p:cNvSpPr txBox="1"/>
          <p:nvPr/>
        </p:nvSpPr>
        <p:spPr>
          <a:xfrm>
            <a:off x="1691640" y="4462272"/>
            <a:ext cx="4023360" cy="32004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CPU 558%를 쓰는 중</a:t>
            </a:r>
          </a:p>
        </p:txBody>
      </p:sp>
      <p:sp>
        <p:nvSpPr>
          <p:cNvPr id="19" name="TextBox 18"/>
          <p:cNvSpPr txBox="1"/>
          <p:nvPr/>
        </p:nvSpPr>
        <p:spPr>
          <a:xfrm>
            <a:off x="1691640" y="4937760"/>
            <a:ext cx="4023360" cy="822960"/>
          </a:xfrm>
          <a:prstGeom prst="rect">
            <a:avLst/>
          </a:prstGeom>
          <a:noFill/>
        </p:spPr>
        <p:txBody>
          <a:bodyPr wrap="square" lIns="0" tIns="0" rIns="0" bIns="0" anchor="t">
            <a:spAutoFit/>
          </a:bodyPr>
          <a:lstStyle/>
          <a:p>
            <a:pPr algn="l">
              <a:lnSpc>
                <a:spcPct val="120000"/>
              </a:lnSpc>
              <a:spcAft>
                <a:spcPts val="0"/>
              </a:spcAft>
            </a:pPr>
            <a:r>
              <a:rPr lang="ko-KR" sz="1500" b="1">
                <a:solidFill>
                  <a:srgbClr val="E8742B"/>
                </a:solidFill>
                <a:latin typeface="맑은 고딕"/>
                <a:ea typeface="맑은 고딕"/>
                <a:cs typeface="맑은 고딕"/>
              </a:rPr>
              <a:t>→ </a:t>
            </a:r>
            <a:r>
              <a:rPr lang="ko-KR" sz="1500" b="0">
                <a:solidFill>
                  <a:srgbClr val="2B333D"/>
                </a:solidFill>
                <a:latin typeface="맑은 고딕"/>
                <a:ea typeface="맑은 고딕"/>
                <a:cs typeface="맑은 고딕"/>
              </a:rPr>
              <a:t>엔진을 메인 프로그램에 적용하고, 남는 CPU를 추가 모델에 사용</a:t>
            </a:r>
          </a:p>
        </p:txBody>
      </p:sp>
      <p:sp>
        <p:nvSpPr>
          <p:cNvPr id="20" name="Rounded Rectangle 19"/>
          <p:cNvSpPr/>
          <p:nvPr/>
        </p:nvSpPr>
        <p:spPr>
          <a:xfrm>
            <a:off x="6217920" y="3840480"/>
            <a:ext cx="5166360" cy="2103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6492240" y="4114800"/>
            <a:ext cx="502920" cy="502920"/>
          </a:xfrm>
          <a:prstGeom prst="ellipse">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lnSpc>
                <a:spcPct val="110000"/>
              </a:lnSpc>
            </a:pPr>
            <a:r>
              <a:rPr lang="ko-KR" sz="1600" b="1">
                <a:solidFill>
                  <a:srgbClr val="FFFFFF"/>
                </a:solidFill>
                <a:latin typeface="맑은 고딕"/>
                <a:ea typeface="맑은 고딕"/>
                <a:cs typeface="맑은 고딕"/>
              </a:rPr>
              <a:t>4</a:t>
            </a:r>
          </a:p>
        </p:txBody>
      </p:sp>
      <p:sp>
        <p:nvSpPr>
          <p:cNvPr id="22" name="TextBox 21"/>
          <p:cNvSpPr txBox="1"/>
          <p:nvPr/>
        </p:nvSpPr>
        <p:spPr>
          <a:xfrm>
            <a:off x="7178040" y="4087368"/>
            <a:ext cx="4023360" cy="365760"/>
          </a:xfrm>
          <a:prstGeom prst="rect">
            <a:avLst/>
          </a:prstGeom>
          <a:noFill/>
        </p:spPr>
        <p:txBody>
          <a:bodyPr wrap="square" lIns="0" tIns="0" rIns="0" bIns="0" anchor="t">
            <a:spAutoFit/>
          </a:bodyPr>
          <a:lstStyle/>
          <a:p>
            <a:pPr algn="l">
              <a:lnSpc>
                <a:spcPct val="115000"/>
              </a:lnSpc>
              <a:spcAft>
                <a:spcPts val="0"/>
              </a:spcAft>
            </a:pPr>
            <a:r>
              <a:rPr lang="ko-KR" sz="1700" b="1">
                <a:solidFill>
                  <a:srgbClr val="1F2D3D"/>
                </a:solidFill>
                <a:latin typeface="맑은 고딕"/>
                <a:ea typeface="맑은 고딕"/>
                <a:cs typeface="맑은 고딕"/>
              </a:rPr>
              <a:t>하드웨어가 불안정하다</a:t>
            </a:r>
          </a:p>
        </p:txBody>
      </p:sp>
      <p:sp>
        <p:nvSpPr>
          <p:cNvPr id="23" name="TextBox 22"/>
          <p:cNvSpPr txBox="1"/>
          <p:nvPr/>
        </p:nvSpPr>
        <p:spPr>
          <a:xfrm>
            <a:off x="7178040" y="4462272"/>
            <a:ext cx="4023360" cy="320040"/>
          </a:xfrm>
          <a:prstGeom prst="rect">
            <a:avLst/>
          </a:prstGeom>
          <a:noFill/>
        </p:spPr>
        <p:txBody>
          <a:bodyPr wrap="square" lIns="0" tIns="0" rIns="0" bIns="0" anchor="t">
            <a:spAutoFit/>
          </a:bodyPr>
          <a:lstStyle/>
          <a:p>
            <a:pPr algn="l">
              <a:lnSpc>
                <a:spcPct val="115000"/>
              </a:lnSpc>
              <a:spcAft>
                <a:spcPts val="0"/>
              </a:spcAft>
            </a:pPr>
            <a:r>
              <a:rPr lang="ko-KR" sz="1300" b="0">
                <a:solidFill>
                  <a:srgbClr val="6B7480"/>
                </a:solidFill>
                <a:latin typeface="맑은 고딕"/>
                <a:ea typeface="맑은 고딕"/>
                <a:cs typeface="맑은 고딕"/>
              </a:rPr>
              <a:t>모터 입력 1개 미연결, 웹캠 멈춤</a:t>
            </a:r>
          </a:p>
        </p:txBody>
      </p:sp>
      <p:sp>
        <p:nvSpPr>
          <p:cNvPr id="24" name="TextBox 23"/>
          <p:cNvSpPr txBox="1"/>
          <p:nvPr/>
        </p:nvSpPr>
        <p:spPr>
          <a:xfrm>
            <a:off x="7178040" y="4937760"/>
            <a:ext cx="4023360" cy="822960"/>
          </a:xfrm>
          <a:prstGeom prst="rect">
            <a:avLst/>
          </a:prstGeom>
          <a:noFill/>
        </p:spPr>
        <p:txBody>
          <a:bodyPr wrap="square" lIns="0" tIns="0" rIns="0" bIns="0" anchor="t">
            <a:spAutoFit/>
          </a:bodyPr>
          <a:lstStyle/>
          <a:p>
            <a:pPr algn="l">
              <a:lnSpc>
                <a:spcPct val="120000"/>
              </a:lnSpc>
              <a:spcAft>
                <a:spcPts val="0"/>
              </a:spcAft>
            </a:pPr>
            <a:r>
              <a:rPr lang="ko-KR" sz="1500" b="1">
                <a:solidFill>
                  <a:srgbClr val="E8742B"/>
                </a:solidFill>
                <a:latin typeface="맑은 고딕"/>
                <a:ea typeface="맑은 고딕"/>
                <a:cs typeface="맑은 고딕"/>
              </a:rPr>
              <a:t>→ </a:t>
            </a:r>
            <a:r>
              <a:rPr lang="ko-KR" sz="1500" b="0">
                <a:solidFill>
                  <a:srgbClr val="2B333D"/>
                </a:solidFill>
                <a:latin typeface="맑은 고딕"/>
                <a:ea typeface="맑은 고딕"/>
                <a:cs typeface="맑은 고딕"/>
              </a:rPr>
              <a:t>모터 드라이버 배선 확정, 웹캠 자동 재연결</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p:bldP spid="8" grpId="0"/>
      <p:bldP spid="9" grpId="0"/>
      <p:bldP spid="10" grpId="0" animBg="1"/>
      <p:bldP spid="11" grpId="0" animBg="1"/>
      <p:bldP spid="12" grpId="0"/>
      <p:bldP spid="13" grpId="0"/>
      <p:bldP spid="14" grpId="0"/>
      <p:bldP spid="15" grpId="0" animBg="1"/>
      <p:bldP spid="16" grpId="0" animBg="1"/>
      <p:bldP spid="17" grpId="0"/>
      <p:bldP spid="18" grpId="0"/>
      <p:bldP spid="19" grpId="0"/>
      <p:bldP spid="20" grpId="0" animBg="1"/>
      <p:bldP spid="21" grpId="0" animBg="1"/>
      <p:bldP spid="22" grpId="0"/>
      <p:bldP spid="23"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548640"/>
            <a:ext cx="10058400" cy="640080"/>
          </a:xfrm>
          <a:prstGeom prst="rect">
            <a:avLst/>
          </a:prstGeom>
          <a:noFill/>
        </p:spPr>
        <p:txBody>
          <a:bodyPr wrap="square" lIns="0" tIns="0" rIns="0" bIns="0" anchor="t">
            <a:spAutoFit/>
          </a:bodyPr>
          <a:lstStyle/>
          <a:p>
            <a:pPr algn="l">
              <a:lnSpc>
                <a:spcPct val="115000"/>
              </a:lnSpc>
              <a:spcAft>
                <a:spcPts val="0"/>
              </a:spcAft>
            </a:pPr>
            <a:r>
              <a:rPr lang="ko-KR" sz="3000" b="1">
                <a:solidFill>
                  <a:srgbClr val="E8742B"/>
                </a:solidFill>
                <a:latin typeface="맑은 고딕"/>
                <a:ea typeface="맑은 고딕"/>
                <a:cs typeface="맑은 고딕"/>
              </a:rPr>
              <a:t>08  </a:t>
            </a:r>
            <a:r>
              <a:rPr lang="ko-KR" sz="3000" b="1">
                <a:solidFill>
                  <a:srgbClr val="1F2D3D"/>
                </a:solidFill>
                <a:latin typeface="맑은 고딕"/>
                <a:ea typeface="맑은 고딕"/>
                <a:cs typeface="맑은 고딕"/>
              </a:rPr>
              <a:t>프로젝트 소감</a:t>
            </a:r>
          </a:p>
        </p:txBody>
      </p:sp>
      <p:sp>
        <p:nvSpPr>
          <p:cNvPr id="3" name="TextBox 2"/>
          <p:cNvSpPr txBox="1"/>
          <p:nvPr/>
        </p:nvSpPr>
        <p:spPr>
          <a:xfrm>
            <a:off x="731520" y="1234440"/>
            <a:ext cx="10058400" cy="257058"/>
          </a:xfrm>
          <a:prstGeom prst="rect">
            <a:avLst/>
          </a:prstGeom>
          <a:noFill/>
        </p:spPr>
        <p:txBody>
          <a:bodyPr wrap="square" lIns="0" tIns="0" rIns="0" bIns="0" anchor="t">
            <a:spAutoFit/>
          </a:bodyPr>
          <a:lstStyle/>
          <a:p>
            <a:pPr algn="l">
              <a:lnSpc>
                <a:spcPct val="115000"/>
              </a:lnSpc>
              <a:spcAft>
                <a:spcPts val="0"/>
              </a:spcAft>
            </a:pPr>
            <a:r>
              <a:rPr lang="ko-KR" altLang="en-US" sz="1600" b="1">
                <a:solidFill>
                  <a:srgbClr val="E8742B"/>
                </a:solidFill>
                <a:latin typeface="맑은 고딕"/>
                <a:ea typeface="맑은 고딕"/>
                <a:cs typeface="맑은 고딕"/>
              </a:rPr>
              <a:t>개인 소감</a:t>
            </a:r>
            <a:endParaRPr lang="ko-KR" sz="1600" b="1">
              <a:solidFill>
                <a:srgbClr val="E8742B"/>
              </a:solidFill>
              <a:latin typeface="맑은 고딕"/>
              <a:ea typeface="맑은 고딕"/>
              <a:cs typeface="맑은 고딕"/>
            </a:endParaRPr>
          </a:p>
        </p:txBody>
      </p:sp>
      <p:sp>
        <p:nvSpPr>
          <p:cNvPr id="5" name="TextBox 4"/>
          <p:cNvSpPr txBox="1"/>
          <p:nvPr/>
        </p:nvSpPr>
        <p:spPr>
          <a:xfrm>
            <a:off x="731520" y="5989320"/>
            <a:ext cx="5486400" cy="457200"/>
          </a:xfrm>
          <a:prstGeom prst="rect">
            <a:avLst/>
          </a:prstGeom>
          <a:noFill/>
        </p:spPr>
        <p:txBody>
          <a:bodyPr wrap="square" lIns="0" tIns="0" rIns="0" bIns="0" anchor="t">
            <a:spAutoFit/>
          </a:bodyPr>
          <a:lstStyle/>
          <a:p>
            <a:pPr algn="l">
              <a:lnSpc>
                <a:spcPct val="115000"/>
              </a:lnSpc>
              <a:spcAft>
                <a:spcPts val="0"/>
              </a:spcAft>
            </a:pPr>
            <a:r>
              <a:rPr lang="ko-KR" sz="2000" b="1">
                <a:solidFill>
                  <a:srgbClr val="E8742B"/>
                </a:solidFill>
                <a:latin typeface="맑은 고딕"/>
                <a:ea typeface="맑은 고딕"/>
                <a:cs typeface="맑은 고딕"/>
              </a:rPr>
              <a:t>감사합니다</a:t>
            </a:r>
          </a:p>
        </p:txBody>
      </p:sp>
      <p:grpSp>
        <p:nvGrpSpPr>
          <p:cNvPr id="23" name="전종현 얼굴">
            <a:extLst>
              <a:ext uri="{FF2B5EF4-FFF2-40B4-BE49-F238E27FC236}">
                <a16:creationId xmlns:a16="http://schemas.microsoft.com/office/drawing/2014/main" id="{A579F60E-752C-B694-92FE-43C09CDDC617}"/>
              </a:ext>
            </a:extLst>
          </p:cNvPr>
          <p:cNvGrpSpPr/>
          <p:nvPr/>
        </p:nvGrpSpPr>
        <p:grpSpPr>
          <a:xfrm>
            <a:off x="1869948" y="1645920"/>
            <a:ext cx="1060704" cy="1280160"/>
            <a:chOff x="1869948" y="1920240"/>
            <a:chExt cx="1060704" cy="1280160"/>
          </a:xfrm>
        </p:grpSpPr>
        <p:sp>
          <p:nvSpPr>
            <p:cNvPr id="6" name="Round Same Side Corner Rectangle 53">
              <a:extLst>
                <a:ext uri="{FF2B5EF4-FFF2-40B4-BE49-F238E27FC236}">
                  <a16:creationId xmlns:a16="http://schemas.microsoft.com/office/drawing/2014/main" id="{48174006-F2A2-60B3-B30F-A90A44F1B634}"/>
                </a:ext>
              </a:extLst>
            </p:cNvPr>
            <p:cNvSpPr/>
            <p:nvPr/>
          </p:nvSpPr>
          <p:spPr>
            <a:xfrm>
              <a:off x="1943100" y="2743200"/>
              <a:ext cx="914400" cy="457200"/>
            </a:xfrm>
            <a:prstGeom prst="round2SameRect">
              <a:avLst>
                <a:gd name="adj1" fmla="val 50000"/>
                <a:gd name="adj2" fmla="val 0"/>
              </a:avLst>
            </a:prstGeom>
            <a:solidFill>
              <a:srgbClr val="FFFFFF"/>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54">
              <a:extLst>
                <a:ext uri="{FF2B5EF4-FFF2-40B4-BE49-F238E27FC236}">
                  <a16:creationId xmlns:a16="http://schemas.microsoft.com/office/drawing/2014/main" id="{D9C5DF0C-8DD1-2DB7-6B52-13D6E27EBA89}"/>
                </a:ext>
              </a:extLst>
            </p:cNvPr>
            <p:cNvSpPr/>
            <p:nvPr/>
          </p:nvSpPr>
          <p:spPr>
            <a:xfrm>
              <a:off x="1924812" y="1920240"/>
              <a:ext cx="256032" cy="292608"/>
            </a:xfrm>
            <a:prstGeom prst="ellipse">
              <a:avLst/>
            </a:prstGeom>
            <a:solidFill>
              <a:srgbClr val="BFCBD9"/>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55">
              <a:extLst>
                <a:ext uri="{FF2B5EF4-FFF2-40B4-BE49-F238E27FC236}">
                  <a16:creationId xmlns:a16="http://schemas.microsoft.com/office/drawing/2014/main" id="{945324E2-5A85-9EA9-28B8-62E00EEF99C0}"/>
                </a:ext>
              </a:extLst>
            </p:cNvPr>
            <p:cNvSpPr/>
            <p:nvPr/>
          </p:nvSpPr>
          <p:spPr>
            <a:xfrm>
              <a:off x="1997964" y="1984248"/>
              <a:ext cx="109728" cy="146304"/>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56">
              <a:extLst>
                <a:ext uri="{FF2B5EF4-FFF2-40B4-BE49-F238E27FC236}">
                  <a16:creationId xmlns:a16="http://schemas.microsoft.com/office/drawing/2014/main" id="{6801BF0D-E314-DE33-790C-1AD732581245}"/>
                </a:ext>
              </a:extLst>
            </p:cNvPr>
            <p:cNvSpPr/>
            <p:nvPr/>
          </p:nvSpPr>
          <p:spPr>
            <a:xfrm>
              <a:off x="2619756" y="1920240"/>
              <a:ext cx="256032" cy="292608"/>
            </a:xfrm>
            <a:prstGeom prst="ellipse">
              <a:avLst/>
            </a:prstGeom>
            <a:solidFill>
              <a:srgbClr val="BFCBD9"/>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57">
              <a:extLst>
                <a:ext uri="{FF2B5EF4-FFF2-40B4-BE49-F238E27FC236}">
                  <a16:creationId xmlns:a16="http://schemas.microsoft.com/office/drawing/2014/main" id="{768BFBAC-165E-B20F-C732-E74978A3E09E}"/>
                </a:ext>
              </a:extLst>
            </p:cNvPr>
            <p:cNvSpPr/>
            <p:nvPr/>
          </p:nvSpPr>
          <p:spPr>
            <a:xfrm>
              <a:off x="2692908" y="1984248"/>
              <a:ext cx="109728" cy="146304"/>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58">
              <a:extLst>
                <a:ext uri="{FF2B5EF4-FFF2-40B4-BE49-F238E27FC236}">
                  <a16:creationId xmlns:a16="http://schemas.microsoft.com/office/drawing/2014/main" id="{0450807E-077A-48DD-D3D7-D3774EC85904}"/>
                </a:ext>
              </a:extLst>
            </p:cNvPr>
            <p:cNvSpPr/>
            <p:nvPr/>
          </p:nvSpPr>
          <p:spPr>
            <a:xfrm>
              <a:off x="1869948" y="2011680"/>
              <a:ext cx="1060704" cy="868680"/>
            </a:xfrm>
            <a:prstGeom prst="ellipse">
              <a:avLst/>
            </a:prstGeom>
            <a:solidFill>
              <a:srgbClr val="FFFFFF"/>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hord 59">
              <a:extLst>
                <a:ext uri="{FF2B5EF4-FFF2-40B4-BE49-F238E27FC236}">
                  <a16:creationId xmlns:a16="http://schemas.microsoft.com/office/drawing/2014/main" id="{64E39A33-27A1-5665-3C87-AFA57E7AD159}"/>
                </a:ext>
              </a:extLst>
            </p:cNvPr>
            <p:cNvSpPr/>
            <p:nvPr/>
          </p:nvSpPr>
          <p:spPr>
            <a:xfrm>
              <a:off x="1869948" y="2011680"/>
              <a:ext cx="1060704" cy="868680"/>
            </a:xfrm>
            <a:prstGeom prst="chord">
              <a:avLst>
                <a:gd name="adj1" fmla="val 11700000"/>
                <a:gd name="adj2" fmla="val 20700000"/>
              </a:avLst>
            </a:prstGeom>
            <a:solidFill>
              <a:srgbClr val="BFCBD9"/>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60">
              <a:extLst>
                <a:ext uri="{FF2B5EF4-FFF2-40B4-BE49-F238E27FC236}">
                  <a16:creationId xmlns:a16="http://schemas.microsoft.com/office/drawing/2014/main" id="{8423B23D-2678-BA7B-3B0F-59253C19670F}"/>
                </a:ext>
              </a:extLst>
            </p:cNvPr>
            <p:cNvSpPr/>
            <p:nvPr/>
          </p:nvSpPr>
          <p:spPr>
            <a:xfrm>
              <a:off x="1970532" y="2615184"/>
              <a:ext cx="128016" cy="73152"/>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61">
              <a:extLst>
                <a:ext uri="{FF2B5EF4-FFF2-40B4-BE49-F238E27FC236}">
                  <a16:creationId xmlns:a16="http://schemas.microsoft.com/office/drawing/2014/main" id="{46AB99D7-C9E5-C0FC-FF6A-2489E3E2277A}"/>
                </a:ext>
              </a:extLst>
            </p:cNvPr>
            <p:cNvSpPr/>
            <p:nvPr/>
          </p:nvSpPr>
          <p:spPr>
            <a:xfrm>
              <a:off x="2702052" y="2615184"/>
              <a:ext cx="128016" cy="73152"/>
            </a:xfrm>
            <a:prstGeom prst="ellipse">
              <a:avLst/>
            </a:prstGeom>
            <a:solidFill>
              <a:srgbClr val="F4B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62">
              <a:extLst>
                <a:ext uri="{FF2B5EF4-FFF2-40B4-BE49-F238E27FC236}">
                  <a16:creationId xmlns:a16="http://schemas.microsoft.com/office/drawing/2014/main" id="{3883289F-314F-2CC7-F051-977555BCCC58}"/>
                </a:ext>
              </a:extLst>
            </p:cNvPr>
            <p:cNvSpPr/>
            <p:nvPr/>
          </p:nvSpPr>
          <p:spPr>
            <a:xfrm>
              <a:off x="2135124" y="2359152"/>
              <a:ext cx="155448" cy="192024"/>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63">
              <a:extLst>
                <a:ext uri="{FF2B5EF4-FFF2-40B4-BE49-F238E27FC236}">
                  <a16:creationId xmlns:a16="http://schemas.microsoft.com/office/drawing/2014/main" id="{A3D6A0C0-1DFD-2686-7548-0D1ECD921664}"/>
                </a:ext>
              </a:extLst>
            </p:cNvPr>
            <p:cNvSpPr/>
            <p:nvPr/>
          </p:nvSpPr>
          <p:spPr>
            <a:xfrm>
              <a:off x="2162556" y="238658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64">
              <a:extLst>
                <a:ext uri="{FF2B5EF4-FFF2-40B4-BE49-F238E27FC236}">
                  <a16:creationId xmlns:a16="http://schemas.microsoft.com/office/drawing/2014/main" id="{0EA394E3-C99D-884A-B6BA-41EBFF9BE0D9}"/>
                </a:ext>
              </a:extLst>
            </p:cNvPr>
            <p:cNvSpPr/>
            <p:nvPr/>
          </p:nvSpPr>
          <p:spPr>
            <a:xfrm>
              <a:off x="2510028" y="2359152"/>
              <a:ext cx="155448" cy="192024"/>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65">
              <a:extLst>
                <a:ext uri="{FF2B5EF4-FFF2-40B4-BE49-F238E27FC236}">
                  <a16:creationId xmlns:a16="http://schemas.microsoft.com/office/drawing/2014/main" id="{9CFF1398-3DFB-E135-6307-9E864C1189A9}"/>
                </a:ext>
              </a:extLst>
            </p:cNvPr>
            <p:cNvSpPr/>
            <p:nvPr/>
          </p:nvSpPr>
          <p:spPr>
            <a:xfrm>
              <a:off x="2537460" y="238658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66">
              <a:extLst>
                <a:ext uri="{FF2B5EF4-FFF2-40B4-BE49-F238E27FC236}">
                  <a16:creationId xmlns:a16="http://schemas.microsoft.com/office/drawing/2014/main" id="{7344A9CE-FF5B-8D2B-B801-2260BBB38E91}"/>
                </a:ext>
              </a:extLst>
            </p:cNvPr>
            <p:cNvSpPr/>
            <p:nvPr/>
          </p:nvSpPr>
          <p:spPr>
            <a:xfrm>
              <a:off x="2052828" y="2322576"/>
              <a:ext cx="310896" cy="265176"/>
            </a:xfrm>
            <a:prstGeom prst="roundRect">
              <a:avLst>
                <a:gd name="adj" fmla="val 30000"/>
              </a:avLst>
            </a:prstGeom>
            <a:noFill/>
            <a:ln w="381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67">
              <a:extLst>
                <a:ext uri="{FF2B5EF4-FFF2-40B4-BE49-F238E27FC236}">
                  <a16:creationId xmlns:a16="http://schemas.microsoft.com/office/drawing/2014/main" id="{0D6A7333-55F5-AE81-8789-BB0059B74843}"/>
                </a:ext>
              </a:extLst>
            </p:cNvPr>
            <p:cNvSpPr/>
            <p:nvPr/>
          </p:nvSpPr>
          <p:spPr>
            <a:xfrm>
              <a:off x="2436876" y="2322576"/>
              <a:ext cx="310896" cy="265176"/>
            </a:xfrm>
            <a:prstGeom prst="roundRect">
              <a:avLst>
                <a:gd name="adj" fmla="val 30000"/>
              </a:avLst>
            </a:prstGeom>
            <a:noFill/>
            <a:ln w="381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68">
              <a:extLst>
                <a:ext uri="{FF2B5EF4-FFF2-40B4-BE49-F238E27FC236}">
                  <a16:creationId xmlns:a16="http://schemas.microsoft.com/office/drawing/2014/main" id="{3A4BFC81-D839-2BC0-DA48-3604A6BD4801}"/>
                </a:ext>
              </a:extLst>
            </p:cNvPr>
            <p:cNvSpPr/>
            <p:nvPr/>
          </p:nvSpPr>
          <p:spPr>
            <a:xfrm>
              <a:off x="2363724" y="2377440"/>
              <a:ext cx="73152" cy="3657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rc 69">
              <a:extLst>
                <a:ext uri="{FF2B5EF4-FFF2-40B4-BE49-F238E27FC236}">
                  <a16:creationId xmlns:a16="http://schemas.microsoft.com/office/drawing/2014/main" id="{85A4A2B5-C9FC-19E5-EC52-D8033CFE0594}"/>
                </a:ext>
              </a:extLst>
            </p:cNvPr>
            <p:cNvSpPr/>
            <p:nvPr/>
          </p:nvSpPr>
          <p:spPr>
            <a:xfrm>
              <a:off x="2345436" y="2596896"/>
              <a:ext cx="109728" cy="82296"/>
            </a:xfrm>
            <a:prstGeom prst="arc">
              <a:avLst>
                <a:gd name="adj1" fmla="val 1800000"/>
                <a:gd name="adj2" fmla="val 9000000"/>
              </a:avLst>
            </a:prstGeom>
            <a:no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24" name="전종현 이름">
            <a:extLst>
              <a:ext uri="{FF2B5EF4-FFF2-40B4-BE49-F238E27FC236}">
                <a16:creationId xmlns:a16="http://schemas.microsoft.com/office/drawing/2014/main" id="{D4605F43-77A6-E9DD-2B19-537DEEC55292}"/>
              </a:ext>
            </a:extLst>
          </p:cNvPr>
          <p:cNvSpPr txBox="1"/>
          <p:nvPr/>
        </p:nvSpPr>
        <p:spPr>
          <a:xfrm>
            <a:off x="731520" y="2926080"/>
            <a:ext cx="3337560" cy="369332"/>
          </a:xfrm>
          <a:prstGeom prst="rect">
            <a:avLst/>
          </a:prstGeom>
          <a:noFill/>
        </p:spPr>
        <p:txBody>
          <a:bodyPr vert="horz" rtlCol="0">
            <a:spAutoFit/>
          </a:bodyPr>
          <a:lstStyle/>
          <a:p>
            <a:pPr algn="ctr"/>
            <a:r>
              <a:rPr lang="ko-KR" altLang="en-US" b="1">
                <a:solidFill>
                  <a:srgbClr val="1F2D3D"/>
                </a:solidFill>
                <a:latin typeface="맑은 고딕" panose="020B0503020000020004" pitchFamily="50" charset="-127"/>
              </a:rPr>
              <a:t>전종현</a:t>
            </a:r>
            <a:r>
              <a:rPr lang="ko-KR" altLang="en-US" sz="1400" b="1">
                <a:solidFill>
                  <a:srgbClr val="E8742B"/>
                </a:solidFill>
                <a:latin typeface="맑은 고딕" panose="020B0503020000020004" pitchFamily="50" charset="-127"/>
              </a:rPr>
              <a:t>  </a:t>
            </a:r>
            <a:r>
              <a:rPr lang="en-US" altLang="ko-KR" sz="1400" b="1">
                <a:solidFill>
                  <a:srgbClr val="E8742B"/>
                </a:solidFill>
                <a:latin typeface="맑은 고딕" panose="020B0503020000020004" pitchFamily="50" charset="-127"/>
              </a:rPr>
              <a:t>·  </a:t>
            </a:r>
            <a:r>
              <a:rPr lang="ko-KR" altLang="en-US" sz="1400" b="1">
                <a:solidFill>
                  <a:srgbClr val="E8742B"/>
                </a:solidFill>
                <a:latin typeface="맑은 고딕" panose="020B0503020000020004" pitchFamily="50" charset="-127"/>
              </a:rPr>
              <a:t>팀장</a:t>
            </a:r>
          </a:p>
        </p:txBody>
      </p:sp>
      <p:sp>
        <p:nvSpPr>
          <p:cNvPr id="25" name="전종현 소감">
            <a:extLst>
              <a:ext uri="{FF2B5EF4-FFF2-40B4-BE49-F238E27FC236}">
                <a16:creationId xmlns:a16="http://schemas.microsoft.com/office/drawing/2014/main" id="{6E373576-91B5-891C-AEEA-EDC10938A454}"/>
              </a:ext>
            </a:extLst>
          </p:cNvPr>
          <p:cNvSpPr txBox="1"/>
          <p:nvPr/>
        </p:nvSpPr>
        <p:spPr>
          <a:xfrm>
            <a:off x="868680" y="3429000"/>
            <a:ext cx="3063240" cy="1911677"/>
          </a:xfrm>
          <a:prstGeom prst="rect">
            <a:avLst/>
          </a:prstGeom>
          <a:noFill/>
        </p:spPr>
        <p:txBody>
          <a:bodyPr vert="horz" wrap="square" rtlCol="0">
            <a:spAutoFit/>
          </a:bodyPr>
          <a:lstStyle/>
          <a:p>
            <a:pPr>
              <a:lnSpc>
                <a:spcPct val="115000"/>
              </a:lnSpc>
            </a:pPr>
            <a:r>
              <a:rPr lang="ko-KR" altLang="en-US" sz="1300">
                <a:solidFill>
                  <a:srgbClr val="2B333D"/>
                </a:solidFill>
                <a:latin typeface="맑은 고딕" panose="020B0503020000020004" pitchFamily="50" charset="-127"/>
              </a:rPr>
              <a:t>팀장으로 전체 구조를 짜고 상태 판단</a:t>
            </a:r>
            <a:r>
              <a:rPr lang="en-US" altLang="ko-KR" sz="1300">
                <a:solidFill>
                  <a:srgbClr val="2B333D"/>
                </a:solidFill>
                <a:latin typeface="맑은 고딕" panose="020B0503020000020004" pitchFamily="50" charset="-127"/>
              </a:rPr>
              <a:t>, </a:t>
            </a:r>
            <a:r>
              <a:rPr lang="ko-KR" altLang="en-US" sz="1300">
                <a:solidFill>
                  <a:srgbClr val="2B333D"/>
                </a:solidFill>
                <a:latin typeface="맑은 고딕" panose="020B0503020000020004" pitchFamily="50" charset="-127"/>
              </a:rPr>
              <a:t>대시보드</a:t>
            </a:r>
            <a:r>
              <a:rPr lang="en-US" altLang="ko-KR" sz="1300">
                <a:solidFill>
                  <a:srgbClr val="2B333D"/>
                </a:solidFill>
                <a:latin typeface="맑은 고딕" panose="020B0503020000020004" pitchFamily="50" charset="-127"/>
              </a:rPr>
              <a:t>, </a:t>
            </a:r>
            <a:r>
              <a:rPr lang="ko-KR" altLang="en-US" sz="1300">
                <a:solidFill>
                  <a:srgbClr val="2B333D"/>
                </a:solidFill>
                <a:latin typeface="맑은 고딕" panose="020B0503020000020004" pitchFamily="50" charset="-127"/>
              </a:rPr>
              <a:t>통합을 맡았습니다</a:t>
            </a:r>
            <a:r>
              <a:rPr lang="en-US" altLang="ko-KR" sz="1300">
                <a:solidFill>
                  <a:srgbClr val="2B333D"/>
                </a:solidFill>
                <a:latin typeface="맑은 고딕" panose="020B0503020000020004" pitchFamily="50" charset="-127"/>
              </a:rPr>
              <a:t>. </a:t>
            </a:r>
            <a:r>
              <a:rPr lang="ko-KR" altLang="en-US" sz="1300">
                <a:solidFill>
                  <a:srgbClr val="2B333D"/>
                </a:solidFill>
                <a:latin typeface="맑은 고딕" panose="020B0503020000020004" pitchFamily="50" charset="-127"/>
              </a:rPr>
              <a:t>각자 만든 부분을 </a:t>
            </a:r>
            <a:r>
              <a:rPr lang="en-US" altLang="ko-KR" sz="1300">
                <a:solidFill>
                  <a:srgbClr val="2B333D"/>
                </a:solidFill>
                <a:latin typeface="맑은 고딕" panose="020B0503020000020004" pitchFamily="50" charset="-127"/>
              </a:rPr>
              <a:t>Jetson</a:t>
            </a:r>
            <a:r>
              <a:rPr lang="ko-KR" altLang="en-US" sz="1300">
                <a:solidFill>
                  <a:srgbClr val="2B333D"/>
                </a:solidFill>
                <a:latin typeface="맑은 고딕" panose="020B0503020000020004" pitchFamily="50" charset="-127"/>
              </a:rPr>
              <a:t>에서 하나로 합칠 때 코드보다 실행 위치나 뒤에서 돌던 프로그램 때문에 막힌 적이 많았습니다</a:t>
            </a:r>
            <a:r>
              <a:rPr lang="en-US" altLang="ko-KR" sz="1300">
                <a:solidFill>
                  <a:srgbClr val="2B333D"/>
                </a:solidFill>
                <a:latin typeface="맑은 고딕" panose="020B0503020000020004" pitchFamily="50" charset="-127"/>
              </a:rPr>
              <a:t>. </a:t>
            </a:r>
            <a:r>
              <a:rPr lang="ko-KR" altLang="en-US" sz="1300">
                <a:solidFill>
                  <a:srgbClr val="2B333D"/>
                </a:solidFill>
                <a:latin typeface="맑은 고딕" panose="020B0503020000020004" pitchFamily="50" charset="-127"/>
              </a:rPr>
              <a:t>현장 정확도 </a:t>
            </a:r>
            <a:r>
              <a:rPr lang="en-US" altLang="ko-KR" sz="1300">
                <a:solidFill>
                  <a:srgbClr val="2B333D"/>
                </a:solidFill>
                <a:latin typeface="맑은 고딕" panose="020B0503020000020004" pitchFamily="50" charset="-127"/>
              </a:rPr>
              <a:t>29%</a:t>
            </a:r>
            <a:r>
              <a:rPr lang="ko-KR" altLang="en-US" sz="1300">
                <a:solidFill>
                  <a:srgbClr val="2B333D"/>
                </a:solidFill>
                <a:latin typeface="맑은 고딕" panose="020B0503020000020004" pitchFamily="50" charset="-127"/>
              </a:rPr>
              <a:t>를 그대로 기록하고 원인을 나눠 본 덕분에 다음에 고칠 점이 분명해졌습니다</a:t>
            </a:r>
            <a:r>
              <a:rPr lang="en-US" altLang="ko-KR" sz="1300">
                <a:solidFill>
                  <a:srgbClr val="2B333D"/>
                </a:solidFill>
                <a:latin typeface="맑은 고딕" panose="020B0503020000020004" pitchFamily="50" charset="-127"/>
              </a:rPr>
              <a:t>.</a:t>
            </a:r>
            <a:endParaRPr lang="ko-KR" altLang="en-US" sz="1300">
              <a:solidFill>
                <a:srgbClr val="2B333D"/>
              </a:solidFill>
              <a:latin typeface="맑은 고딕" panose="020B0503020000020004" pitchFamily="50" charset="-127"/>
            </a:endParaRPr>
          </a:p>
        </p:txBody>
      </p:sp>
      <p:grpSp>
        <p:nvGrpSpPr>
          <p:cNvPr id="37" name="송태원 얼굴">
            <a:extLst>
              <a:ext uri="{FF2B5EF4-FFF2-40B4-BE49-F238E27FC236}">
                <a16:creationId xmlns:a16="http://schemas.microsoft.com/office/drawing/2014/main" id="{114EC232-62AC-C197-F91E-CC5E680CE5AD}"/>
              </a:ext>
            </a:extLst>
          </p:cNvPr>
          <p:cNvGrpSpPr/>
          <p:nvPr/>
        </p:nvGrpSpPr>
        <p:grpSpPr>
          <a:xfrm>
            <a:off x="5490972" y="1700784"/>
            <a:ext cx="1133856" cy="1225296"/>
            <a:chOff x="5490972" y="1975104"/>
            <a:chExt cx="1133856" cy="1225296"/>
          </a:xfrm>
        </p:grpSpPr>
        <p:sp>
          <p:nvSpPr>
            <p:cNvPr id="26" name="Round Same Side Corner Rectangle 23">
              <a:extLst>
                <a:ext uri="{FF2B5EF4-FFF2-40B4-BE49-F238E27FC236}">
                  <a16:creationId xmlns:a16="http://schemas.microsoft.com/office/drawing/2014/main" id="{2BCF24FF-B1EF-DBE0-E024-24A8821EC1B2}"/>
                </a:ext>
              </a:extLst>
            </p:cNvPr>
            <p:cNvSpPr/>
            <p:nvPr/>
          </p:nvSpPr>
          <p:spPr>
            <a:xfrm>
              <a:off x="5490972" y="2651760"/>
              <a:ext cx="1133856" cy="548640"/>
            </a:xfrm>
            <a:prstGeom prst="round2SameRect">
              <a:avLst>
                <a:gd name="adj1" fmla="val 50000"/>
                <a:gd name="adj2" fmla="val 0"/>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Isosceles Triangle 24">
              <a:extLst>
                <a:ext uri="{FF2B5EF4-FFF2-40B4-BE49-F238E27FC236}">
                  <a16:creationId xmlns:a16="http://schemas.microsoft.com/office/drawing/2014/main" id="{5B335E8E-4FA8-8DDB-B2AD-70F0236C5AF8}"/>
                </a:ext>
              </a:extLst>
            </p:cNvPr>
            <p:cNvSpPr/>
            <p:nvPr/>
          </p:nvSpPr>
          <p:spPr>
            <a:xfrm rot="10800000">
              <a:off x="5929884" y="2651760"/>
              <a:ext cx="256032" cy="201168"/>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5">
              <a:extLst>
                <a:ext uri="{FF2B5EF4-FFF2-40B4-BE49-F238E27FC236}">
                  <a16:creationId xmlns:a16="http://schemas.microsoft.com/office/drawing/2014/main" id="{B7650813-466F-CFAD-2B8F-86418450EA60}"/>
                </a:ext>
              </a:extLst>
            </p:cNvPr>
            <p:cNvSpPr/>
            <p:nvPr/>
          </p:nvSpPr>
          <p:spPr>
            <a:xfrm>
              <a:off x="5719572" y="1975104"/>
              <a:ext cx="676656" cy="5029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6">
              <a:extLst>
                <a:ext uri="{FF2B5EF4-FFF2-40B4-BE49-F238E27FC236}">
                  <a16:creationId xmlns:a16="http://schemas.microsoft.com/office/drawing/2014/main" id="{3D5F5E7D-7B8E-EDEA-0781-E096CD3B06AB}"/>
                </a:ext>
              </a:extLst>
            </p:cNvPr>
            <p:cNvSpPr/>
            <p:nvPr/>
          </p:nvSpPr>
          <p:spPr>
            <a:xfrm>
              <a:off x="5710428"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7">
              <a:extLst>
                <a:ext uri="{FF2B5EF4-FFF2-40B4-BE49-F238E27FC236}">
                  <a16:creationId xmlns:a16="http://schemas.microsoft.com/office/drawing/2014/main" id="{C2890B81-B58F-941C-34F7-C98DBA9C4D36}"/>
                </a:ext>
              </a:extLst>
            </p:cNvPr>
            <p:cNvSpPr/>
            <p:nvPr/>
          </p:nvSpPr>
          <p:spPr>
            <a:xfrm>
              <a:off x="6313932"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28">
              <a:extLst>
                <a:ext uri="{FF2B5EF4-FFF2-40B4-BE49-F238E27FC236}">
                  <a16:creationId xmlns:a16="http://schemas.microsoft.com/office/drawing/2014/main" id="{C6F3F7F4-809A-0AE9-2915-BA29A05F8ED2}"/>
                </a:ext>
              </a:extLst>
            </p:cNvPr>
            <p:cNvSpPr/>
            <p:nvPr/>
          </p:nvSpPr>
          <p:spPr>
            <a:xfrm>
              <a:off x="5774436" y="2029968"/>
              <a:ext cx="566928" cy="658368"/>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29">
              <a:extLst>
                <a:ext uri="{FF2B5EF4-FFF2-40B4-BE49-F238E27FC236}">
                  <a16:creationId xmlns:a16="http://schemas.microsoft.com/office/drawing/2014/main" id="{58EE6178-399E-8314-0EDD-CD5F5E391F17}"/>
                </a:ext>
              </a:extLst>
            </p:cNvPr>
            <p:cNvSpPr/>
            <p:nvPr/>
          </p:nvSpPr>
          <p:spPr>
            <a:xfrm>
              <a:off x="5783580" y="1975104"/>
              <a:ext cx="548640"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0">
              <a:extLst>
                <a:ext uri="{FF2B5EF4-FFF2-40B4-BE49-F238E27FC236}">
                  <a16:creationId xmlns:a16="http://schemas.microsoft.com/office/drawing/2014/main" id="{A086830F-9BC2-E815-3FA9-79AF2FF42BF0}"/>
                </a:ext>
              </a:extLst>
            </p:cNvPr>
            <p:cNvSpPr/>
            <p:nvPr/>
          </p:nvSpPr>
          <p:spPr>
            <a:xfrm rot="1200000">
              <a:off x="5756148" y="2011680"/>
              <a:ext cx="384048"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1">
              <a:extLst>
                <a:ext uri="{FF2B5EF4-FFF2-40B4-BE49-F238E27FC236}">
                  <a16:creationId xmlns:a16="http://schemas.microsoft.com/office/drawing/2014/main" id="{1B83B0D7-2FD7-F5D3-2746-8B30A24F4017}"/>
                </a:ext>
              </a:extLst>
            </p:cNvPr>
            <p:cNvSpPr/>
            <p:nvPr/>
          </p:nvSpPr>
          <p:spPr>
            <a:xfrm>
              <a:off x="59115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2">
              <a:extLst>
                <a:ext uri="{FF2B5EF4-FFF2-40B4-BE49-F238E27FC236}">
                  <a16:creationId xmlns:a16="http://schemas.microsoft.com/office/drawing/2014/main" id="{184862B3-15C6-8A8E-3344-BC2084E06600}"/>
                </a:ext>
              </a:extLst>
            </p:cNvPr>
            <p:cNvSpPr/>
            <p:nvPr/>
          </p:nvSpPr>
          <p:spPr>
            <a:xfrm>
              <a:off x="61401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Arc 33">
              <a:extLst>
                <a:ext uri="{FF2B5EF4-FFF2-40B4-BE49-F238E27FC236}">
                  <a16:creationId xmlns:a16="http://schemas.microsoft.com/office/drawing/2014/main" id="{1419FBF2-870D-31A6-120C-49F62AA08930}"/>
                </a:ext>
              </a:extLst>
            </p:cNvPr>
            <p:cNvSpPr/>
            <p:nvPr/>
          </p:nvSpPr>
          <p:spPr>
            <a:xfrm>
              <a:off x="5975604" y="2395728"/>
              <a:ext cx="164592" cy="128016"/>
            </a:xfrm>
            <a:prstGeom prst="arc">
              <a:avLst>
                <a:gd name="adj1" fmla="val 1800000"/>
                <a:gd name="adj2" fmla="val 9000000"/>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pSp>
      <p:sp>
        <p:nvSpPr>
          <p:cNvPr id="38" name="송태원 이름">
            <a:extLst>
              <a:ext uri="{FF2B5EF4-FFF2-40B4-BE49-F238E27FC236}">
                <a16:creationId xmlns:a16="http://schemas.microsoft.com/office/drawing/2014/main" id="{9405C074-CC4A-4C80-B633-D852BC5D0A54}"/>
              </a:ext>
            </a:extLst>
          </p:cNvPr>
          <p:cNvSpPr txBox="1"/>
          <p:nvPr/>
        </p:nvSpPr>
        <p:spPr>
          <a:xfrm>
            <a:off x="4389120" y="2926080"/>
            <a:ext cx="3337560" cy="369332"/>
          </a:xfrm>
          <a:prstGeom prst="rect">
            <a:avLst/>
          </a:prstGeom>
          <a:noFill/>
        </p:spPr>
        <p:txBody>
          <a:bodyPr vert="horz" rtlCol="0">
            <a:spAutoFit/>
          </a:bodyPr>
          <a:lstStyle/>
          <a:p>
            <a:pPr algn="ctr"/>
            <a:r>
              <a:rPr lang="ko-KR" altLang="en-US" b="1">
                <a:solidFill>
                  <a:srgbClr val="1F2D3D"/>
                </a:solidFill>
                <a:latin typeface="맑은 고딕" panose="020B0503020000020004" pitchFamily="50" charset="-127"/>
              </a:rPr>
              <a:t>송태원</a:t>
            </a:r>
            <a:r>
              <a:rPr lang="ko-KR" altLang="en-US" sz="1400" b="1">
                <a:solidFill>
                  <a:srgbClr val="E8742B"/>
                </a:solidFill>
                <a:latin typeface="맑은 고딕" panose="020B0503020000020004" pitchFamily="50" charset="-127"/>
              </a:rPr>
              <a:t>  </a:t>
            </a:r>
            <a:r>
              <a:rPr lang="en-US" altLang="ko-KR" sz="1400" b="1">
                <a:solidFill>
                  <a:srgbClr val="E8742B"/>
                </a:solidFill>
                <a:latin typeface="맑은 고딕" panose="020B0503020000020004" pitchFamily="50" charset="-127"/>
              </a:rPr>
              <a:t>·  </a:t>
            </a:r>
            <a:r>
              <a:rPr lang="ko-KR" altLang="en-US" sz="1400" b="1">
                <a:solidFill>
                  <a:srgbClr val="E8742B"/>
                </a:solidFill>
                <a:latin typeface="맑은 고딕" panose="020B0503020000020004" pitchFamily="50" charset="-127"/>
              </a:rPr>
              <a:t>팀원</a:t>
            </a:r>
          </a:p>
        </p:txBody>
      </p:sp>
      <p:sp>
        <p:nvSpPr>
          <p:cNvPr id="39" name="송태원 소감">
            <a:extLst>
              <a:ext uri="{FF2B5EF4-FFF2-40B4-BE49-F238E27FC236}">
                <a16:creationId xmlns:a16="http://schemas.microsoft.com/office/drawing/2014/main" id="{5DE370E9-88DA-EFC7-3437-4C38CA3219BC}"/>
              </a:ext>
            </a:extLst>
          </p:cNvPr>
          <p:cNvSpPr txBox="1"/>
          <p:nvPr/>
        </p:nvSpPr>
        <p:spPr>
          <a:xfrm>
            <a:off x="4526280" y="3429000"/>
            <a:ext cx="3063240" cy="1451551"/>
          </a:xfrm>
          <a:prstGeom prst="rect">
            <a:avLst/>
          </a:prstGeom>
          <a:noFill/>
        </p:spPr>
        <p:txBody>
          <a:bodyPr vert="horz" wrap="square" rtlCol="0">
            <a:spAutoFit/>
          </a:bodyPr>
          <a:lstStyle/>
          <a:p>
            <a:pPr>
              <a:lnSpc>
                <a:spcPct val="115000"/>
              </a:lnSpc>
            </a:pPr>
            <a:r>
              <a:rPr lang="ko-KR" altLang="en-US" sz="1300">
                <a:solidFill>
                  <a:srgbClr val="2B333D"/>
                </a:solidFill>
                <a:latin typeface="맑은 고딕" panose="020B0503020000020004" pitchFamily="50" charset="-127"/>
              </a:rPr>
              <a:t>회로를 구성하고 </a:t>
            </a:r>
            <a:r>
              <a:rPr lang="en-US" altLang="ko-KR" sz="1300">
                <a:solidFill>
                  <a:srgbClr val="2B333D"/>
                </a:solidFill>
                <a:latin typeface="맑은 고딕" panose="020B0503020000020004" pitchFamily="50" charset="-127"/>
              </a:rPr>
              <a:t>Jetson </a:t>
            </a:r>
            <a:r>
              <a:rPr lang="ko-KR" altLang="en-US" sz="1300">
                <a:solidFill>
                  <a:srgbClr val="2B333D"/>
                </a:solidFill>
                <a:latin typeface="맑은 고딕" panose="020B0503020000020004" pitchFamily="50" charset="-127"/>
              </a:rPr>
              <a:t>보드에 </a:t>
            </a:r>
            <a:r>
              <a:rPr lang="en-US" altLang="ko-KR" sz="1300">
                <a:solidFill>
                  <a:srgbClr val="2B333D"/>
                </a:solidFill>
                <a:latin typeface="맑은 고딕" panose="020B0503020000020004" pitchFamily="50" charset="-127"/>
              </a:rPr>
              <a:t>LED</a:t>
            </a:r>
            <a:r>
              <a:rPr lang="ko-KR" altLang="en-US" sz="1300">
                <a:solidFill>
                  <a:srgbClr val="2B333D"/>
                </a:solidFill>
                <a:latin typeface="맑은 고딕" panose="020B0503020000020004" pitchFamily="50" charset="-127"/>
              </a:rPr>
              <a:t>와 모터를 연결했습니다</a:t>
            </a:r>
            <a:r>
              <a:rPr lang="en-US" altLang="ko-KR" sz="1300">
                <a:solidFill>
                  <a:srgbClr val="2B333D"/>
                </a:solidFill>
                <a:latin typeface="맑은 고딕" panose="020B0503020000020004" pitchFamily="50" charset="-127"/>
              </a:rPr>
              <a:t>. </a:t>
            </a:r>
            <a:r>
              <a:rPr lang="ko-KR" altLang="en-US" sz="1300">
                <a:solidFill>
                  <a:srgbClr val="2B333D"/>
                </a:solidFill>
                <a:latin typeface="맑은 고딕" panose="020B0503020000020004" pitchFamily="50" charset="-127"/>
              </a:rPr>
              <a:t>벨트가 거꾸로 돌았을 때 상태별 핀 값을 표로 그려 보고서야 배선 문제라는 걸 찾았습니다</a:t>
            </a:r>
            <a:r>
              <a:rPr lang="en-US" altLang="ko-KR" sz="1300">
                <a:solidFill>
                  <a:srgbClr val="2B333D"/>
                </a:solidFill>
                <a:latin typeface="맑은 고딕" panose="020B0503020000020004" pitchFamily="50" charset="-127"/>
              </a:rPr>
              <a:t>. </a:t>
            </a:r>
            <a:r>
              <a:rPr lang="ko-KR" altLang="en-US" sz="1300">
                <a:solidFill>
                  <a:srgbClr val="2B333D"/>
                </a:solidFill>
                <a:latin typeface="맑은 고딕" panose="020B0503020000020004" pitchFamily="50" charset="-127"/>
              </a:rPr>
              <a:t>그 뒤로는 고치기 전에 원인부터 확인하는 습관이 생겼습니다</a:t>
            </a:r>
            <a:r>
              <a:rPr lang="en-US" altLang="ko-KR" sz="1300">
                <a:solidFill>
                  <a:srgbClr val="2B333D"/>
                </a:solidFill>
                <a:latin typeface="맑은 고딕" panose="020B0503020000020004" pitchFamily="50" charset="-127"/>
              </a:rPr>
              <a:t>.</a:t>
            </a:r>
            <a:endParaRPr lang="ko-KR" altLang="en-US" sz="1300">
              <a:solidFill>
                <a:srgbClr val="2B333D"/>
              </a:solidFill>
              <a:latin typeface="맑은 고딕" panose="020B0503020000020004" pitchFamily="50" charset="-127"/>
            </a:endParaRPr>
          </a:p>
        </p:txBody>
      </p:sp>
      <p:grpSp>
        <p:nvGrpSpPr>
          <p:cNvPr id="52" name="장호영 얼굴">
            <a:extLst>
              <a:ext uri="{FF2B5EF4-FFF2-40B4-BE49-F238E27FC236}">
                <a16:creationId xmlns:a16="http://schemas.microsoft.com/office/drawing/2014/main" id="{BB7224D3-9778-8CC6-9AC3-C2C956FFDB8D}"/>
              </a:ext>
            </a:extLst>
          </p:cNvPr>
          <p:cNvGrpSpPr/>
          <p:nvPr/>
        </p:nvGrpSpPr>
        <p:grpSpPr>
          <a:xfrm>
            <a:off x="9148572" y="1700784"/>
            <a:ext cx="1133856" cy="1225296"/>
            <a:chOff x="9148572" y="1975104"/>
            <a:chExt cx="1133856" cy="1225296"/>
          </a:xfrm>
        </p:grpSpPr>
        <p:sp>
          <p:nvSpPr>
            <p:cNvPr id="40" name="Round Same Side Corner Rectangle 38">
              <a:extLst>
                <a:ext uri="{FF2B5EF4-FFF2-40B4-BE49-F238E27FC236}">
                  <a16:creationId xmlns:a16="http://schemas.microsoft.com/office/drawing/2014/main" id="{97AF1B66-2AC2-1677-A256-9B68A63CB011}"/>
                </a:ext>
              </a:extLst>
            </p:cNvPr>
            <p:cNvSpPr/>
            <p:nvPr/>
          </p:nvSpPr>
          <p:spPr>
            <a:xfrm>
              <a:off x="9148572" y="2651760"/>
              <a:ext cx="1133856" cy="548640"/>
            </a:xfrm>
            <a:prstGeom prst="round2SameRect">
              <a:avLst>
                <a:gd name="adj1" fmla="val 50000"/>
                <a:gd name="adj2" fmla="val 0"/>
              </a:avLst>
            </a:prstGeom>
            <a:solidFill>
              <a:srgbClr val="5A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Isosceles Triangle 39">
              <a:extLst>
                <a:ext uri="{FF2B5EF4-FFF2-40B4-BE49-F238E27FC236}">
                  <a16:creationId xmlns:a16="http://schemas.microsoft.com/office/drawing/2014/main" id="{6B5C729F-EF8A-4D3D-D0D0-00BD26A567C0}"/>
                </a:ext>
              </a:extLst>
            </p:cNvPr>
            <p:cNvSpPr/>
            <p:nvPr/>
          </p:nvSpPr>
          <p:spPr>
            <a:xfrm rot="10800000">
              <a:off x="9587484" y="2651760"/>
              <a:ext cx="256032" cy="201168"/>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0">
              <a:extLst>
                <a:ext uri="{FF2B5EF4-FFF2-40B4-BE49-F238E27FC236}">
                  <a16:creationId xmlns:a16="http://schemas.microsoft.com/office/drawing/2014/main" id="{A7176C15-57A5-4327-04F1-8C0B3B3A1CF4}"/>
                </a:ext>
              </a:extLst>
            </p:cNvPr>
            <p:cNvSpPr/>
            <p:nvPr/>
          </p:nvSpPr>
          <p:spPr>
            <a:xfrm>
              <a:off x="9377172" y="1975104"/>
              <a:ext cx="676656" cy="5029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Oval 41">
              <a:extLst>
                <a:ext uri="{FF2B5EF4-FFF2-40B4-BE49-F238E27FC236}">
                  <a16:creationId xmlns:a16="http://schemas.microsoft.com/office/drawing/2014/main" id="{18C5C81C-4C40-8A89-5CE3-1088A6C53C1B}"/>
                </a:ext>
              </a:extLst>
            </p:cNvPr>
            <p:cNvSpPr/>
            <p:nvPr/>
          </p:nvSpPr>
          <p:spPr>
            <a:xfrm>
              <a:off x="9368028"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2">
              <a:extLst>
                <a:ext uri="{FF2B5EF4-FFF2-40B4-BE49-F238E27FC236}">
                  <a16:creationId xmlns:a16="http://schemas.microsoft.com/office/drawing/2014/main" id="{78F27DC3-24C9-EEB2-C368-BCD3C19C1B79}"/>
                </a:ext>
              </a:extLst>
            </p:cNvPr>
            <p:cNvSpPr/>
            <p:nvPr/>
          </p:nvSpPr>
          <p:spPr>
            <a:xfrm>
              <a:off x="9971532" y="2267712"/>
              <a:ext cx="91440" cy="164592"/>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3">
              <a:extLst>
                <a:ext uri="{FF2B5EF4-FFF2-40B4-BE49-F238E27FC236}">
                  <a16:creationId xmlns:a16="http://schemas.microsoft.com/office/drawing/2014/main" id="{F9E3BA4D-8C06-925E-0354-2F6D607B4BD8}"/>
                </a:ext>
              </a:extLst>
            </p:cNvPr>
            <p:cNvSpPr/>
            <p:nvPr/>
          </p:nvSpPr>
          <p:spPr>
            <a:xfrm>
              <a:off x="9432036" y="2029968"/>
              <a:ext cx="566928" cy="658368"/>
            </a:xfrm>
            <a:prstGeom prst="ellipse">
              <a:avLst/>
            </a:prstGeom>
            <a:solidFill>
              <a:srgbClr val="F2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4">
              <a:extLst>
                <a:ext uri="{FF2B5EF4-FFF2-40B4-BE49-F238E27FC236}">
                  <a16:creationId xmlns:a16="http://schemas.microsoft.com/office/drawing/2014/main" id="{E60CC50C-E76C-A4ED-06A6-FB218F81F961}"/>
                </a:ext>
              </a:extLst>
            </p:cNvPr>
            <p:cNvSpPr/>
            <p:nvPr/>
          </p:nvSpPr>
          <p:spPr>
            <a:xfrm>
              <a:off x="9441180" y="1975104"/>
              <a:ext cx="548640"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5">
              <a:extLst>
                <a:ext uri="{FF2B5EF4-FFF2-40B4-BE49-F238E27FC236}">
                  <a16:creationId xmlns:a16="http://schemas.microsoft.com/office/drawing/2014/main" id="{38F08BBA-5BF1-EBF2-EFF6-7CB148681B97}"/>
                </a:ext>
              </a:extLst>
            </p:cNvPr>
            <p:cNvSpPr/>
            <p:nvPr/>
          </p:nvSpPr>
          <p:spPr>
            <a:xfrm>
              <a:off x="95691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Oval 46">
              <a:extLst>
                <a:ext uri="{FF2B5EF4-FFF2-40B4-BE49-F238E27FC236}">
                  <a16:creationId xmlns:a16="http://schemas.microsoft.com/office/drawing/2014/main" id="{D3B1F58F-41E2-3C98-19B7-86AE4A10A618}"/>
                </a:ext>
              </a:extLst>
            </p:cNvPr>
            <p:cNvSpPr/>
            <p:nvPr/>
          </p:nvSpPr>
          <p:spPr>
            <a:xfrm>
              <a:off x="9797796" y="2322576"/>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Oval 47">
              <a:extLst>
                <a:ext uri="{FF2B5EF4-FFF2-40B4-BE49-F238E27FC236}">
                  <a16:creationId xmlns:a16="http://schemas.microsoft.com/office/drawing/2014/main" id="{46728278-DC79-83AC-9AD1-0A6408CDC5F4}"/>
                </a:ext>
              </a:extLst>
            </p:cNvPr>
            <p:cNvSpPr/>
            <p:nvPr/>
          </p:nvSpPr>
          <p:spPr>
            <a:xfrm>
              <a:off x="9496044" y="2276856"/>
              <a:ext cx="210312" cy="155448"/>
            </a:xfrm>
            <a:prstGeom prst="ellipse">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Oval 48">
              <a:extLst>
                <a:ext uri="{FF2B5EF4-FFF2-40B4-BE49-F238E27FC236}">
                  <a16:creationId xmlns:a16="http://schemas.microsoft.com/office/drawing/2014/main" id="{B08B0752-96E9-0322-828E-39A352CADBFE}"/>
                </a:ext>
              </a:extLst>
            </p:cNvPr>
            <p:cNvSpPr/>
            <p:nvPr/>
          </p:nvSpPr>
          <p:spPr>
            <a:xfrm>
              <a:off x="9724644" y="2276856"/>
              <a:ext cx="210312" cy="155448"/>
            </a:xfrm>
            <a:prstGeom prst="ellipse">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Arc 49">
              <a:extLst>
                <a:ext uri="{FF2B5EF4-FFF2-40B4-BE49-F238E27FC236}">
                  <a16:creationId xmlns:a16="http://schemas.microsoft.com/office/drawing/2014/main" id="{B039A12A-1D37-5559-4305-4AD42ADA1AF9}"/>
                </a:ext>
              </a:extLst>
            </p:cNvPr>
            <p:cNvSpPr/>
            <p:nvPr/>
          </p:nvSpPr>
          <p:spPr>
            <a:xfrm>
              <a:off x="9633204" y="2395728"/>
              <a:ext cx="164592" cy="128016"/>
            </a:xfrm>
            <a:prstGeom prst="arc">
              <a:avLst>
                <a:gd name="adj1" fmla="val 1800000"/>
                <a:gd name="adj2" fmla="val 9000000"/>
              </a:avLst>
            </a:prstGeom>
            <a:no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pSp>
      <p:sp>
        <p:nvSpPr>
          <p:cNvPr id="53" name="장호영 이름">
            <a:extLst>
              <a:ext uri="{FF2B5EF4-FFF2-40B4-BE49-F238E27FC236}">
                <a16:creationId xmlns:a16="http://schemas.microsoft.com/office/drawing/2014/main" id="{8F1A2916-86C7-F3E3-465D-2F3AED48272D}"/>
              </a:ext>
            </a:extLst>
          </p:cNvPr>
          <p:cNvSpPr txBox="1"/>
          <p:nvPr/>
        </p:nvSpPr>
        <p:spPr>
          <a:xfrm>
            <a:off x="8046720" y="2926080"/>
            <a:ext cx="3337560" cy="369332"/>
          </a:xfrm>
          <a:prstGeom prst="rect">
            <a:avLst/>
          </a:prstGeom>
          <a:noFill/>
        </p:spPr>
        <p:txBody>
          <a:bodyPr vert="horz" rtlCol="0">
            <a:spAutoFit/>
          </a:bodyPr>
          <a:lstStyle/>
          <a:p>
            <a:pPr algn="ctr"/>
            <a:r>
              <a:rPr lang="ko-KR" altLang="en-US" b="1">
                <a:solidFill>
                  <a:srgbClr val="1F2D3D"/>
                </a:solidFill>
                <a:latin typeface="맑은 고딕" panose="020B0503020000020004" pitchFamily="50" charset="-127"/>
              </a:rPr>
              <a:t>장호영</a:t>
            </a:r>
            <a:r>
              <a:rPr lang="ko-KR" altLang="en-US" sz="1400" b="1">
                <a:solidFill>
                  <a:srgbClr val="E8742B"/>
                </a:solidFill>
                <a:latin typeface="맑은 고딕" panose="020B0503020000020004" pitchFamily="50" charset="-127"/>
              </a:rPr>
              <a:t>  </a:t>
            </a:r>
            <a:r>
              <a:rPr lang="en-US" altLang="ko-KR" sz="1400" b="1">
                <a:solidFill>
                  <a:srgbClr val="E8742B"/>
                </a:solidFill>
                <a:latin typeface="맑은 고딕" panose="020B0503020000020004" pitchFamily="50" charset="-127"/>
              </a:rPr>
              <a:t>·  </a:t>
            </a:r>
            <a:r>
              <a:rPr lang="ko-KR" altLang="en-US" sz="1400" b="1">
                <a:solidFill>
                  <a:srgbClr val="E8742B"/>
                </a:solidFill>
                <a:latin typeface="맑은 고딕" panose="020B0503020000020004" pitchFamily="50" charset="-127"/>
              </a:rPr>
              <a:t>팀원</a:t>
            </a:r>
          </a:p>
        </p:txBody>
      </p:sp>
      <p:sp>
        <p:nvSpPr>
          <p:cNvPr id="54" name="장호영 소감">
            <a:extLst>
              <a:ext uri="{FF2B5EF4-FFF2-40B4-BE49-F238E27FC236}">
                <a16:creationId xmlns:a16="http://schemas.microsoft.com/office/drawing/2014/main" id="{D0EB2197-90EE-50A5-8E49-5F45C241EF4A}"/>
              </a:ext>
            </a:extLst>
          </p:cNvPr>
          <p:cNvSpPr txBox="1"/>
          <p:nvPr/>
        </p:nvSpPr>
        <p:spPr>
          <a:xfrm>
            <a:off x="8183880" y="3429000"/>
            <a:ext cx="3063240" cy="1681614"/>
          </a:xfrm>
          <a:prstGeom prst="rect">
            <a:avLst/>
          </a:prstGeom>
          <a:noFill/>
        </p:spPr>
        <p:txBody>
          <a:bodyPr vert="horz" wrap="square" rtlCol="0">
            <a:spAutoFit/>
          </a:bodyPr>
          <a:lstStyle/>
          <a:p>
            <a:pPr>
              <a:lnSpc>
                <a:spcPct val="115000"/>
              </a:lnSpc>
            </a:pPr>
            <a:r>
              <a:rPr lang="ko-KR" altLang="en-US" sz="1300">
                <a:solidFill>
                  <a:srgbClr val="2B333D"/>
                </a:solidFill>
                <a:latin typeface="맑은 고딕" panose="020B0503020000020004" pitchFamily="50" charset="-127"/>
              </a:rPr>
              <a:t>웹캠 영상에서 작업자 얼굴을 찾고 거리를 재는 부분을 맡았습니다</a:t>
            </a:r>
            <a:r>
              <a:rPr lang="en-US" altLang="ko-KR" sz="1300">
                <a:solidFill>
                  <a:srgbClr val="2B333D"/>
                </a:solidFill>
                <a:latin typeface="맑은 고딕" panose="020B0503020000020004" pitchFamily="50" charset="-127"/>
              </a:rPr>
              <a:t>. </a:t>
            </a:r>
            <a:r>
              <a:rPr lang="ko-KR" altLang="en-US" sz="1300">
                <a:solidFill>
                  <a:srgbClr val="2B333D"/>
                </a:solidFill>
                <a:latin typeface="맑은 고딕" panose="020B0503020000020004" pitchFamily="50" charset="-127"/>
              </a:rPr>
              <a:t>얼굴 상자 크기로 거리를 추정하다 보니 얼굴이 가려지거나 돌아가면 판단이 흔들렸습니다</a:t>
            </a:r>
            <a:r>
              <a:rPr lang="en-US" altLang="ko-KR" sz="1300">
                <a:solidFill>
                  <a:srgbClr val="2B333D"/>
                </a:solidFill>
                <a:latin typeface="맑은 고딕" panose="020B0503020000020004" pitchFamily="50" charset="-127"/>
              </a:rPr>
              <a:t>. </a:t>
            </a:r>
            <a:r>
              <a:rPr lang="ko-KR" altLang="en-US" sz="1300">
                <a:solidFill>
                  <a:srgbClr val="2B333D"/>
                </a:solidFill>
                <a:latin typeface="맑은 고딕" panose="020B0503020000020004" pitchFamily="50" charset="-127"/>
              </a:rPr>
              <a:t>다음에는 사람 전체 검출과 거리식 보정으로 정확도를 더 높여 보고 싶습니다</a:t>
            </a:r>
            <a:r>
              <a:rPr lang="en-US" altLang="ko-KR" sz="1300">
                <a:solidFill>
                  <a:srgbClr val="2B333D"/>
                </a:solidFill>
                <a:latin typeface="맑은 고딕" panose="020B0503020000020004" pitchFamily="50" charset="-127"/>
              </a:rPr>
              <a:t>.</a:t>
            </a:r>
            <a:endParaRPr lang="ko-KR" altLang="en-US" sz="1300">
              <a:solidFill>
                <a:srgbClr val="2B333D"/>
              </a:solidFill>
              <a:latin typeface="맑은 고딕" panose="020B0503020000020004" pitchFamily="50" charset="-12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500"/>
                                        <p:tgtEl>
                                          <p:spTgt spid="2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7"/>
                                        </p:tgtEl>
                                        <p:attrNameLst>
                                          <p:attrName>style.visibility</p:attrName>
                                        </p:attrNameLst>
                                      </p:cBhvr>
                                      <p:to>
                                        <p:strVal val="visible"/>
                                      </p:to>
                                    </p:set>
                                    <p:animEffect transition="in" filter="fade">
                                      <p:cBhvr>
                                        <p:cTn id="18" dur="500"/>
                                        <p:tgtEl>
                                          <p:spTgt spid="3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animEffect transition="in" filter="fade">
                                      <p:cBhvr>
                                        <p:cTn id="21" dur="500"/>
                                        <p:tgtEl>
                                          <p:spTgt spid="3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9"/>
                                        </p:tgtEl>
                                        <p:attrNameLst>
                                          <p:attrName>style.visibility</p:attrName>
                                        </p:attrNameLst>
                                      </p:cBhvr>
                                      <p:to>
                                        <p:strVal val="visible"/>
                                      </p:to>
                                    </p:set>
                                    <p:animEffect transition="in" filter="fade">
                                      <p:cBhvr>
                                        <p:cTn id="24" dur="500"/>
                                        <p:tgtEl>
                                          <p:spTgt spid="3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52"/>
                                        </p:tgtEl>
                                        <p:attrNameLst>
                                          <p:attrName>style.visibility</p:attrName>
                                        </p:attrNameLst>
                                      </p:cBhvr>
                                      <p:to>
                                        <p:strVal val="visible"/>
                                      </p:to>
                                    </p:set>
                                    <p:animEffect transition="in" filter="fade">
                                      <p:cBhvr>
                                        <p:cTn id="29" dur="500"/>
                                        <p:tgtEl>
                                          <p:spTgt spid="5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3"/>
                                        </p:tgtEl>
                                        <p:attrNameLst>
                                          <p:attrName>style.visibility</p:attrName>
                                        </p:attrNameLst>
                                      </p:cBhvr>
                                      <p:to>
                                        <p:strVal val="visible"/>
                                      </p:to>
                                    </p:set>
                                    <p:animEffect transition="in" filter="fade">
                                      <p:cBhvr>
                                        <p:cTn id="32" dur="500"/>
                                        <p:tgtEl>
                                          <p:spTgt spid="5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fade">
                                      <p:cBhvr>
                                        <p:cTn id="35" dur="500"/>
                                        <p:tgtEl>
                                          <p:spTgt spid="54"/>
                                        </p:tgtEl>
                                      </p:cBhvr>
                                    </p:animEffect>
                                  </p:childTnLst>
                                </p:cTn>
                              </p:par>
                            </p:childTnLst>
                          </p:cTn>
                        </p:par>
                        <p:par>
                          <p:cTn id="36" fill="hold">
                            <p:stCondLst>
                              <p:cond delay="500"/>
                            </p:stCondLst>
                            <p:childTnLst>
                              <p:par>
                                <p:cTn id="37" presetID="10" presetClass="entr" presetSubtype="0" fill="hold" grpId="0" nodeType="after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fade">
                                      <p:cBhvr>
                                        <p:cTn id="3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4" grpId="0"/>
      <p:bldP spid="25" grpId="0"/>
      <p:bldP spid="38" grpId="0"/>
      <p:bldP spid="39" grpId="0"/>
      <p:bldP spid="53" grpId="0"/>
      <p:bldP spid="54" grpId="0"/>
    </p:bldLst>
  </p:timing>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1035</Words>
  <Application>Microsoft Office PowerPoint</Application>
  <PresentationFormat>와이드스크린</PresentationFormat>
  <Paragraphs>189</Paragraphs>
  <Slides>11</Slides>
  <Notes>10</Notes>
  <HiddenSlides>0</HiddenSlides>
  <MMClips>1</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vt:i4>
      </vt:variant>
    </vt:vector>
  </HeadingPairs>
  <TitlesOfParts>
    <vt:vector size="15"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description>generated using python-pptx</dc:description>
  <cp:lastModifiedBy>종현 전</cp:lastModifiedBy>
  <cp:revision>4</cp:revision>
  <dcterms:created xsi:type="dcterms:W3CDTF">2013-01-27T09:14:16Z</dcterms:created>
  <dcterms:modified xsi:type="dcterms:W3CDTF">2026-10-26T01:34:54Z</dcterms:modified>
</cp:coreProperties>
</file>